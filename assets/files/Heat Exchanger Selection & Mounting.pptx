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omments/modernComment_15F_B13DD61A.xml" ContentType="application/vnd.ms-powerpoint.comments+xml"/>
  <Override PartName="/ppt/comments/modernComment_17A_E52CF8F1.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180_61756587.xml" ContentType="application/vnd.ms-powerpoint.comments+xml"/>
  <Override PartName="/ppt/notesSlides/notesSlide3.xml" ContentType="application/vnd.openxmlformats-officedocument.presentationml.notesSlide+xml"/>
  <Override PartName="/ppt/comments/modernComment_18B_3EF44C8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9"/>
  </p:notesMasterIdLst>
  <p:sldIdLst>
    <p:sldId id="334" r:id="rId5"/>
    <p:sldId id="343" r:id="rId6"/>
    <p:sldId id="369" r:id="rId7"/>
    <p:sldId id="390" r:id="rId8"/>
    <p:sldId id="371" r:id="rId9"/>
    <p:sldId id="368" r:id="rId10"/>
    <p:sldId id="344" r:id="rId11"/>
    <p:sldId id="350" r:id="rId12"/>
    <p:sldId id="351" r:id="rId13"/>
    <p:sldId id="352" r:id="rId14"/>
    <p:sldId id="353" r:id="rId15"/>
    <p:sldId id="354" r:id="rId16"/>
    <p:sldId id="382" r:id="rId17"/>
    <p:sldId id="345" r:id="rId18"/>
    <p:sldId id="376" r:id="rId19"/>
    <p:sldId id="377" r:id="rId20"/>
    <p:sldId id="378" r:id="rId21"/>
    <p:sldId id="380" r:id="rId22"/>
    <p:sldId id="381" r:id="rId23"/>
    <p:sldId id="337" r:id="rId24"/>
    <p:sldId id="407" r:id="rId25"/>
    <p:sldId id="331" r:id="rId26"/>
    <p:sldId id="384" r:id="rId27"/>
    <p:sldId id="408" r:id="rId28"/>
    <p:sldId id="395" r:id="rId29"/>
    <p:sldId id="386" r:id="rId30"/>
    <p:sldId id="387" r:id="rId31"/>
    <p:sldId id="388" r:id="rId32"/>
    <p:sldId id="396" r:id="rId33"/>
    <p:sldId id="409" r:id="rId34"/>
    <p:sldId id="401" r:id="rId35"/>
    <p:sldId id="397" r:id="rId36"/>
    <p:sldId id="367" r:id="rId37"/>
    <p:sldId id="36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EF4E1A7-2788-4FD7-8E61-D117D796DD89}">
          <p14:sldIdLst>
            <p14:sldId id="334"/>
            <p14:sldId id="343"/>
            <p14:sldId id="369"/>
            <p14:sldId id="390"/>
            <p14:sldId id="371"/>
            <p14:sldId id="368"/>
            <p14:sldId id="344"/>
            <p14:sldId id="350"/>
            <p14:sldId id="351"/>
            <p14:sldId id="352"/>
            <p14:sldId id="353"/>
            <p14:sldId id="354"/>
            <p14:sldId id="382"/>
            <p14:sldId id="345"/>
            <p14:sldId id="376"/>
            <p14:sldId id="377"/>
            <p14:sldId id="378"/>
            <p14:sldId id="380"/>
            <p14:sldId id="381"/>
            <p14:sldId id="337"/>
            <p14:sldId id="407"/>
            <p14:sldId id="331"/>
            <p14:sldId id="384"/>
            <p14:sldId id="408"/>
            <p14:sldId id="395"/>
            <p14:sldId id="386"/>
            <p14:sldId id="387"/>
            <p14:sldId id="388"/>
            <p14:sldId id="396"/>
            <p14:sldId id="409"/>
            <p14:sldId id="401"/>
            <p14:sldId id="397"/>
            <p14:sldId id="367"/>
            <p14:sldId id="36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44861A-DCDA-7DBF-6E5E-051ABCBE83AA}" name="Shackelford, Mason A" initials="MS" userId="S::mshackelford8@gatech.edu::3c96263a-274d-4d8e-a5cf-c984b229b4bf" providerId="AD"/>
  <p188:author id="{E8A225C7-590C-2050-3B5A-74A244897A55}" name="Gunreddy, Prathik Reddy" initials="GP" userId="S::pgunreddy3@gatech.edu::d8077d98-2c77-4347-ab0e-7c26a0ec1d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452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3A4098-C17E-4C61-8544-8EFF9C6D11C9}" v="1" dt="2026-04-03T14:27:33.6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41" autoAdjust="0"/>
  </p:normalViewPr>
  <p:slideViewPr>
    <p:cSldViewPr snapToGrid="0">
      <p:cViewPr varScale="1">
        <p:scale>
          <a:sx n="78" d="100"/>
          <a:sy n="78" d="100"/>
        </p:scale>
        <p:origin x="850" y="62"/>
      </p:cViewPr>
      <p:guideLst/>
    </p:cSldViewPr>
  </p:slideViewPr>
  <p:outlineViewPr>
    <p:cViewPr>
      <p:scale>
        <a:sx n="33" d="100"/>
        <a:sy n="33" d="100"/>
      </p:scale>
      <p:origin x="0" y="-25325"/>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ckelford, Mason A" userId="3c96263a-274d-4d8e-a5cf-c984b229b4bf" providerId="ADAL" clId="{D16D1056-0957-44F1-AAA6-EAEE2AA3DDDD}"/>
    <pc:docChg chg="undo custSel addSld delSld modSld sldOrd delMainMaster addSection delSection modSection">
      <pc:chgData name="Shackelford, Mason A" userId="3c96263a-274d-4d8e-a5cf-c984b229b4bf" providerId="ADAL" clId="{D16D1056-0957-44F1-AAA6-EAEE2AA3DDDD}" dt="2026-04-03T14:28:12.717" v="14834" actId="13926"/>
      <pc:docMkLst>
        <pc:docMk/>
      </pc:docMkLst>
      <pc:sldChg chg="addSp modSp mod">
        <pc:chgData name="Shackelford, Mason A" userId="3c96263a-274d-4d8e-a5cf-c984b229b4bf" providerId="ADAL" clId="{D16D1056-0957-44F1-AAA6-EAEE2AA3DDDD}" dt="2026-04-03T14:28:12.717" v="14834" actId="13926"/>
        <pc:sldMkLst>
          <pc:docMk/>
          <pc:sldMk cId="3844929777" sldId="378"/>
        </pc:sldMkLst>
        <pc:spChg chg="add mod">
          <ac:chgData name="Shackelford, Mason A" userId="3c96263a-274d-4d8e-a5cf-c984b229b4bf" providerId="ADAL" clId="{D16D1056-0957-44F1-AAA6-EAEE2AA3DDDD}" dt="2026-04-03T14:28:12.717" v="14834" actId="13926"/>
          <ac:spMkLst>
            <pc:docMk/>
            <pc:sldMk cId="3844929777" sldId="378"/>
            <ac:spMk id="3" creationId="{2E8C9043-91AB-FAAA-DBB8-A03ECCF136D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gtvault.sharepoint.com/sites/ECE/EcoCAR/Shared%20Documents/EcoCAR%20EV%20Challenge%20(2022-2026)/06)%20Subteam%20-%20SDI/Design%20Documentation/Thermal%20System/MAC_Thermal_Waiver.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OBCM2</a:t>
            </a:r>
            <a:r>
              <a:rPr lang="en-US" baseline="0"/>
              <a:t> Pressure Characterization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intercept val="0"/>
            <c:dispRSqr val="0"/>
            <c:dispEq val="1"/>
            <c:trendlineLbl>
              <c:layout>
                <c:manualLayout>
                  <c:x val="-5.6632545931758531E-2"/>
                  <c:y val="-4.5842811315252259E-2"/>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xVal>
            <c:numRef>
              <c:f>'OBCM2 Data Recreation'!$A$18:$A$28</c:f>
              <c:numCache>
                <c:formatCode>General</c:formatCode>
                <c:ptCount val="11"/>
                <c:pt idx="0">
                  <c:v>2</c:v>
                </c:pt>
                <c:pt idx="1">
                  <c:v>3</c:v>
                </c:pt>
                <c:pt idx="2">
                  <c:v>4</c:v>
                </c:pt>
                <c:pt idx="3">
                  <c:v>5</c:v>
                </c:pt>
                <c:pt idx="4">
                  <c:v>6</c:v>
                </c:pt>
                <c:pt idx="5">
                  <c:v>7</c:v>
                </c:pt>
                <c:pt idx="6">
                  <c:v>8</c:v>
                </c:pt>
                <c:pt idx="7">
                  <c:v>9</c:v>
                </c:pt>
                <c:pt idx="8">
                  <c:v>10</c:v>
                </c:pt>
                <c:pt idx="9">
                  <c:v>11</c:v>
                </c:pt>
                <c:pt idx="10">
                  <c:v>12</c:v>
                </c:pt>
              </c:numCache>
            </c:numRef>
          </c:xVal>
          <c:yVal>
            <c:numRef>
              <c:f>'OBCM2 Data Recreation'!$B$18:$B$28</c:f>
              <c:numCache>
                <c:formatCode>General</c:formatCode>
                <c:ptCount val="11"/>
                <c:pt idx="0">
                  <c:v>0.3</c:v>
                </c:pt>
                <c:pt idx="1">
                  <c:v>0.3</c:v>
                </c:pt>
                <c:pt idx="2">
                  <c:v>0.4</c:v>
                </c:pt>
                <c:pt idx="3">
                  <c:v>0.5</c:v>
                </c:pt>
                <c:pt idx="4">
                  <c:v>0.6</c:v>
                </c:pt>
                <c:pt idx="5">
                  <c:v>0.6</c:v>
                </c:pt>
                <c:pt idx="6">
                  <c:v>0.9</c:v>
                </c:pt>
                <c:pt idx="7">
                  <c:v>1.1000000000000001</c:v>
                </c:pt>
                <c:pt idx="8">
                  <c:v>1.4</c:v>
                </c:pt>
                <c:pt idx="9">
                  <c:v>1.5</c:v>
                </c:pt>
                <c:pt idx="10">
                  <c:v>1.8</c:v>
                </c:pt>
              </c:numCache>
            </c:numRef>
          </c:yVal>
          <c:smooth val="0"/>
          <c:extLst>
            <c:ext xmlns:c16="http://schemas.microsoft.com/office/drawing/2014/chart" uri="{C3380CC4-5D6E-409C-BE32-E72D297353CC}">
              <c16:uniqueId val="{00000001-74D1-4969-A083-A4904CD64558}"/>
            </c:ext>
          </c:extLst>
        </c:ser>
        <c:dLbls>
          <c:showLegendKey val="0"/>
          <c:showVal val="0"/>
          <c:showCatName val="0"/>
          <c:showSerName val="0"/>
          <c:showPercent val="0"/>
          <c:showBubbleSize val="0"/>
        </c:dLbls>
        <c:axId val="1144236015"/>
        <c:axId val="1144239375"/>
      </c:scatterChart>
      <c:valAx>
        <c:axId val="114423601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Flow Rate (L/min)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4239375"/>
        <c:crosses val="autoZero"/>
        <c:crossBetween val="midCat"/>
      </c:valAx>
      <c:valAx>
        <c:axId val="114423937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Pressure</a:t>
                </a:r>
                <a:r>
                  <a:rPr lang="en-US" baseline="0"/>
                  <a:t> Drop (psi)</a:t>
                </a:r>
                <a:endParaRPr lang="en-US"/>
              </a:p>
            </c:rich>
          </c:tx>
          <c:layout>
            <c:manualLayout>
              <c:xMode val="edge"/>
              <c:yMode val="edge"/>
              <c:x val="4.3444186706010454E-2"/>
              <c:y val="0.20184440723492778"/>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4236015"/>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omments/modernComment_15F_B13DD61A.xml><?xml version="1.0" encoding="utf-8"?>
<p188:cmLst xmlns:a="http://schemas.openxmlformats.org/drawingml/2006/main" xmlns:r="http://schemas.openxmlformats.org/officeDocument/2006/relationships" xmlns:p188="http://schemas.microsoft.com/office/powerpoint/2018/8/main">
  <p188:cm id="{8E366DA8-BE32-4573-BE10-654728004E82}" authorId="{E8A225C7-590C-2050-3B5A-74A244897A55}" status="resolved" created="2025-11-19T17:29:42.899" complete="100000">
    <ac:txMkLst xmlns:ac="http://schemas.microsoft.com/office/drawing/2013/main/command">
      <pc:docMk xmlns:pc="http://schemas.microsoft.com/office/powerpoint/2013/main/command"/>
      <pc:sldMk xmlns:pc="http://schemas.microsoft.com/office/powerpoint/2013/main/command" cId="2973619738" sldId="351"/>
      <ac:spMk id="3" creationId="{822E1F23-B902-2527-CFE5-8834458D569E}"/>
      <ac:txMk cp="55" len="7">
        <ac:context len="64" hash="96385169"/>
      </ac:txMk>
    </ac:txMkLst>
    <p188:pos x="1743559" y="2182677"/>
    <p188:replyLst>
      <p188:reply id="{9AA7C0FE-A5C9-41F7-B1EE-95C7AE469D89}" authorId="{CC44861A-DCDA-7DBF-6E5E-051ABCBE83AA}" created="2025-11-19T21:27:55.989">
        <p188:txBody>
          <a:bodyPr/>
          <a:lstStyle/>
          <a:p>
            <a:r>
              <a:rPr lang="en-US"/>
              <a:t>Yes</a:t>
            </a:r>
          </a:p>
        </p188:txBody>
      </p188:reply>
    </p188:replyLst>
    <p188:txBody>
      <a:bodyPr/>
      <a:lstStyle/>
      <a:p>
        <a:r>
          <a:rPr lang="en-US"/>
          <a:t>Is it this low for both motors combined?</a:t>
        </a:r>
      </a:p>
    </p188:txBody>
  </p188:cm>
</p188:cmLst>
</file>

<file path=ppt/comments/modernComment_17A_E52CF8F1.xml><?xml version="1.0" encoding="utf-8"?>
<p188:cmLst xmlns:a="http://schemas.openxmlformats.org/drawingml/2006/main" xmlns:r="http://schemas.openxmlformats.org/officeDocument/2006/relationships" xmlns:p188="http://schemas.microsoft.com/office/powerpoint/2018/8/main">
  <p188:cm id="{48E68A7B-3E4E-4C47-B437-F8D4F96F85DD}" authorId="{E8A225C7-590C-2050-3B5A-74A244897A55}" status="resolved" created="2025-11-19T18:17:54.473" complete="100000">
    <pc:sldMkLst xmlns:pc="http://schemas.microsoft.com/office/powerpoint/2013/main/command">
      <pc:docMk/>
      <pc:sldMk cId="3844929777" sldId="378"/>
    </pc:sldMkLst>
    <p188:replyLst>
      <p188:reply id="{B21B7177-93A4-40FE-B535-1445652F3213}" authorId="{CC44861A-DCDA-7DBF-6E5E-051ABCBE83AA}" created="2025-11-19T21:30:59.191">
        <p188:txBody>
          <a:bodyPr/>
          <a:lstStyle/>
          <a:p>
            <a:r>
              <a:rPr lang="en-US"/>
              <a:t>Oh dang. That’s less than a possible ambient temperature (&lt;100F). I would think the input cold temperature is going to determine if the output hot can get that low, and not necessarily the HX.</a:t>
            </a:r>
          </a:p>
        </p188:txBody>
      </p188:reply>
    </p188:replyLst>
    <p188:txBody>
      <a:bodyPr/>
      <a:lstStyle/>
      <a:p>
        <a:r>
          <a:rPr lang="en-US"/>
          <a:t>[@Shackelford, Mason A] inlet temp should be &lt;37 degC for boost mode. This is in the Magna presentation. That means, the outlet of the hot loop must be &lt; 37 degC</a:t>
        </a:r>
      </a:p>
    </p188:txBody>
  </p188:cm>
</p188:cmLst>
</file>

<file path=ppt/comments/modernComment_18B_3EF44C80.xml><?xml version="1.0" encoding="utf-8"?>
<p188:cmLst xmlns:a="http://schemas.openxmlformats.org/drawingml/2006/main" xmlns:r="http://schemas.openxmlformats.org/officeDocument/2006/relationships" xmlns:p188="http://schemas.microsoft.com/office/powerpoint/2018/8/main">
  <p188:cm id="{3DAD7761-9B87-4DE1-98FF-3FBC2AA2DC74}" authorId="{E8A225C7-590C-2050-3B5A-74A244897A55}" created="2025-11-26T21:29:16.283">
    <ac:deMkLst xmlns:ac="http://schemas.microsoft.com/office/drawing/2013/main/command">
      <pc:docMk xmlns:pc="http://schemas.microsoft.com/office/powerpoint/2013/main/command"/>
      <pc:sldMk xmlns:pc="http://schemas.microsoft.com/office/powerpoint/2013/main/command" cId="1056197760" sldId="395"/>
      <ac:picMk id="6" creationId="{8F3068B7-DE83-5D78-DA72-D1CB7E616D77}"/>
    </ac:deMkLst>
    <p188:txBody>
      <a:bodyPr/>
      <a:lstStyle/>
      <a:p>
        <a:r>
          <a:rPr lang="en-US"/>
          <a:t>[@Shackelford, Mason A] items 5 and 6 will depend on the location of HX. If they allow us to have it on the subframe, we don't need 90deg connectors. If we have to place it near the HV box above steering column, then we do need 90deg. We will have to wait and see what they say.</a:t>
        </a:r>
      </a:p>
    </p188:txBody>
  </p188:cm>
</p188:cmLst>
</file>

<file path=ppt/comments/modernComment_180_61756587.xml><?xml version="1.0" encoding="utf-8"?>
<p188:cmLst xmlns:a="http://schemas.openxmlformats.org/drawingml/2006/main" xmlns:r="http://schemas.openxmlformats.org/officeDocument/2006/relationships" xmlns:p188="http://schemas.microsoft.com/office/powerpoint/2018/8/main">
  <p188:cm id="{315F4669-FBEE-4067-BA77-6877BA71D561}" authorId="{E8A225C7-590C-2050-3B5A-74A244897A55}" created="2025-11-26T21:41:14.447">
    <pc:sldMkLst xmlns:pc="http://schemas.microsoft.com/office/powerpoint/2013/main/command">
      <pc:docMk/>
      <pc:sldMk cId="1635083655" sldId="384"/>
    </pc:sldMkLst>
    <p188:replyLst>
      <p188:reply id="{F7BF72A6-B426-4048-81D4-08889B1AB612}" authorId="{CC44861A-DCDA-7DBF-6E5E-051ABCBE83AA}" created="2025-11-27T03:17:45.430">
        <p188:txBody>
          <a:bodyPr/>
          <a:lstStyle/>
          <a:p>
            <a:r>
              <a:rPr lang="en-US"/>
              <a:t>I think we should measure across the team added components. Since the pump is always at maximum pressure, it will give the same reading before and after the modifications. What the organizers want to know is if there is the same pressure drop across the stock components; or similarly, there the same pressure drop across the stock FEDU and OBCM2.</a:t>
            </a:r>
          </a:p>
        </p188:txBody>
      </p188:reply>
    </p188:replyLst>
    <p188:txBody>
      <a:bodyPr/>
      <a:lstStyle/>
      <a:p>
        <a:r>
          <a:rPr lang="en-US"/>
          <a:t>[@Shackelford, Mason A] , what is the purpose of finding pressure difference across HX? 
If before ripping apart, we are measuring pressure differential across stock pump, then for comparison, we should measure across the same pump even in the new system.
Otherwise, if we plan to do according to this diagram, then we have to measure the current system also across the both EDU loops and not across the pump.</a:t>
        </a:r>
      </a:p>
    </p188:txBody>
  </p188:cm>
  <p188:cm id="{3273ECC5-A278-4B83-AC24-4DDE0F16CA75}" authorId="{E8A225C7-590C-2050-3B5A-74A244897A55}" created="2025-11-26T21:43:01.783">
    <pc:sldMkLst xmlns:pc="http://schemas.microsoft.com/office/powerpoint/2013/main/command">
      <pc:docMk/>
      <pc:sldMk cId="1635083655" sldId="384"/>
    </pc:sldMkLst>
    <p188:replyLst>
      <p188:reply id="{31E9EE1B-E802-4618-B793-C53240DFE11C}" authorId="{CC44861A-DCDA-7DBF-6E5E-051ABCBE83AA}" created="2025-11-27T03:20:16.571">
        <p188:txBody>
          <a:bodyPr/>
          <a:lstStyle/>
          <a:p>
            <a:r>
              <a:rPr lang="en-US"/>
              <a:t>I didn’t include the flowmeters because I am focusing on what has changed here. I agree another flowmeter on the stock side would be a nice to have.</a:t>
            </a:r>
          </a:p>
        </p188:txBody>
      </p188:reply>
    </p188:replyLst>
    <p188:txBody>
      <a:bodyPr/>
      <a:lstStyle/>
      <a:p>
        <a:r>
          <a:rPr lang="en-US"/>
          <a:t>We are also missing flow meters in this diagram. We might need to order one more flow meter? 
Overall, we would need the flow rate on FEDU, REDU and in the stock loop.</a:t>
        </a:r>
      </a:p>
    </p188:txBody>
  </p188:cm>
  <p188:cm id="{DC36A254-A9EB-4CC3-8F3A-BB789B97C3C4}" authorId="{E8A225C7-590C-2050-3B5A-74A244897A55}" created="2025-11-26T21:45:34.150">
    <pc:sldMkLst xmlns:pc="http://schemas.microsoft.com/office/powerpoint/2013/main/command">
      <pc:docMk/>
      <pc:sldMk cId="1635083655" sldId="384"/>
    </pc:sldMkLst>
    <p188:replyLst>
      <p188:reply id="{49C90B07-375F-4857-A897-BF6109A99FAE}" authorId="{CC44861A-DCDA-7DBF-6E5E-051ABCBE83AA}" created="2025-11-27T03:22:01.009">
        <p188:txBody>
          <a:bodyPr/>
          <a:lstStyle/>
          <a:p>
            <a:r>
              <a:rPr lang="en-US"/>
              <a:t>Why can’t we put a vacuum on it the same way? I still agree we should have a bleeder valve.</a:t>
            </a:r>
          </a:p>
        </p188:txBody>
      </p188:reply>
      <p188:reply id="{E3BCF7CE-A44D-4F23-90EA-466981488E76}" authorId="{CC44861A-DCDA-7DBF-6E5E-051ABCBE83AA}" created="2025-11-27T03:26:30.879">
        <p188:txBody>
          <a:bodyPr/>
          <a:lstStyle/>
          <a:p>
            <a:r>
              <a:rPr lang="en-US"/>
              <a:t>Actually, hear me out: we attach the coolant reservoir at that high point and kill two birds with one stone</a:t>
            </a:r>
          </a:p>
        </p188:txBody>
      </p188:reply>
    </p188:replyLst>
    <p188:txBody>
      <a:bodyPr/>
      <a:lstStyle/>
      <a:p>
        <a:r>
          <a:rPr lang="en-US"/>
          <a:t>[@Shackelford, Mason A] we would also need a bleeder valve at one of the high points in the team loop. This will likely be on the U-shaped tube coming out of FEDU that can be seen when you open the hood. That is a local maxima in the team loop and we don't have the auto coolant fill procedures like the stock loop does. So we will just have to keep running the pump. Local maxima will leave some bubbles there.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E8B42-2A0C-45DC-B01D-C66B4832715C}"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42F77-6680-4363-B93E-13EAD7FF78DB}" type="slidenum">
              <a:rPr lang="en-US" smtClean="0"/>
              <a:t>‹#›</a:t>
            </a:fld>
            <a:endParaRPr lang="en-US"/>
          </a:p>
        </p:txBody>
      </p:sp>
    </p:spTree>
    <p:extLst>
      <p:ext uri="{BB962C8B-B14F-4D97-AF65-F5344CB8AC3E}">
        <p14:creationId xmlns:p14="http://schemas.microsoft.com/office/powerpoint/2010/main" val="1848004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229B0-6E66-A694-C6EB-9A00FA22F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E7232-63A0-B7E9-507D-2647987ABE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66790-359B-B756-F0E9-2038DF245FD2}"/>
              </a:ext>
            </a:extLst>
          </p:cNvPr>
          <p:cNvSpPr>
            <a:spLocks noGrp="1"/>
          </p:cNvSpPr>
          <p:nvPr>
            <p:ph type="body" idx="1"/>
          </p:nvPr>
        </p:nvSpPr>
        <p:spPr/>
        <p:txBody>
          <a:bodyPr/>
          <a:lstStyle/>
          <a:p>
            <a:r>
              <a:rPr lang="en-US"/>
              <a:t>PUMP: Increasing flow rate, increasing pressure because increasing work, </a:t>
            </a:r>
          </a:p>
          <a:p>
            <a:endParaRPr lang="en-US"/>
          </a:p>
          <a:p>
            <a:r>
              <a:rPr lang="en-US"/>
              <a:t>Valve adds resistance to loop,  valve decreasing pressure</a:t>
            </a:r>
          </a:p>
          <a:p>
            <a:r>
              <a:rPr lang="en-US"/>
              <a:t>-so pump increases [</a:t>
            </a:r>
            <a:r>
              <a:rPr lang="en-US" err="1"/>
              <a:t>ressure</a:t>
            </a:r>
            <a:endParaRPr lang="en-US"/>
          </a:p>
          <a:p>
            <a:r>
              <a:rPr lang="en-US"/>
              <a:t>LTRA: Low Temperature Radiator- Crossflow heat exchanger for cooling coolant using air </a:t>
            </a:r>
          </a:p>
          <a:p>
            <a:endParaRPr lang="en-US"/>
          </a:p>
          <a:p>
            <a:r>
              <a:rPr lang="en-US" err="1"/>
              <a:t>Cihx</a:t>
            </a:r>
            <a:r>
              <a:rPr lang="en-US"/>
              <a:t> </a:t>
            </a:r>
          </a:p>
        </p:txBody>
      </p:sp>
      <p:sp>
        <p:nvSpPr>
          <p:cNvPr id="4" name="Slide Number Placeholder 3">
            <a:extLst>
              <a:ext uri="{FF2B5EF4-FFF2-40B4-BE49-F238E27FC236}">
                <a16:creationId xmlns:a16="http://schemas.microsoft.com/office/drawing/2014/main" id="{2927B0C3-75A2-BBBA-D644-CFD292D938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A5D7CC-4584-7D4D-9AC5-26861B0A27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0466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7A612-B5ED-4A79-6ADC-8F86F0804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951F5-09C9-2A20-6357-B81ABE0A43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FA585A-9243-AF35-670A-2F8E671E88FE}"/>
              </a:ext>
            </a:extLst>
          </p:cNvPr>
          <p:cNvSpPr>
            <a:spLocks noGrp="1"/>
          </p:cNvSpPr>
          <p:nvPr>
            <p:ph type="body" idx="1"/>
          </p:nvPr>
        </p:nvSpPr>
        <p:spPr/>
        <p:txBody>
          <a:bodyPr/>
          <a:lstStyle/>
          <a:p>
            <a:r>
              <a:rPr lang="en-US"/>
              <a:t>PUMP: Increasing flow rate, increasing pressure because increasing work, </a:t>
            </a:r>
          </a:p>
          <a:p>
            <a:endParaRPr lang="en-US"/>
          </a:p>
          <a:p>
            <a:r>
              <a:rPr lang="en-US"/>
              <a:t>Valve adds resistance to loop,  valve decreasing pressure</a:t>
            </a:r>
          </a:p>
          <a:p>
            <a:r>
              <a:rPr lang="en-US"/>
              <a:t>-so pump increases [</a:t>
            </a:r>
            <a:r>
              <a:rPr lang="en-US" err="1"/>
              <a:t>ressure</a:t>
            </a:r>
            <a:endParaRPr lang="en-US"/>
          </a:p>
          <a:p>
            <a:r>
              <a:rPr lang="en-US"/>
              <a:t>LTRA: Low Temperature Radiator- Crossflow heat exchanger for cooling coolant using air </a:t>
            </a:r>
          </a:p>
          <a:p>
            <a:endParaRPr lang="en-US"/>
          </a:p>
          <a:p>
            <a:r>
              <a:rPr lang="en-US" err="1"/>
              <a:t>Cihx</a:t>
            </a:r>
            <a:r>
              <a:rPr lang="en-US"/>
              <a:t> </a:t>
            </a:r>
          </a:p>
        </p:txBody>
      </p:sp>
      <p:sp>
        <p:nvSpPr>
          <p:cNvPr id="4" name="Slide Number Placeholder 3">
            <a:extLst>
              <a:ext uri="{FF2B5EF4-FFF2-40B4-BE49-F238E27FC236}">
                <a16:creationId xmlns:a16="http://schemas.microsoft.com/office/drawing/2014/main" id="{0A7E809C-36AC-2E0B-A6B3-D664BBFDEF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A5D7CC-4584-7D4D-9AC5-26861B0A27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7075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534E2-7045-E321-635C-AE71D40F7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21CDB6-44FF-8D0A-B7CF-8CA5506E5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ABD23-6D1F-644E-DAD0-1B6428F3DF37}"/>
              </a:ext>
            </a:extLst>
          </p:cNvPr>
          <p:cNvSpPr>
            <a:spLocks noGrp="1"/>
          </p:cNvSpPr>
          <p:nvPr>
            <p:ph type="body" idx="1"/>
          </p:nvPr>
        </p:nvSpPr>
        <p:spPr/>
        <p:txBody>
          <a:bodyPr/>
          <a:lstStyle/>
          <a:p>
            <a:r>
              <a:rPr lang="en-US"/>
              <a:t>PUMP: Increasing flow rate, increasing pressure because increasing work, </a:t>
            </a:r>
          </a:p>
          <a:p>
            <a:endParaRPr lang="en-US"/>
          </a:p>
          <a:p>
            <a:r>
              <a:rPr lang="en-US"/>
              <a:t>Valve adds resistance to loop,  valve decreasing pressure</a:t>
            </a:r>
          </a:p>
          <a:p>
            <a:r>
              <a:rPr lang="en-US"/>
              <a:t>-so pump increases [</a:t>
            </a:r>
            <a:r>
              <a:rPr lang="en-US" err="1"/>
              <a:t>ressure</a:t>
            </a:r>
            <a:endParaRPr lang="en-US"/>
          </a:p>
          <a:p>
            <a:r>
              <a:rPr lang="en-US"/>
              <a:t>LTRA: Low Temperature Radiator- Crossflow heat exchanger for cooling coolant using air </a:t>
            </a:r>
          </a:p>
          <a:p>
            <a:endParaRPr lang="en-US"/>
          </a:p>
          <a:p>
            <a:r>
              <a:rPr lang="en-US" err="1"/>
              <a:t>Cihx</a:t>
            </a:r>
            <a:r>
              <a:rPr lang="en-US"/>
              <a:t> </a:t>
            </a:r>
          </a:p>
        </p:txBody>
      </p:sp>
      <p:sp>
        <p:nvSpPr>
          <p:cNvPr id="4" name="Slide Number Placeholder 3">
            <a:extLst>
              <a:ext uri="{FF2B5EF4-FFF2-40B4-BE49-F238E27FC236}">
                <a16:creationId xmlns:a16="http://schemas.microsoft.com/office/drawing/2014/main" id="{DF51ECDD-FD09-66FE-D38E-DA9B5A8553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A5D7CC-4584-7D4D-9AC5-26861B0A27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0458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p:txBody>
          <a:bodyPr/>
          <a:lstStyle/>
          <a:p>
            <a:fld id="{016554A5-B4DD-7045-B047-B7DA6D1E70A4}" type="datetimeFigureOut">
              <a:rPr lang="en-US" smtClean="0"/>
              <a:t>5/24/2026</a:t>
            </a:fld>
            <a:endParaRPr lang="en-US"/>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090931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p>
            <a:fld id="{016554A5-B4DD-7045-B047-B7DA6D1E70A4}" type="datetimeFigureOut">
              <a:rPr lang="en-US" smtClean="0"/>
              <a:t>5/24/2026</a:t>
            </a:fld>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512757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5/24/2026</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42340497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5/24/2026</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
        <p:nvSpPr>
          <p:cNvPr id="3" name="Picture Placeholder 2">
            <a:extLst>
              <a:ext uri="{FF2B5EF4-FFF2-40B4-BE49-F238E27FC236}">
                <a16:creationId xmlns:a16="http://schemas.microsoft.com/office/drawing/2014/main" id="{7EB05746-5DE4-07B1-5611-4EEBAF38DE1E}"/>
              </a:ext>
            </a:extLst>
          </p:cNvPr>
          <p:cNvSpPr>
            <a:spLocks noGrp="1"/>
          </p:cNvSpPr>
          <p:nvPr>
            <p:ph type="pic" sz="quarter" idx="13"/>
          </p:nvPr>
        </p:nvSpPr>
        <p:spPr>
          <a:xfrm>
            <a:off x="381000" y="1425402"/>
            <a:ext cx="3074469" cy="2081855"/>
          </a:xfrm>
        </p:spPr>
        <p:txBody>
          <a:bodyPr/>
          <a:lstStyle/>
          <a:p>
            <a:endParaRPr lang="en-US"/>
          </a:p>
        </p:txBody>
      </p:sp>
      <p:sp>
        <p:nvSpPr>
          <p:cNvPr id="4" name="Picture Placeholder 2">
            <a:extLst>
              <a:ext uri="{FF2B5EF4-FFF2-40B4-BE49-F238E27FC236}">
                <a16:creationId xmlns:a16="http://schemas.microsoft.com/office/drawing/2014/main" id="{03F001E6-D6D1-A396-EE07-7790621213EA}"/>
              </a:ext>
            </a:extLst>
          </p:cNvPr>
          <p:cNvSpPr>
            <a:spLocks noGrp="1"/>
          </p:cNvSpPr>
          <p:nvPr>
            <p:ph type="pic" sz="quarter" idx="14"/>
          </p:nvPr>
        </p:nvSpPr>
        <p:spPr>
          <a:xfrm>
            <a:off x="3771394" y="1425402"/>
            <a:ext cx="3074469" cy="2081855"/>
          </a:xfrm>
        </p:spPr>
        <p:txBody>
          <a:bodyPr/>
          <a:lstStyle/>
          <a:p>
            <a:endParaRPr lang="en-US"/>
          </a:p>
        </p:txBody>
      </p:sp>
      <p:sp>
        <p:nvSpPr>
          <p:cNvPr id="5" name="Picture Placeholder 2">
            <a:extLst>
              <a:ext uri="{FF2B5EF4-FFF2-40B4-BE49-F238E27FC236}">
                <a16:creationId xmlns:a16="http://schemas.microsoft.com/office/drawing/2014/main" id="{02BD7855-1EA6-1102-5122-4BF617ED2DCB}"/>
              </a:ext>
            </a:extLst>
          </p:cNvPr>
          <p:cNvSpPr>
            <a:spLocks noGrp="1"/>
          </p:cNvSpPr>
          <p:nvPr>
            <p:ph type="pic" sz="quarter" idx="15"/>
          </p:nvPr>
        </p:nvSpPr>
        <p:spPr>
          <a:xfrm>
            <a:off x="7178140" y="1425402"/>
            <a:ext cx="3074469" cy="2081855"/>
          </a:xfrm>
        </p:spPr>
        <p:txBody>
          <a:bodyPr/>
          <a:lstStyle/>
          <a:p>
            <a:endParaRPr lang="en-US"/>
          </a:p>
        </p:txBody>
      </p:sp>
      <p:sp>
        <p:nvSpPr>
          <p:cNvPr id="6" name="Picture Placeholder 2">
            <a:extLst>
              <a:ext uri="{FF2B5EF4-FFF2-40B4-BE49-F238E27FC236}">
                <a16:creationId xmlns:a16="http://schemas.microsoft.com/office/drawing/2014/main" id="{93DB0072-B1E4-2B67-CD64-AFD0CADC50A0}"/>
              </a:ext>
            </a:extLst>
          </p:cNvPr>
          <p:cNvSpPr>
            <a:spLocks noGrp="1"/>
          </p:cNvSpPr>
          <p:nvPr>
            <p:ph type="pic" sz="quarter" idx="16"/>
          </p:nvPr>
        </p:nvSpPr>
        <p:spPr>
          <a:xfrm>
            <a:off x="381000" y="3772092"/>
            <a:ext cx="3074469" cy="2081855"/>
          </a:xfrm>
        </p:spPr>
        <p:txBody>
          <a:bodyPr/>
          <a:lstStyle/>
          <a:p>
            <a:endParaRPr lang="en-US"/>
          </a:p>
        </p:txBody>
      </p:sp>
      <p:sp>
        <p:nvSpPr>
          <p:cNvPr id="16" name="Picture Placeholder 2">
            <a:extLst>
              <a:ext uri="{FF2B5EF4-FFF2-40B4-BE49-F238E27FC236}">
                <a16:creationId xmlns:a16="http://schemas.microsoft.com/office/drawing/2014/main" id="{F12EFAB6-9D79-46A4-1400-FA689BD1831A}"/>
              </a:ext>
            </a:extLst>
          </p:cNvPr>
          <p:cNvSpPr>
            <a:spLocks noGrp="1"/>
          </p:cNvSpPr>
          <p:nvPr>
            <p:ph type="pic" sz="quarter" idx="17"/>
          </p:nvPr>
        </p:nvSpPr>
        <p:spPr>
          <a:xfrm>
            <a:off x="3771394" y="3772092"/>
            <a:ext cx="3074469" cy="2081855"/>
          </a:xfrm>
        </p:spPr>
        <p:txBody>
          <a:bodyPr/>
          <a:lstStyle/>
          <a:p>
            <a:endParaRPr lang="en-US"/>
          </a:p>
        </p:txBody>
      </p:sp>
      <p:sp>
        <p:nvSpPr>
          <p:cNvPr id="17" name="Picture Placeholder 2">
            <a:extLst>
              <a:ext uri="{FF2B5EF4-FFF2-40B4-BE49-F238E27FC236}">
                <a16:creationId xmlns:a16="http://schemas.microsoft.com/office/drawing/2014/main" id="{F8E2A34E-676C-226E-E8A6-42635E9CC189}"/>
              </a:ext>
            </a:extLst>
          </p:cNvPr>
          <p:cNvSpPr>
            <a:spLocks noGrp="1"/>
          </p:cNvSpPr>
          <p:nvPr>
            <p:ph type="pic" sz="quarter" idx="18"/>
          </p:nvPr>
        </p:nvSpPr>
        <p:spPr>
          <a:xfrm>
            <a:off x="7178140" y="3772092"/>
            <a:ext cx="3074469" cy="2081855"/>
          </a:xfrm>
        </p:spPr>
        <p:txBody>
          <a:bodyPr/>
          <a:lstStyle/>
          <a:p>
            <a:endParaRPr lang="en-US"/>
          </a:p>
        </p:txBody>
      </p:sp>
    </p:spTree>
    <p:extLst>
      <p:ext uri="{BB962C8B-B14F-4D97-AF65-F5344CB8AC3E}">
        <p14:creationId xmlns:p14="http://schemas.microsoft.com/office/powerpoint/2010/main" val="619297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p:txBody>
          <a:bodyPr/>
          <a:lstStyle/>
          <a:p>
            <a:fld id="{016554A5-B4DD-7045-B047-B7DA6D1E70A4}" type="datetimeFigureOut">
              <a:rPr lang="en-US" smtClean="0"/>
              <a:t>5/24/2026</a:t>
            </a:fld>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21445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642338" y="457201"/>
            <a:ext cx="7168663"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p:txBody>
          <a:bodyPr/>
          <a:lstStyle/>
          <a:p>
            <a:fld id="{016554A5-B4DD-7045-B047-B7DA6D1E70A4}" type="datetimeFigureOut">
              <a:rPr lang="en-US" smtClean="0"/>
              <a:t>5/24/2026</a:t>
            </a:fld>
            <a:endParaRPr lang="en-US"/>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2981419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57A-36CB-814D-B1A5-9012A244B555}"/>
              </a:ext>
            </a:extLst>
          </p:cNvPr>
          <p:cNvSpPr>
            <a:spLocks noGrp="1"/>
          </p:cNvSpPr>
          <p:nvPr>
            <p:ph type="title"/>
          </p:nvPr>
        </p:nvSpPr>
        <p:spPr>
          <a:xfrm>
            <a:off x="381001" y="457200"/>
            <a:ext cx="393276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3259A3-587A-6D4A-AEF8-E4225996F750}"/>
              </a:ext>
            </a:extLst>
          </p:cNvPr>
          <p:cNvSpPr>
            <a:spLocks noGrp="1"/>
          </p:cNvSpPr>
          <p:nvPr>
            <p:ph type="pic" idx="1"/>
          </p:nvPr>
        </p:nvSpPr>
        <p:spPr>
          <a:xfrm>
            <a:off x="4614203" y="457201"/>
            <a:ext cx="7196798" cy="498393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AC1918-55BE-A644-8FDC-9E18F9A994B4}"/>
              </a:ext>
            </a:extLst>
          </p:cNvPr>
          <p:cNvSpPr>
            <a:spLocks noGrp="1"/>
          </p:cNvSpPr>
          <p:nvPr>
            <p:ph type="body" sz="half" idx="2"/>
          </p:nvPr>
        </p:nvSpPr>
        <p:spPr>
          <a:xfrm>
            <a:off x="381001" y="2274850"/>
            <a:ext cx="3932767" cy="31662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9DD8F2-DDA7-354F-9FEA-A07E773A64F1}"/>
              </a:ext>
            </a:extLst>
          </p:cNvPr>
          <p:cNvSpPr>
            <a:spLocks noGrp="1"/>
          </p:cNvSpPr>
          <p:nvPr>
            <p:ph type="dt" sz="half" idx="10"/>
          </p:nvPr>
        </p:nvSpPr>
        <p:spPr/>
        <p:txBody>
          <a:bodyPr/>
          <a:lstStyle/>
          <a:p>
            <a:fld id="{016554A5-B4DD-7045-B047-B7DA6D1E70A4}" type="datetimeFigureOut">
              <a:rPr lang="en-US" smtClean="0"/>
              <a:t>5/24/2026</a:t>
            </a:fld>
            <a:endParaRPr lang="en-US"/>
          </a:p>
        </p:txBody>
      </p:sp>
      <p:sp>
        <p:nvSpPr>
          <p:cNvPr id="7" name="Slide Number Placeholder 6">
            <a:extLst>
              <a:ext uri="{FF2B5EF4-FFF2-40B4-BE49-F238E27FC236}">
                <a16:creationId xmlns:a16="http://schemas.microsoft.com/office/drawing/2014/main" id="{4B3F2438-4A98-5A4C-9057-FC3F0CBCD520}"/>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4290653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7AD69-3205-BCCD-4E2D-E72B1D3B18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E0D675-7591-9D83-10A1-2FEED657724E}"/>
              </a:ext>
            </a:extLst>
          </p:cNvPr>
          <p:cNvSpPr>
            <a:spLocks noGrp="1"/>
          </p:cNvSpPr>
          <p:nvPr>
            <p:ph type="dt" sz="half" idx="10"/>
          </p:nvPr>
        </p:nvSpPr>
        <p:spPr/>
        <p:txBody>
          <a:bodyPr/>
          <a:lstStyle/>
          <a:p>
            <a:fld id="{016554A5-B4DD-7045-B047-B7DA6D1E70A4}" type="datetimeFigureOut">
              <a:rPr lang="en-US" smtClean="0"/>
              <a:pPr/>
              <a:t>5/24/2026</a:t>
            </a:fld>
            <a:endParaRPr lang="en-US"/>
          </a:p>
        </p:txBody>
      </p:sp>
      <p:sp>
        <p:nvSpPr>
          <p:cNvPr id="4" name="Slide Number Placeholder 3">
            <a:extLst>
              <a:ext uri="{FF2B5EF4-FFF2-40B4-BE49-F238E27FC236}">
                <a16:creationId xmlns:a16="http://schemas.microsoft.com/office/drawing/2014/main" id="{56C7773C-2F41-C6E1-AAB5-9601AB572047}"/>
              </a:ext>
            </a:extLst>
          </p:cNvPr>
          <p:cNvSpPr>
            <a:spLocks noGrp="1"/>
          </p:cNvSpPr>
          <p:nvPr>
            <p:ph type="sldNum" sz="quarter" idx="11"/>
          </p:nvPr>
        </p:nvSpPr>
        <p:spPr/>
        <p:txBody>
          <a:bodyPr/>
          <a:lstStyle/>
          <a:p>
            <a:fld id="{AE678206-0642-9F48-9727-6B519CB285FA}" type="slidenum">
              <a:rPr lang="en-US" smtClean="0"/>
              <a:pPr/>
              <a:t>‹#›</a:t>
            </a:fld>
            <a:endParaRPr lang="en-US"/>
          </a:p>
        </p:txBody>
      </p:sp>
      <p:sp>
        <p:nvSpPr>
          <p:cNvPr id="6" name="Chart Placeholder 5">
            <a:extLst>
              <a:ext uri="{FF2B5EF4-FFF2-40B4-BE49-F238E27FC236}">
                <a16:creationId xmlns:a16="http://schemas.microsoft.com/office/drawing/2014/main" id="{A169B0B5-D05E-C4AE-458A-3F4627989B43}"/>
              </a:ext>
            </a:extLst>
          </p:cNvPr>
          <p:cNvSpPr>
            <a:spLocks noGrp="1"/>
          </p:cNvSpPr>
          <p:nvPr>
            <p:ph type="chart" sz="quarter" idx="12"/>
          </p:nvPr>
        </p:nvSpPr>
        <p:spPr>
          <a:xfrm>
            <a:off x="381000" y="1435100"/>
            <a:ext cx="7510463" cy="4572000"/>
          </a:xfrm>
        </p:spPr>
        <p:txBody>
          <a:bodyPr/>
          <a:lstStyle/>
          <a:p>
            <a:endParaRPr lang="en-US"/>
          </a:p>
        </p:txBody>
      </p:sp>
      <p:sp>
        <p:nvSpPr>
          <p:cNvPr id="8" name="Text Placeholder 7">
            <a:extLst>
              <a:ext uri="{FF2B5EF4-FFF2-40B4-BE49-F238E27FC236}">
                <a16:creationId xmlns:a16="http://schemas.microsoft.com/office/drawing/2014/main" id="{3AA2623B-F27F-1862-1049-4ADBDCD7601C}"/>
              </a:ext>
            </a:extLst>
          </p:cNvPr>
          <p:cNvSpPr>
            <a:spLocks noGrp="1"/>
          </p:cNvSpPr>
          <p:nvPr>
            <p:ph type="body" sz="quarter" idx="13"/>
          </p:nvPr>
        </p:nvSpPr>
        <p:spPr>
          <a:xfrm>
            <a:off x="8116888" y="1435100"/>
            <a:ext cx="3694112" cy="3417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7015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p>
            <a:r>
              <a:rPr lang="en-US"/>
              <a:t>Click to edit Master subtitle style</a:t>
            </a:r>
          </a:p>
        </p:txBody>
      </p:sp>
    </p:spTree>
    <p:extLst>
      <p:ext uri="{BB962C8B-B14F-4D97-AF65-F5344CB8AC3E}">
        <p14:creationId xmlns:p14="http://schemas.microsoft.com/office/powerpoint/2010/main" val="1732468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794E2-0939-7444-A82A-8BD5C7FA1DDC}"/>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16A5F8-57A3-204B-9489-10B6EA097328}"/>
              </a:ext>
            </a:extLst>
          </p:cNvPr>
          <p:cNvSpPr>
            <a:spLocks noGrp="1"/>
          </p:cNvSpPr>
          <p:nvPr>
            <p:ph type="body" idx="1"/>
          </p:nvPr>
        </p:nvSpPr>
        <p:spPr>
          <a:xfrm>
            <a:off x="381000" y="1215485"/>
            <a:ext cx="11429999" cy="42256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2C088-FD5F-6E47-B5E9-B42B8CA51A39}"/>
              </a:ext>
            </a:extLst>
          </p:cNvPr>
          <p:cNvSpPr>
            <a:spLocks noGrp="1"/>
          </p:cNvSpPr>
          <p:nvPr>
            <p:ph type="dt" sz="half" idx="2"/>
          </p:nvPr>
        </p:nvSpPr>
        <p:spPr>
          <a:xfrm>
            <a:off x="1408329" y="6182540"/>
            <a:ext cx="1546654"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016554A5-B4DD-7045-B047-B7DA6D1E70A4}" type="datetimeFigureOut">
              <a:rPr lang="en-US" smtClean="0"/>
              <a:pPr/>
              <a:t>5/24/2026</a:t>
            </a:fld>
            <a:endParaRPr lang="en-US"/>
          </a:p>
        </p:txBody>
      </p:sp>
      <p:sp>
        <p:nvSpPr>
          <p:cNvPr id="6" name="Slide Number Placeholder 5">
            <a:extLst>
              <a:ext uri="{FF2B5EF4-FFF2-40B4-BE49-F238E27FC236}">
                <a16:creationId xmlns:a16="http://schemas.microsoft.com/office/drawing/2014/main" id="{AA9F842A-A21A-C542-88CC-30F0DD78DA6E}"/>
              </a:ext>
            </a:extLst>
          </p:cNvPr>
          <p:cNvSpPr>
            <a:spLocks noGrp="1"/>
          </p:cNvSpPr>
          <p:nvPr>
            <p:ph type="sldNum" sz="quarter" idx="4"/>
          </p:nvPr>
        </p:nvSpPr>
        <p:spPr>
          <a:xfrm>
            <a:off x="381000" y="6182540"/>
            <a:ext cx="916577"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9639270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p:txStyles>
    <p:titleStyle>
      <a:lvl1pPr algn="l" defTabSz="914400" rtl="0" eaLnBrk="1" latinLnBrk="0" hangingPunct="1">
        <a:lnSpc>
          <a:spcPct val="90000"/>
        </a:lnSpc>
        <a:spcBef>
          <a:spcPct val="0"/>
        </a:spcBef>
        <a:buNone/>
        <a:defRPr sz="3600" b="1" i="0" kern="1200" baseline="0">
          <a:solidFill>
            <a:srgbClr val="A7934B"/>
          </a:solidFill>
          <a:latin typeface="Roboto" panose="02000000000000000000" pitchFamily="2" charset="0"/>
          <a:ea typeface="Roboto" panose="02000000000000000000" pitchFamily="2" charset="0"/>
          <a:cs typeface="Roboto"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5F_B13DD61A.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supplyhouse.com/Alfa-Laval-CB30-18H-450000-BTU-Hr-Domestic-Water-CB30-Brazed-Plate-Heat-Exchanger-18-Plates?utm_source=bingad&amp;utm_medium=Search_SKU&amp;utm_campaign=Search_SKU_Heating_X_Phrase_X&amp;utm_campaignid=590181434&amp;utm_adgroupid=1225956500911937&amp;utm_targetid=kwd-76622573269976:loc-4090&amp;utm_product_id=&amp;utm_matchtype=p&amp;utm_keyword=CB30-18H&amp;utm_adtype=&amp;utm_adgroup=Heating%20Specialties_Heating%20Parts%20%26%20Accessories_Heat%20Exchangers_Alfa%20Laval&amp;utm_searchquery=CB30AQ-18H&amp;utm_category=Heating&amp;msclkid=6e5797bcf98c12a1c5b6fea135847b3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hyperlink" Target="https://www.nationalpumpsupply.com/content/pdf/bell-&amp;-gossett-brazed-plate-heat-exchanger-selection-tables.pdf" TargetMode="Externa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hyperlink" Target="https://www.westank.com/how-to-size-brazed-plate-heat-exchangers/"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westank.com/how-to-size-brazed-plate-heat-exchangers/"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8/10/relationships/comments" Target="../comments/modernComment_17A_E52CF8F1.xml"/><Relationship Id="rId1" Type="http://schemas.openxmlformats.org/officeDocument/2006/relationships/slideLayout" Target="../slideLayouts/slideLayout2.xml"/><Relationship Id="rId4" Type="http://schemas.openxmlformats.org/officeDocument/2006/relationships/hyperlink" Target="https://phe-select.alfalaval.com/cfg/start/bhe/bhe"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hyperlink" Target="https://www.danfoss.com/en/service-and-support/downloads/dcs/danfoss-hexselector/"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hyperlink" Target="https://gtvault.sharepoint.com/:x:/s/ECE/EcoCAR/EbsaB4DjR4pLrw5vgwogTYsBC5aNYoNmI6n__h4spSA5KQ?e=s5XHd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gtvault.sharepoint.com/:b:/s/ECE/EcoCAR/EQmplmkmSRJFh5bUrOS1-osBbZkKh3zmWe5HcUl_fOzu0w?e=Z3LP6M" TargetMode="Externa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hyperlink" Target="https://gtvault.sharepoint.com/:w:/s/ECE/EcoCAR/IQALBojQTsszRItiFz1kMbPSAe-ueAOZcLrFhNth2oMrrpw?e=StykT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gtvault.sharepoint.com/:x:/s/ECE/EcoCAR/IQBCmByXj2FcTbw5AKb0luxjAQrGZPhULuGOewGqo7BlFVI?e=cJJ6wZ" TargetMode="External"/><Relationship Id="rId5" Type="http://schemas.openxmlformats.org/officeDocument/2006/relationships/hyperlink" Target="https://anl.box.com/s/b6m2rktyqaqkx6ymi9irjzm4hzs1ls4f" TargetMode="Externa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2" Type="http://schemas.microsoft.com/office/2018/10/relationships/comments" Target="../comments/modernComment_180_6175658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gtvault.sharepoint.com/:x:/s/ECE/EcoCAR/IQDrzrVUKhcvTZduIMjvDLMzAQ_aPXZBBRcs_65Yqt2Rs8o?e=LRCEgL" TargetMode="External"/><Relationship Id="rId2" Type="http://schemas.microsoft.com/office/2018/10/relationships/comments" Target="../comments/modernComment_18B_3EF44C80.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digikey.com/en/products/detail/honeywell-sensing-and-productivity-solutions/PX3AN2BS100PAAAX/5878272"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hyperlink" Target="https://www.summitracing.com/parts/rnb-603-001?seid=srese2&amp;utm_source=bing&amp;utm_medium=cpc&amp;utm_campaign=Brands+|+D&amp;utm_term=4581664954744285&amp;utm_content=GSAPI+5ba262a7e55d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chiefenterprises.com/bosch-039202453g-electric-water-pump" TargetMode="Externa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9.xml.rels><?xml version="1.0" encoding="UTF-8" standalone="yes"?>
<Relationships xmlns="http://schemas.openxmlformats.org/package/2006/relationships"><Relationship Id="rId3" Type="http://schemas.openxmlformats.org/officeDocument/2006/relationships/hyperlink" Target="https://www.summitracing.com/parts/fss-84706" TargetMode="External"/><Relationship Id="rId2" Type="http://schemas.openxmlformats.org/officeDocument/2006/relationships/hyperlink" Target="https://www.summitracing.com/parts/fss-84707?seid=srese2&amp;ppckw=pmax-msn-stock-replacement&amp;utm_source=bing&amp;utm_medium=cpc&amp;utm_campaign=Performance+Max+-+Stock+Replacement&amp;utm_term=2330483615132555&amp;utm_content=Performance+Max+-+Stock+Replacement" TargetMode="Externa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emmegiinc.com/contact/" TargetMode="External"/><Relationship Id="rId2" Type="http://schemas.openxmlformats.org/officeDocument/2006/relationships/hyperlink" Target="https://www.alfalaval.com/contact-us/general-inquiries/" TargetMode="External"/><Relationship Id="rId1" Type="http://schemas.openxmlformats.org/officeDocument/2006/relationships/slideLayout" Target="../slideLayouts/slideLayout2.xml"/><Relationship Id="rId4" Type="http://schemas.openxmlformats.org/officeDocument/2006/relationships/hyperlink" Target="https://www.xylem.com/en-us/brands/bell-gossett/about-bell--gossett/"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s://www.alfalaval.com/industries/hvac/hvac-consultant-portal/phe-select/" TargetMode="External"/><Relationship Id="rId3" Type="http://schemas.openxmlformats.org/officeDocument/2006/relationships/hyperlink" Target="https://www.nationalpumpsupply.com/content/pdf/bell-&amp;-gossett-brazed-plate-heat-exchanger-selection-tables.pdf" TargetMode="External"/><Relationship Id="rId7" Type="http://schemas.openxmlformats.org/officeDocument/2006/relationships/hyperlink" Target="https://emmegiinc.com/wb-series-brazed-plate-oil-coolers/" TargetMode="External"/><Relationship Id="rId2" Type="http://schemas.openxmlformats.org/officeDocument/2006/relationships/hyperlink" Target="https://www.nationalpumpsupply.com/content/pdf/bell-gossett-brazed-plate-heat-exchanger-brochure.pdf" TargetMode="External"/><Relationship Id="rId1" Type="http://schemas.openxmlformats.org/officeDocument/2006/relationships/slideLayout" Target="../slideLayouts/slideLayout2.xml"/><Relationship Id="rId6" Type="http://schemas.openxmlformats.org/officeDocument/2006/relationships/hyperlink" Target="https://emmegiinc.com/wp-content/uploads/2014/06/WB-Series-Brazed-Plate-Oil-Coolers.pdf" TargetMode="External"/><Relationship Id="rId5" Type="http://schemas.openxmlformats.org/officeDocument/2006/relationships/hyperlink" Target="https://www.westank.com/how-to-size-brazed-plate-heat-exchangers/" TargetMode="External"/><Relationship Id="rId4" Type="http://schemas.openxmlformats.org/officeDocument/2006/relationships/hyperlink" Target="https://assets.alfalaval.com/documents/pc713b236/alfa-laval-cb40-product-leaflet-en-gb.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18F50E-E43C-EDB4-20BA-A90E66FE491E}"/>
              </a:ext>
            </a:extLst>
          </p:cNvPr>
          <p:cNvSpPr>
            <a:spLocks noGrp="1"/>
          </p:cNvSpPr>
          <p:nvPr>
            <p:ph type="title"/>
          </p:nvPr>
        </p:nvSpPr>
        <p:spPr>
          <a:xfrm>
            <a:off x="3159753" y="2722249"/>
            <a:ext cx="5872494" cy="1014761"/>
          </a:xfrm>
        </p:spPr>
        <p:txBody>
          <a:bodyPr>
            <a:normAutofit fontScale="90000"/>
          </a:bodyPr>
          <a:lstStyle/>
          <a:p>
            <a:pPr algn="ctr"/>
            <a:r>
              <a:rPr lang="en-US"/>
              <a:t>Heat Exchanger Selection &amp; Mounting</a:t>
            </a:r>
          </a:p>
        </p:txBody>
      </p:sp>
      <p:sp>
        <p:nvSpPr>
          <p:cNvPr id="2" name="Content Placeholder 1">
            <a:extLst>
              <a:ext uri="{FF2B5EF4-FFF2-40B4-BE49-F238E27FC236}">
                <a16:creationId xmlns:a16="http://schemas.microsoft.com/office/drawing/2014/main" id="{8F31B818-B4EB-5D63-4856-1AFF528DD58E}"/>
              </a:ext>
            </a:extLst>
          </p:cNvPr>
          <p:cNvSpPr>
            <a:spLocks noGrp="1"/>
          </p:cNvSpPr>
          <p:nvPr>
            <p:ph idx="1"/>
          </p:nvPr>
        </p:nvSpPr>
        <p:spPr>
          <a:xfrm>
            <a:off x="381000" y="3565235"/>
            <a:ext cx="11429999" cy="757383"/>
          </a:xfrm>
        </p:spPr>
        <p:txBody>
          <a:bodyPr/>
          <a:lstStyle/>
          <a:p>
            <a:pPr marL="0" indent="0" algn="ctr">
              <a:buNone/>
            </a:pPr>
            <a:r>
              <a:rPr lang="en-US"/>
              <a:t>Hand Calculations &amp; FEA</a:t>
            </a:r>
          </a:p>
        </p:txBody>
      </p:sp>
    </p:spTree>
    <p:extLst>
      <p:ext uri="{BB962C8B-B14F-4D97-AF65-F5344CB8AC3E}">
        <p14:creationId xmlns:p14="http://schemas.microsoft.com/office/powerpoint/2010/main" val="1746750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77D43-AD2B-7093-24B4-AFBADB4C82C0}"/>
              </a:ext>
            </a:extLst>
          </p:cNvPr>
          <p:cNvSpPr>
            <a:spLocks noGrp="1"/>
          </p:cNvSpPr>
          <p:nvPr>
            <p:ph type="title"/>
          </p:nvPr>
        </p:nvSpPr>
        <p:spPr/>
        <p:txBody>
          <a:bodyPr/>
          <a:lstStyle/>
          <a:p>
            <a:r>
              <a:rPr lang="en-US"/>
              <a:t>Table of Contents</a:t>
            </a:r>
          </a:p>
        </p:txBody>
      </p:sp>
      <p:sp>
        <p:nvSpPr>
          <p:cNvPr id="3" name="Content Placeholder 2">
            <a:extLst>
              <a:ext uri="{FF2B5EF4-FFF2-40B4-BE49-F238E27FC236}">
                <a16:creationId xmlns:a16="http://schemas.microsoft.com/office/drawing/2014/main" id="{A8633090-E465-B51C-1ED4-416CE72703A7}"/>
              </a:ext>
            </a:extLst>
          </p:cNvPr>
          <p:cNvSpPr>
            <a:spLocks noGrp="1"/>
          </p:cNvSpPr>
          <p:nvPr>
            <p:ph sz="half" idx="1"/>
          </p:nvPr>
        </p:nvSpPr>
        <p:spPr/>
        <p:txBody>
          <a:bodyPr/>
          <a:lstStyle/>
          <a:p>
            <a:r>
              <a:rPr lang="en-US" dirty="0"/>
              <a:t>Problem</a:t>
            </a:r>
          </a:p>
          <a:p>
            <a:r>
              <a:rPr lang="en-US" dirty="0"/>
              <a:t>Costs/Advantages</a:t>
            </a:r>
          </a:p>
          <a:p>
            <a:r>
              <a:rPr lang="en-US" dirty="0"/>
              <a:t>Coolant Temp</a:t>
            </a:r>
          </a:p>
          <a:p>
            <a:r>
              <a:rPr lang="en-US" dirty="0"/>
              <a:t>Flowrate</a:t>
            </a:r>
          </a:p>
          <a:p>
            <a:r>
              <a:rPr lang="en-US" dirty="0"/>
              <a:t>Heat Rejection</a:t>
            </a:r>
          </a:p>
          <a:p>
            <a:r>
              <a:rPr lang="en-US" dirty="0"/>
              <a:t>Heat Exchanger</a:t>
            </a:r>
          </a:p>
          <a:p>
            <a:r>
              <a:rPr lang="en-US" dirty="0"/>
              <a:t>System Architecture</a:t>
            </a:r>
          </a:p>
          <a:p>
            <a:r>
              <a:rPr lang="en-US" dirty="0"/>
              <a:t>Selected Location</a:t>
            </a:r>
          </a:p>
          <a:p>
            <a:r>
              <a:rPr lang="en-US" dirty="0"/>
              <a:t>Mount FEA</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217693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8548B-770E-C9CD-7B52-D4A6886C0E6A}"/>
              </a:ext>
            </a:extLst>
          </p:cNvPr>
          <p:cNvSpPr>
            <a:spLocks noGrp="1"/>
          </p:cNvSpPr>
          <p:nvPr>
            <p:ph type="title"/>
          </p:nvPr>
        </p:nvSpPr>
        <p:spPr/>
        <p:txBody>
          <a:bodyPr/>
          <a:lstStyle/>
          <a:p>
            <a:r>
              <a:rPr lang="en-US"/>
              <a:t>Problem - Overheating</a:t>
            </a:r>
          </a:p>
        </p:txBody>
      </p:sp>
      <p:sp>
        <p:nvSpPr>
          <p:cNvPr id="3" name="Content Placeholder 2">
            <a:extLst>
              <a:ext uri="{FF2B5EF4-FFF2-40B4-BE49-F238E27FC236}">
                <a16:creationId xmlns:a16="http://schemas.microsoft.com/office/drawing/2014/main" id="{E8906DBB-68D6-EFFE-067A-3A14328A411B}"/>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D2D78EC8-1027-0A7E-1CE1-B41DEA5F6040}"/>
              </a:ext>
            </a:extLst>
          </p:cNvPr>
          <p:cNvSpPr>
            <a:spLocks noGrp="1"/>
          </p:cNvSpPr>
          <p:nvPr>
            <p:ph sz="half" idx="2"/>
          </p:nvPr>
        </p:nvSpPr>
        <p:spPr/>
        <p:txBody>
          <a:bodyPr/>
          <a:lstStyle/>
          <a:p>
            <a:endParaRPr lang="en-US"/>
          </a:p>
        </p:txBody>
      </p:sp>
      <p:pic>
        <p:nvPicPr>
          <p:cNvPr id="6" name="Picture 5">
            <a:extLst>
              <a:ext uri="{FF2B5EF4-FFF2-40B4-BE49-F238E27FC236}">
                <a16:creationId xmlns:a16="http://schemas.microsoft.com/office/drawing/2014/main" id="{970E36FD-4F4F-A22C-4DA4-2BDFD30378CB}"/>
              </a:ext>
            </a:extLst>
          </p:cNvPr>
          <p:cNvPicPr>
            <a:picLocks noChangeAspect="1"/>
          </p:cNvPicPr>
          <p:nvPr/>
        </p:nvPicPr>
        <p:blipFill>
          <a:blip r:embed="rId2"/>
          <a:stretch>
            <a:fillRect/>
          </a:stretch>
        </p:blipFill>
        <p:spPr>
          <a:xfrm>
            <a:off x="0" y="1165876"/>
            <a:ext cx="12192000" cy="5692124"/>
          </a:xfrm>
          <a:prstGeom prst="rect">
            <a:avLst/>
          </a:prstGeom>
        </p:spPr>
      </p:pic>
      <p:sp>
        <p:nvSpPr>
          <p:cNvPr id="5" name="Rectangle 4">
            <a:extLst>
              <a:ext uri="{FF2B5EF4-FFF2-40B4-BE49-F238E27FC236}">
                <a16:creationId xmlns:a16="http://schemas.microsoft.com/office/drawing/2014/main" id="{6B1A081B-3323-180B-D639-8A785901ECCB}"/>
              </a:ext>
            </a:extLst>
          </p:cNvPr>
          <p:cNvSpPr/>
          <p:nvPr/>
        </p:nvSpPr>
        <p:spPr>
          <a:xfrm>
            <a:off x="7511143" y="877078"/>
            <a:ext cx="485192" cy="578020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279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F554-3F66-E88D-AF6A-CD344363FC34}"/>
              </a:ext>
            </a:extLst>
          </p:cNvPr>
          <p:cNvSpPr>
            <a:spLocks noGrp="1"/>
          </p:cNvSpPr>
          <p:nvPr>
            <p:ph type="title"/>
          </p:nvPr>
        </p:nvSpPr>
        <p:spPr/>
        <p:txBody>
          <a:bodyPr/>
          <a:lstStyle/>
          <a:p>
            <a:r>
              <a:rPr lang="en-US"/>
              <a:t>Problem - Overheating</a:t>
            </a:r>
          </a:p>
        </p:txBody>
      </p:sp>
      <p:sp>
        <p:nvSpPr>
          <p:cNvPr id="3" name="Content Placeholder 2">
            <a:extLst>
              <a:ext uri="{FF2B5EF4-FFF2-40B4-BE49-F238E27FC236}">
                <a16:creationId xmlns:a16="http://schemas.microsoft.com/office/drawing/2014/main" id="{DBBB6EC1-C08B-45AF-BABD-09FE92DF6C19}"/>
              </a:ext>
            </a:extLst>
          </p:cNvPr>
          <p:cNvSpPr>
            <a:spLocks noGrp="1"/>
          </p:cNvSpPr>
          <p:nvPr>
            <p:ph sz="half" idx="1"/>
          </p:nvPr>
        </p:nvSpPr>
        <p:spPr/>
        <p:txBody>
          <a:bodyPr/>
          <a:lstStyle/>
          <a:p>
            <a:r>
              <a:rPr lang="en-US"/>
              <a:t>This issue is manageable in software (we can add a hysteresis so the torque doesn’t oscillate so much)</a:t>
            </a:r>
          </a:p>
          <a:p>
            <a:r>
              <a:rPr lang="en-US"/>
              <a:t>The actual temperature limit is different than what Magna originally indicated</a:t>
            </a:r>
          </a:p>
          <a:p>
            <a:pPr lvl="1"/>
            <a:r>
              <a:rPr lang="en-US"/>
              <a:t>Was 105°C -&gt; Now 130°C</a:t>
            </a:r>
          </a:p>
        </p:txBody>
      </p:sp>
      <p:sp>
        <p:nvSpPr>
          <p:cNvPr id="4" name="Content Placeholder 3">
            <a:extLst>
              <a:ext uri="{FF2B5EF4-FFF2-40B4-BE49-F238E27FC236}">
                <a16:creationId xmlns:a16="http://schemas.microsoft.com/office/drawing/2014/main" id="{A9C3509B-6404-4F6E-A4A0-1F9F445E2ED4}"/>
              </a:ext>
            </a:extLst>
          </p:cNvPr>
          <p:cNvSpPr>
            <a:spLocks noGrp="1"/>
          </p:cNvSpPr>
          <p:nvPr>
            <p:ph sz="half" idx="2"/>
          </p:nvPr>
        </p:nvSpPr>
        <p:spPr/>
        <p:txBody>
          <a:bodyPr/>
          <a:lstStyle/>
          <a:p>
            <a:r>
              <a:rPr lang="en-US"/>
              <a:t>Increasing the flow should completely remove this issue</a:t>
            </a:r>
          </a:p>
        </p:txBody>
      </p:sp>
    </p:spTree>
    <p:extLst>
      <p:ext uri="{BB962C8B-B14F-4D97-AF65-F5344CB8AC3E}">
        <p14:creationId xmlns:p14="http://schemas.microsoft.com/office/powerpoint/2010/main" val="3089487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F77002-AEA3-4EA9-2558-6B528F2ED4CC}"/>
              </a:ext>
            </a:extLst>
          </p:cNvPr>
          <p:cNvPicPr>
            <a:picLocks noChangeAspect="1"/>
          </p:cNvPicPr>
          <p:nvPr/>
        </p:nvPicPr>
        <p:blipFill>
          <a:blip r:embed="rId2"/>
          <a:stretch>
            <a:fillRect/>
          </a:stretch>
        </p:blipFill>
        <p:spPr>
          <a:xfrm>
            <a:off x="0" y="1066800"/>
            <a:ext cx="12192000" cy="5791200"/>
          </a:xfrm>
          <a:prstGeom prst="rect">
            <a:avLst/>
          </a:prstGeom>
        </p:spPr>
      </p:pic>
      <p:sp>
        <p:nvSpPr>
          <p:cNvPr id="2" name="Title 1">
            <a:extLst>
              <a:ext uri="{FF2B5EF4-FFF2-40B4-BE49-F238E27FC236}">
                <a16:creationId xmlns:a16="http://schemas.microsoft.com/office/drawing/2014/main" id="{AD301C89-2D74-1D0A-0DB4-4BF5761F053E}"/>
              </a:ext>
            </a:extLst>
          </p:cNvPr>
          <p:cNvSpPr>
            <a:spLocks noGrp="1"/>
          </p:cNvSpPr>
          <p:nvPr>
            <p:ph type="title"/>
          </p:nvPr>
        </p:nvSpPr>
        <p:spPr/>
        <p:txBody>
          <a:bodyPr/>
          <a:lstStyle/>
          <a:p>
            <a:r>
              <a:rPr lang="en-US"/>
              <a:t>Problem – Boost Mode Inoperable</a:t>
            </a:r>
          </a:p>
        </p:txBody>
      </p:sp>
      <p:sp>
        <p:nvSpPr>
          <p:cNvPr id="3" name="Content Placeholder 2">
            <a:extLst>
              <a:ext uri="{FF2B5EF4-FFF2-40B4-BE49-F238E27FC236}">
                <a16:creationId xmlns:a16="http://schemas.microsoft.com/office/drawing/2014/main" id="{31285DCE-C2E6-8D51-DC6F-3509183C48B3}"/>
              </a:ext>
            </a:extLst>
          </p:cNvPr>
          <p:cNvSpPr>
            <a:spLocks noGrp="1"/>
          </p:cNvSpPr>
          <p:nvPr>
            <p:ph sz="half" idx="1"/>
          </p:nvPr>
        </p:nvSpPr>
        <p:spPr>
          <a:xfrm>
            <a:off x="4913725" y="3429000"/>
            <a:ext cx="5615353" cy="2787350"/>
          </a:xfrm>
        </p:spPr>
        <p:txBody>
          <a:bodyPr>
            <a:normAutofit fontScale="92500" lnSpcReduction="10000"/>
          </a:bodyPr>
          <a:lstStyle/>
          <a:p>
            <a:r>
              <a:rPr lang="en-US"/>
              <a:t>Boost Mode Requirement:</a:t>
            </a:r>
          </a:p>
          <a:p>
            <a:pPr lvl="1"/>
            <a:r>
              <a:rPr lang="en-US"/>
              <a:t>&gt; 8 L/min</a:t>
            </a:r>
          </a:p>
          <a:p>
            <a:r>
              <a:rPr lang="en-US"/>
              <a:t>Ideal Nominal Flow:</a:t>
            </a:r>
          </a:p>
          <a:p>
            <a:pPr lvl="1"/>
            <a:r>
              <a:rPr lang="en-US"/>
              <a:t>10 L/min</a:t>
            </a:r>
          </a:p>
          <a:p>
            <a:pPr lvl="1"/>
            <a:endParaRPr lang="en-US"/>
          </a:p>
          <a:p>
            <a:r>
              <a:rPr lang="en-US"/>
              <a:t>System Flow:</a:t>
            </a:r>
          </a:p>
          <a:p>
            <a:pPr lvl="1"/>
            <a:r>
              <a:rPr lang="en-US"/>
              <a:t>Front: 7.95 L/min</a:t>
            </a:r>
          </a:p>
          <a:p>
            <a:pPr lvl="1"/>
            <a:r>
              <a:rPr lang="en-US"/>
              <a:t>Rear: 6.60 L/min</a:t>
            </a:r>
          </a:p>
        </p:txBody>
      </p:sp>
    </p:spTree>
    <p:extLst>
      <p:ext uri="{BB962C8B-B14F-4D97-AF65-F5344CB8AC3E}">
        <p14:creationId xmlns:p14="http://schemas.microsoft.com/office/powerpoint/2010/main" val="312437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2597-9785-A662-B181-B32F9E40D5CC}"/>
              </a:ext>
            </a:extLst>
          </p:cNvPr>
          <p:cNvSpPr>
            <a:spLocks noGrp="1"/>
          </p:cNvSpPr>
          <p:nvPr>
            <p:ph type="title"/>
          </p:nvPr>
        </p:nvSpPr>
        <p:spPr/>
        <p:txBody>
          <a:bodyPr/>
          <a:lstStyle/>
          <a:p>
            <a:r>
              <a:rPr lang="en-US"/>
              <a:t>Costs/Advantages</a:t>
            </a:r>
          </a:p>
        </p:txBody>
      </p:sp>
      <p:sp>
        <p:nvSpPr>
          <p:cNvPr id="3" name="Content Placeholder 2">
            <a:extLst>
              <a:ext uri="{FF2B5EF4-FFF2-40B4-BE49-F238E27FC236}">
                <a16:creationId xmlns:a16="http://schemas.microsoft.com/office/drawing/2014/main" id="{7B4A7D08-AC8F-54A5-398E-923BA677123E}"/>
              </a:ext>
            </a:extLst>
          </p:cNvPr>
          <p:cNvSpPr>
            <a:spLocks noGrp="1"/>
          </p:cNvSpPr>
          <p:nvPr>
            <p:ph sz="half" idx="1"/>
          </p:nvPr>
        </p:nvSpPr>
        <p:spPr/>
        <p:txBody>
          <a:bodyPr/>
          <a:lstStyle/>
          <a:p>
            <a:pPr marL="0" indent="0">
              <a:buNone/>
            </a:pPr>
            <a:r>
              <a:rPr lang="en-US"/>
              <a:t>Current System</a:t>
            </a:r>
          </a:p>
          <a:p>
            <a:r>
              <a:rPr lang="en-US"/>
              <a:t>Cost: $0</a:t>
            </a:r>
          </a:p>
          <a:p>
            <a:r>
              <a:rPr lang="en-US"/>
              <a:t>Points: </a:t>
            </a:r>
            <a:r>
              <a:rPr lang="en-US">
                <a:solidFill>
                  <a:srgbClr val="FF0000"/>
                </a:solidFill>
              </a:rPr>
              <a:t>-45</a:t>
            </a:r>
            <a:r>
              <a:rPr lang="en-US"/>
              <a:t>/1000 (for 0-60 and 50-70 acceleration)</a:t>
            </a:r>
          </a:p>
          <a:p>
            <a:r>
              <a:rPr lang="en-US"/>
              <a:t>Time: 0</a:t>
            </a:r>
          </a:p>
          <a:p>
            <a:r>
              <a:rPr lang="en-US"/>
              <a:t>Risk: No boost mode or maximum performance</a:t>
            </a:r>
          </a:p>
        </p:txBody>
      </p:sp>
      <p:sp>
        <p:nvSpPr>
          <p:cNvPr id="4" name="Content Placeholder 3">
            <a:extLst>
              <a:ext uri="{FF2B5EF4-FFF2-40B4-BE49-F238E27FC236}">
                <a16:creationId xmlns:a16="http://schemas.microsoft.com/office/drawing/2014/main" id="{C0D5F74E-8A6C-37C5-F208-6F7B4ADEE5CC}"/>
              </a:ext>
            </a:extLst>
          </p:cNvPr>
          <p:cNvSpPr>
            <a:spLocks noGrp="1"/>
          </p:cNvSpPr>
          <p:nvPr>
            <p:ph sz="half" idx="2"/>
          </p:nvPr>
        </p:nvSpPr>
        <p:spPr/>
        <p:txBody>
          <a:bodyPr/>
          <a:lstStyle/>
          <a:p>
            <a:pPr marL="0" indent="0">
              <a:buNone/>
            </a:pPr>
            <a:r>
              <a:rPr lang="en-US"/>
              <a:t>Modified System</a:t>
            </a:r>
          </a:p>
          <a:p>
            <a:r>
              <a:rPr lang="en-US"/>
              <a:t>Cost: $1k-3k</a:t>
            </a:r>
          </a:p>
          <a:p>
            <a:r>
              <a:rPr lang="en-US"/>
              <a:t>Points: </a:t>
            </a:r>
            <a:r>
              <a:rPr lang="en-US">
                <a:solidFill>
                  <a:srgbClr val="00B050"/>
                </a:solidFill>
              </a:rPr>
              <a:t>+45</a:t>
            </a:r>
            <a:r>
              <a:rPr lang="en-US"/>
              <a:t>/1000 (for 0-60 and 50-70 acceleration)</a:t>
            </a:r>
          </a:p>
          <a:p>
            <a:r>
              <a:rPr lang="en-US"/>
              <a:t>Time:</a:t>
            </a:r>
          </a:p>
          <a:p>
            <a:pPr lvl="1"/>
            <a:r>
              <a:rPr lang="en-US"/>
              <a:t>60+ </a:t>
            </a:r>
            <a:r>
              <a:rPr lang="en-US" err="1"/>
              <a:t>hrs</a:t>
            </a:r>
            <a:r>
              <a:rPr lang="en-US"/>
              <a:t> design</a:t>
            </a:r>
          </a:p>
          <a:p>
            <a:pPr lvl="1"/>
            <a:r>
              <a:rPr lang="en-US"/>
              <a:t>30+ </a:t>
            </a:r>
            <a:r>
              <a:rPr lang="en-US" err="1"/>
              <a:t>hrs</a:t>
            </a:r>
            <a:r>
              <a:rPr lang="en-US"/>
              <a:t> manufacturing</a:t>
            </a:r>
          </a:p>
          <a:p>
            <a:r>
              <a:rPr lang="en-US"/>
              <a:t>Risk:</a:t>
            </a:r>
          </a:p>
          <a:p>
            <a:pPr lvl="1"/>
            <a:r>
              <a:rPr lang="en-US"/>
              <a:t>Vehicle not ready for CARB</a:t>
            </a:r>
          </a:p>
          <a:p>
            <a:pPr lvl="1"/>
            <a:r>
              <a:rPr lang="en-US"/>
              <a:t>Motors overheat </a:t>
            </a:r>
            <a:r>
              <a:rPr lang="en-US" b="1"/>
              <a:t>more</a:t>
            </a:r>
          </a:p>
        </p:txBody>
      </p:sp>
    </p:spTree>
    <p:extLst>
      <p:ext uri="{BB962C8B-B14F-4D97-AF65-F5344CB8AC3E}">
        <p14:creationId xmlns:p14="http://schemas.microsoft.com/office/powerpoint/2010/main" val="1673551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894F3-78B2-C6D8-E3F0-9F77FFC2B017}"/>
              </a:ext>
            </a:extLst>
          </p:cNvPr>
          <p:cNvSpPr>
            <a:spLocks noGrp="1"/>
          </p:cNvSpPr>
          <p:nvPr>
            <p:ph type="title"/>
          </p:nvPr>
        </p:nvSpPr>
        <p:spPr/>
        <p:txBody>
          <a:bodyPr/>
          <a:lstStyle/>
          <a:p>
            <a:r>
              <a:rPr lang="en-US"/>
              <a:t>Coolant Temp</a:t>
            </a:r>
          </a:p>
        </p:txBody>
      </p:sp>
      <p:sp>
        <p:nvSpPr>
          <p:cNvPr id="3" name="Content Placeholder 2">
            <a:extLst>
              <a:ext uri="{FF2B5EF4-FFF2-40B4-BE49-F238E27FC236}">
                <a16:creationId xmlns:a16="http://schemas.microsoft.com/office/drawing/2014/main" id="{6840FF60-B7F6-977B-2ACB-1E7D1998AE31}"/>
              </a:ext>
            </a:extLst>
          </p:cNvPr>
          <p:cNvSpPr>
            <a:spLocks noGrp="1"/>
          </p:cNvSpPr>
          <p:nvPr>
            <p:ph sz="half" idx="1"/>
          </p:nvPr>
        </p:nvSpPr>
        <p:spPr>
          <a:xfrm>
            <a:off x="379048" y="1215483"/>
            <a:ext cx="5615353" cy="4802762"/>
          </a:xfrm>
        </p:spPr>
        <p:txBody>
          <a:bodyPr>
            <a:normAutofit/>
          </a:bodyPr>
          <a:lstStyle/>
          <a:p>
            <a:r>
              <a:rPr lang="en-US"/>
              <a:t>Max Coolant Temp = 46.11 °C</a:t>
            </a:r>
          </a:p>
          <a:p>
            <a:r>
              <a:rPr lang="en-US"/>
              <a:t>Nominal = 42.6 °C</a:t>
            </a:r>
          </a:p>
          <a:p>
            <a:pPr lvl="1"/>
            <a:r>
              <a:rPr lang="en-US"/>
              <a:t>Note: Max coolant temp during CARB PCM energy consumption event = 36.5 °C</a:t>
            </a:r>
          </a:p>
          <a:p>
            <a:pPr lvl="1"/>
            <a:endParaRPr lang="en-US"/>
          </a:p>
          <a:p>
            <a:endParaRPr lang="en-US"/>
          </a:p>
          <a:p>
            <a:endParaRPr lang="en-US"/>
          </a:p>
          <a:p>
            <a:endParaRPr lang="en-US"/>
          </a:p>
          <a:p>
            <a:endParaRPr lang="en-US"/>
          </a:p>
          <a:p>
            <a:r>
              <a:rPr lang="en-US"/>
              <a:t>Max Allowable Coolant Temp = </a:t>
            </a:r>
            <a:r>
              <a:rPr lang="en-US">
                <a:solidFill>
                  <a:schemeClr val="tx1"/>
                </a:solidFill>
                <a:highlight>
                  <a:srgbClr val="FFFF00"/>
                </a:highlight>
              </a:rPr>
              <a:t>57 °C</a:t>
            </a:r>
          </a:p>
          <a:p>
            <a:pPr lvl="1"/>
            <a:r>
              <a:rPr lang="en-US"/>
              <a:t>Magna EDU requirement</a:t>
            </a:r>
          </a:p>
        </p:txBody>
      </p:sp>
      <p:pic>
        <p:nvPicPr>
          <p:cNvPr id="8" name="Picture 7">
            <a:extLst>
              <a:ext uri="{FF2B5EF4-FFF2-40B4-BE49-F238E27FC236}">
                <a16:creationId xmlns:a16="http://schemas.microsoft.com/office/drawing/2014/main" id="{73E1ABB8-55F6-0DA8-C422-7CF6D605DB7E}"/>
              </a:ext>
            </a:extLst>
          </p:cNvPr>
          <p:cNvPicPr>
            <a:picLocks noChangeAspect="1"/>
          </p:cNvPicPr>
          <p:nvPr/>
        </p:nvPicPr>
        <p:blipFill>
          <a:blip r:embed="rId2"/>
          <a:stretch>
            <a:fillRect/>
          </a:stretch>
        </p:blipFill>
        <p:spPr>
          <a:xfrm>
            <a:off x="6405045" y="1528752"/>
            <a:ext cx="5405955" cy="3599113"/>
          </a:xfrm>
          <a:prstGeom prst="rect">
            <a:avLst/>
          </a:prstGeom>
        </p:spPr>
      </p:pic>
      <p:cxnSp>
        <p:nvCxnSpPr>
          <p:cNvPr id="6" name="Straight Arrow Connector 5">
            <a:extLst>
              <a:ext uri="{FF2B5EF4-FFF2-40B4-BE49-F238E27FC236}">
                <a16:creationId xmlns:a16="http://schemas.microsoft.com/office/drawing/2014/main" id="{8E169108-2673-C03B-1E79-CFBA0A4C6698}"/>
              </a:ext>
            </a:extLst>
          </p:cNvPr>
          <p:cNvCxnSpPr>
            <a:cxnSpLocks/>
          </p:cNvCxnSpPr>
          <p:nvPr/>
        </p:nvCxnSpPr>
        <p:spPr>
          <a:xfrm>
            <a:off x="1520890" y="2901820"/>
            <a:ext cx="0" cy="1707502"/>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5449497-403E-00F4-15DA-CF55A04F87E7}"/>
              </a:ext>
            </a:extLst>
          </p:cNvPr>
          <p:cNvSpPr txBox="1"/>
          <p:nvPr/>
        </p:nvSpPr>
        <p:spPr>
          <a:xfrm>
            <a:off x="1768470" y="3432405"/>
            <a:ext cx="4327527" cy="646331"/>
          </a:xfrm>
          <a:prstGeom prst="rect">
            <a:avLst/>
          </a:prstGeom>
          <a:noFill/>
        </p:spPr>
        <p:txBody>
          <a:bodyPr wrap="square" rtlCol="0">
            <a:spAutoFit/>
          </a:bodyPr>
          <a:lstStyle/>
          <a:p>
            <a:r>
              <a:rPr lang="en-US"/>
              <a:t>This data proves the radiator is sufficient for thermal rejection of system</a:t>
            </a:r>
          </a:p>
        </p:txBody>
      </p:sp>
    </p:spTree>
    <p:extLst>
      <p:ext uri="{BB962C8B-B14F-4D97-AF65-F5344CB8AC3E}">
        <p14:creationId xmlns:p14="http://schemas.microsoft.com/office/powerpoint/2010/main" val="1603818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48FE4-C0BB-8AC3-73A0-11985E21F18A}"/>
              </a:ext>
            </a:extLst>
          </p:cNvPr>
          <p:cNvSpPr>
            <a:spLocks noGrp="1"/>
          </p:cNvSpPr>
          <p:nvPr>
            <p:ph type="title"/>
          </p:nvPr>
        </p:nvSpPr>
        <p:spPr/>
        <p:txBody>
          <a:bodyPr/>
          <a:lstStyle/>
          <a:p>
            <a:r>
              <a:rPr lang="en-US"/>
              <a:t>Flowrate</a:t>
            </a:r>
          </a:p>
        </p:txBody>
      </p:sp>
      <p:sp>
        <p:nvSpPr>
          <p:cNvPr id="3" name="Content Placeholder 2">
            <a:extLst>
              <a:ext uri="{FF2B5EF4-FFF2-40B4-BE49-F238E27FC236}">
                <a16:creationId xmlns:a16="http://schemas.microsoft.com/office/drawing/2014/main" id="{D0ED3CE8-366A-01E2-D0C4-0EEF54DF0328}"/>
              </a:ext>
            </a:extLst>
          </p:cNvPr>
          <p:cNvSpPr>
            <a:spLocks noGrp="1"/>
          </p:cNvSpPr>
          <p:nvPr>
            <p:ph sz="half" idx="1"/>
          </p:nvPr>
        </p:nvSpPr>
        <p:spPr/>
        <p:txBody>
          <a:bodyPr>
            <a:normAutofit/>
          </a:bodyPr>
          <a:lstStyle/>
          <a:p>
            <a:r>
              <a:rPr lang="en-US"/>
              <a:t>Current:</a:t>
            </a:r>
          </a:p>
          <a:p>
            <a:pPr lvl="1"/>
            <a:r>
              <a:rPr lang="en-US"/>
              <a:t>Front: 7.95 L/min</a:t>
            </a:r>
          </a:p>
          <a:p>
            <a:pPr lvl="1"/>
            <a:r>
              <a:rPr lang="en-US"/>
              <a:t>Rear: 6.60 L/min</a:t>
            </a:r>
          </a:p>
          <a:p>
            <a:r>
              <a:rPr lang="en-US"/>
              <a:t>Desired:</a:t>
            </a:r>
          </a:p>
          <a:p>
            <a:pPr lvl="1"/>
            <a:r>
              <a:rPr lang="en-US"/>
              <a:t>Front: 10 L/min</a:t>
            </a:r>
          </a:p>
          <a:p>
            <a:pPr lvl="1"/>
            <a:r>
              <a:rPr lang="en-US"/>
              <a:t>Rear: 10 L/min</a:t>
            </a:r>
          </a:p>
          <a:p>
            <a:pPr lvl="1"/>
            <a:endParaRPr lang="en-US"/>
          </a:p>
          <a:p>
            <a:pPr marL="457200" lvl="1" indent="0">
              <a:buNone/>
            </a:pPr>
            <a:endParaRPr lang="en-US"/>
          </a:p>
          <a:p>
            <a:pPr lvl="1"/>
            <a:r>
              <a:rPr lang="en-US" i="1"/>
              <a:t>Nominal (max)</a:t>
            </a:r>
          </a:p>
          <a:p>
            <a:pPr lvl="1"/>
            <a:r>
              <a:rPr lang="en-US"/>
              <a:t>20 (25) L/min</a:t>
            </a:r>
          </a:p>
          <a:p>
            <a:pPr lvl="1"/>
            <a:r>
              <a:rPr lang="en-US">
                <a:highlight>
                  <a:srgbClr val="FFFF00"/>
                </a:highlight>
              </a:rPr>
              <a:t>5.28</a:t>
            </a:r>
            <a:r>
              <a:rPr lang="en-US"/>
              <a:t> (6.60) GPM</a:t>
            </a:r>
          </a:p>
          <a:p>
            <a:endParaRPr lang="en-US"/>
          </a:p>
        </p:txBody>
      </p:sp>
      <p:cxnSp>
        <p:nvCxnSpPr>
          <p:cNvPr id="5" name="Straight Arrow Connector 4">
            <a:extLst>
              <a:ext uri="{FF2B5EF4-FFF2-40B4-BE49-F238E27FC236}">
                <a16:creationId xmlns:a16="http://schemas.microsoft.com/office/drawing/2014/main" id="{0474D31C-1EE7-0D5D-7283-96ECB071F3E1}"/>
              </a:ext>
            </a:extLst>
          </p:cNvPr>
          <p:cNvCxnSpPr>
            <a:cxnSpLocks/>
          </p:cNvCxnSpPr>
          <p:nvPr/>
        </p:nvCxnSpPr>
        <p:spPr>
          <a:xfrm>
            <a:off x="1492899" y="3429000"/>
            <a:ext cx="0" cy="68580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542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9C11E-1F62-5820-C55C-4E1BBE647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946A8-202A-0618-2B98-9A9DFE985B2C}"/>
              </a:ext>
            </a:extLst>
          </p:cNvPr>
          <p:cNvSpPr>
            <a:spLocks noGrp="1"/>
          </p:cNvSpPr>
          <p:nvPr>
            <p:ph type="title"/>
          </p:nvPr>
        </p:nvSpPr>
        <p:spPr/>
        <p:txBody>
          <a:bodyPr/>
          <a:lstStyle/>
          <a:p>
            <a:r>
              <a:rPr lang="en-US"/>
              <a:t>Heat Rejection</a:t>
            </a:r>
          </a:p>
        </p:txBody>
      </p:sp>
      <p:sp>
        <p:nvSpPr>
          <p:cNvPr id="3" name="Content Placeholder 2">
            <a:extLst>
              <a:ext uri="{FF2B5EF4-FFF2-40B4-BE49-F238E27FC236}">
                <a16:creationId xmlns:a16="http://schemas.microsoft.com/office/drawing/2014/main" id="{822E1F23-B902-2527-CFE5-8834458D569E}"/>
              </a:ext>
            </a:extLst>
          </p:cNvPr>
          <p:cNvSpPr>
            <a:spLocks noGrp="1"/>
          </p:cNvSpPr>
          <p:nvPr>
            <p:ph sz="half" idx="1"/>
          </p:nvPr>
        </p:nvSpPr>
        <p:spPr>
          <a:xfrm>
            <a:off x="379048" y="1215482"/>
            <a:ext cx="5615353" cy="4821423"/>
          </a:xfrm>
        </p:spPr>
        <p:txBody>
          <a:bodyPr>
            <a:normAutofit/>
          </a:bodyPr>
          <a:lstStyle/>
          <a:p>
            <a:r>
              <a:rPr lang="en-US"/>
              <a:t>Maximum </a:t>
            </a:r>
          </a:p>
          <a:p>
            <a:pPr lvl="1"/>
            <a:r>
              <a:rPr lang="en-US"/>
              <a:t>91,746 BTU/</a:t>
            </a:r>
            <a:r>
              <a:rPr lang="en-US" err="1"/>
              <a:t>Hr</a:t>
            </a:r>
            <a:endParaRPr lang="en-US"/>
          </a:p>
          <a:p>
            <a:pPr lvl="1"/>
            <a:r>
              <a:rPr lang="en-US"/>
              <a:t>26.888 kW</a:t>
            </a:r>
          </a:p>
          <a:p>
            <a:r>
              <a:rPr lang="en-US"/>
              <a:t>Nominal</a:t>
            </a:r>
          </a:p>
          <a:p>
            <a:pPr lvl="1"/>
            <a:r>
              <a:rPr lang="en-US"/>
              <a:t>25,796 BTU/</a:t>
            </a:r>
            <a:r>
              <a:rPr lang="en-US" err="1"/>
              <a:t>Hr</a:t>
            </a:r>
            <a:endParaRPr lang="en-US"/>
          </a:p>
          <a:p>
            <a:pPr lvl="1"/>
            <a:r>
              <a:rPr lang="en-US"/>
              <a:t>7.56 kW</a:t>
            </a:r>
          </a:p>
          <a:p>
            <a:endParaRPr lang="en-US"/>
          </a:p>
        </p:txBody>
      </p:sp>
    </p:spTree>
    <p:extLst>
      <p:ext uri="{BB962C8B-B14F-4D97-AF65-F5344CB8AC3E}">
        <p14:creationId xmlns:p14="http://schemas.microsoft.com/office/powerpoint/2010/main" val="2973619738"/>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B27B4-2806-2045-F7CD-29355E34693C}"/>
              </a:ext>
            </a:extLst>
          </p:cNvPr>
          <p:cNvSpPr>
            <a:spLocks noGrp="1"/>
          </p:cNvSpPr>
          <p:nvPr>
            <p:ph type="title"/>
          </p:nvPr>
        </p:nvSpPr>
        <p:spPr/>
        <p:txBody>
          <a:bodyPr/>
          <a:lstStyle/>
          <a:p>
            <a:r>
              <a:rPr lang="en-US"/>
              <a:t>Heat Rejection - Power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C8477B-0FF8-61BB-C907-2F6583F5328B}"/>
                  </a:ext>
                </a:extLst>
              </p:cNvPr>
              <p:cNvSpPr>
                <a:spLocks noGrp="1"/>
              </p:cNvSpPr>
              <p:nvPr>
                <p:ph sz="half" idx="1"/>
              </p:nvPr>
            </p:nvSpPr>
            <p:spPr/>
            <p:txBody>
              <a:bodyPr>
                <a:normAutofit/>
              </a:bodyPr>
              <a:lstStyle/>
              <a:p>
                <a:r>
                  <a:rPr lang="en-US"/>
                  <a:t>Power = Work / Time</a:t>
                </a:r>
              </a:p>
              <a:p>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𝑊</m:t>
                        </m:r>
                        <m:r>
                          <a:rPr lang="en-US" b="0" i="1" smtClean="0">
                            <a:latin typeface="Cambria Math" panose="02040503050406030204" pitchFamily="18" charset="0"/>
                          </a:rPr>
                          <m:t>[</m:t>
                        </m:r>
                        <m:r>
                          <a:rPr lang="en-US" b="0" i="1" smtClean="0">
                            <a:latin typeface="Cambria Math" panose="02040503050406030204" pitchFamily="18" charset="0"/>
                          </a:rPr>
                          <m:t>𝐽</m:t>
                        </m:r>
                        <m:r>
                          <a:rPr lang="en-US" b="0" i="1" smtClean="0">
                            <a:latin typeface="Cambria Math" panose="02040503050406030204" pitchFamily="18" charset="0"/>
                          </a:rPr>
                          <m:t>]</m:t>
                        </m:r>
                      </m:num>
                      <m:den>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𝐹</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𝑁</m:t>
                            </m:r>
                          </m:e>
                        </m:d>
                        <m:r>
                          <a:rPr lang="en-US" b="0" i="1" smtClean="0">
                            <a:latin typeface="Cambria Math" panose="02040503050406030204" pitchFamily="18" charset="0"/>
                          </a:rPr>
                          <m:t>𝑟</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𝑚</m:t>
                            </m:r>
                          </m:e>
                        </m:d>
                      </m:num>
                      <m:den>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den>
                    </m:f>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𝑁𝑚</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𝜔</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𝑟𝑎𝑑</m:t>
                            </m:r>
                          </m:num>
                          <m:den>
                            <m:r>
                              <a:rPr lang="en-US" b="0" i="1" smtClean="0">
                                <a:latin typeface="Cambria Math" panose="02040503050406030204" pitchFamily="18" charset="0"/>
                                <a:ea typeface="Cambria Math" panose="02040503050406030204" pitchFamily="18" charset="0"/>
                              </a:rPr>
                              <m:t>𝑠</m:t>
                            </m:r>
                          </m:den>
                        </m:f>
                      </m:e>
                    </m:d>
                  </m:oMath>
                </a14:m>
                <a:endParaRPr lang="en-US"/>
              </a:p>
              <a:p>
                <a14:m>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ea typeface="Cambria Math" panose="02040503050406030204" pitchFamily="18" charset="0"/>
                      </a:rPr>
                      <m:t>𝝉</m:t>
                    </m:r>
                    <m:d>
                      <m:dPr>
                        <m:begChr m:val="["/>
                        <m:endChr m:val="]"/>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𝑵𝒎</m:t>
                        </m:r>
                      </m:e>
                    </m:d>
                    <m:r>
                      <a:rPr lang="en-US" b="1"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𝒓𝒑𝒎</m:t>
                    </m:r>
                    <m:d>
                      <m:dPr>
                        <m:begChr m:val="["/>
                        <m:endChr m:val="]"/>
                        <m:ctrlPr>
                          <a:rPr lang="en-US" b="1" i="1">
                            <a:latin typeface="Cambria Math" panose="02040503050406030204" pitchFamily="18" charset="0"/>
                            <a:ea typeface="Cambria Math" panose="02040503050406030204" pitchFamily="18" charset="0"/>
                          </a:rPr>
                        </m:ctrlPr>
                      </m:dPr>
                      <m:e>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𝒓𝒆𝒗</m:t>
                            </m:r>
                          </m:num>
                          <m:den>
                            <m:r>
                              <a:rPr lang="en-US" b="1" i="1">
                                <a:latin typeface="Cambria Math" panose="02040503050406030204" pitchFamily="18" charset="0"/>
                                <a:ea typeface="Cambria Math" panose="02040503050406030204" pitchFamily="18" charset="0"/>
                              </a:rPr>
                              <m:t>𝒎𝒊𝒏</m:t>
                            </m:r>
                          </m:den>
                        </m:f>
                      </m:e>
                    </m:d>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𝝅</m:t>
                        </m:r>
                      </m:num>
                      <m:den>
                        <m:r>
                          <a:rPr lang="en-US" b="1" i="1" smtClean="0">
                            <a:latin typeface="Cambria Math" panose="02040503050406030204" pitchFamily="18" charset="0"/>
                            <a:ea typeface="Cambria Math" panose="02040503050406030204" pitchFamily="18" charset="0"/>
                          </a:rPr>
                          <m:t>𝟔𝟎</m:t>
                        </m:r>
                      </m:den>
                    </m:f>
                  </m:oMath>
                </a14:m>
                <a:endParaRPr lang="en-US" b="1"/>
              </a:p>
            </p:txBody>
          </p:sp>
        </mc:Choice>
        <mc:Fallback xmlns="">
          <p:sp>
            <p:nvSpPr>
              <p:cNvPr id="3" name="Content Placeholder 2">
                <a:extLst>
                  <a:ext uri="{FF2B5EF4-FFF2-40B4-BE49-F238E27FC236}">
                    <a16:creationId xmlns:a16="http://schemas.microsoft.com/office/drawing/2014/main" id="{82C8477B-0FF8-61BB-C907-2F6583F5328B}"/>
                  </a:ext>
                </a:extLst>
              </p:cNvPr>
              <p:cNvSpPr>
                <a:spLocks noGrp="1" noRot="1" noChangeAspect="1" noMove="1" noResize="1" noEditPoints="1" noAdjustHandles="1" noChangeArrowheads="1" noChangeShapeType="1" noTextEdit="1"/>
              </p:cNvSpPr>
              <p:nvPr>
                <p:ph sz="half" idx="1"/>
              </p:nvPr>
            </p:nvSpPr>
            <p:spPr>
              <a:blipFill>
                <a:blip r:embed="rId2"/>
                <a:stretch>
                  <a:fillRect l="-1412" t="-18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1293553-DA70-EA76-B98E-9B7DAB0F16F9}"/>
                  </a:ext>
                </a:extLst>
              </p:cNvPr>
              <p:cNvSpPr>
                <a:spLocks noGrp="1"/>
              </p:cNvSpPr>
              <p:nvPr>
                <p:ph sz="half" idx="2"/>
              </p:nvPr>
            </p:nvSpPr>
            <p:spPr/>
            <p:txBody>
              <a:bodyPr>
                <a:normAutofit/>
              </a:bodyPr>
              <a:lstStyle/>
              <a:p>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𝑘𝑔</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r>
                      <a:rPr lang="en-US" b="0" i="1" smtClean="0">
                        <a:latin typeface="Cambria Math" panose="02040503050406030204" pitchFamily="18" charset="0"/>
                      </a:rPr>
                      <m:t>𝑁𝑚</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𝑘𝑔𝑚</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r>
                      <a:rPr lang="en-US" b="0" i="1" smtClean="0">
                        <a:latin typeface="Cambria Math" panose="02040503050406030204" pitchFamily="18" charset="0"/>
                      </a:rPr>
                      <m:t>𝑚</m:t>
                    </m:r>
                  </m:oMath>
                </a14:m>
                <a:endParaRPr lang="en-US" b="0"/>
              </a:p>
              <a:p>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𝑘𝑔𝑚</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den>
                    </m:f>
                  </m:oMath>
                </a14:m>
                <a:endParaRPr lang="en-US"/>
              </a:p>
              <a:p>
                <a14:m>
                  <m:oMath xmlns:m="http://schemas.openxmlformats.org/officeDocument/2006/math">
                    <m:r>
                      <a:rPr lang="en-US" i="1">
                        <a:latin typeface="Cambria Math" panose="02040503050406030204" pitchFamily="18" charset="0"/>
                        <a:ea typeface="Cambria Math" panose="02040503050406030204" pitchFamily="18" charset="0"/>
                      </a:rPr>
                      <m:t>𝜔</m:t>
                    </m:r>
                    <m:d>
                      <m:dPr>
                        <m:begChr m:val="["/>
                        <m:endChr m:val="]"/>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𝑟𝑎𝑑</m:t>
                            </m:r>
                          </m:num>
                          <m:den>
                            <m:r>
                              <a:rPr lang="en-US" i="1">
                                <a:latin typeface="Cambria Math" panose="02040503050406030204" pitchFamily="18" charset="0"/>
                                <a:ea typeface="Cambria Math" panose="02040503050406030204" pitchFamily="18" charset="0"/>
                              </a:rPr>
                              <m:t>𝑠</m:t>
                            </m:r>
                          </m:den>
                        </m:f>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𝑟𝑝𝑚</m:t>
                    </m:r>
                    <m:d>
                      <m:dPr>
                        <m:begChr m:val="["/>
                        <m:endChr m:val="]"/>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𝑟𝑒𝑣</m:t>
                            </m:r>
                          </m:num>
                          <m:den>
                            <m:r>
                              <a:rPr lang="en-US" i="1">
                                <a:latin typeface="Cambria Math" panose="02040503050406030204" pitchFamily="18" charset="0"/>
                                <a:ea typeface="Cambria Math" panose="02040503050406030204" pitchFamily="18" charset="0"/>
                              </a:rPr>
                              <m:t>𝑚𝑖𝑛</m:t>
                            </m:r>
                          </m:den>
                        </m:f>
                      </m:e>
                    </m:d>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𝑚𝑖𝑛</m:t>
                        </m:r>
                      </m:num>
                      <m:den>
                        <m:r>
                          <a:rPr lang="en-US" i="1">
                            <a:latin typeface="Cambria Math" panose="02040503050406030204" pitchFamily="18" charset="0"/>
                            <a:ea typeface="Cambria Math" panose="02040503050406030204" pitchFamily="18" charset="0"/>
                          </a:rPr>
                          <m:t>60</m:t>
                        </m:r>
                        <m:r>
                          <a:rPr lang="en-US" i="1">
                            <a:latin typeface="Cambria Math" panose="02040503050406030204" pitchFamily="18" charset="0"/>
                            <a:ea typeface="Cambria Math" panose="02040503050406030204" pitchFamily="18" charset="0"/>
                          </a:rPr>
                          <m:t>𝑠</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𝑟𝑎𝑑</m:t>
                        </m:r>
                      </m:num>
                      <m:den>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𝑟𝑒𝑣</m:t>
                        </m:r>
                      </m:den>
                    </m:f>
                  </m:oMath>
                </a14:m>
                <a:endParaRPr lang="en-US"/>
              </a:p>
              <a:p>
                <a:endParaRPr lang="en-US" b="1"/>
              </a:p>
            </p:txBody>
          </p:sp>
        </mc:Choice>
        <mc:Fallback xmlns="">
          <p:sp>
            <p:nvSpPr>
              <p:cNvPr id="4" name="Content Placeholder 3">
                <a:extLst>
                  <a:ext uri="{FF2B5EF4-FFF2-40B4-BE49-F238E27FC236}">
                    <a16:creationId xmlns:a16="http://schemas.microsoft.com/office/drawing/2014/main" id="{31293553-DA70-EA76-B98E-9B7DAB0F16F9}"/>
                  </a:ext>
                </a:extLst>
              </p:cNvPr>
              <p:cNvSpPr>
                <a:spLocks noGrp="1" noRot="1" noChangeAspect="1" noMove="1" noResize="1" noEditPoints="1" noAdjustHandles="1" noChangeArrowheads="1" noChangeShapeType="1" noTextEdit="1"/>
              </p:cNvSpPr>
              <p:nvPr>
                <p:ph sz="half" idx="2"/>
              </p:nvPr>
            </p:nvSpPr>
            <p:spPr>
              <a:blipFill>
                <a:blip r:embed="rId3"/>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9A1493A-ACDE-1B0B-4D37-4DA1258A0121}"/>
              </a:ext>
            </a:extLst>
          </p:cNvPr>
          <p:cNvPicPr>
            <a:picLocks noChangeAspect="1"/>
          </p:cNvPicPr>
          <p:nvPr/>
        </p:nvPicPr>
        <p:blipFill>
          <a:blip r:embed="rId4"/>
          <a:stretch>
            <a:fillRect/>
          </a:stretch>
        </p:blipFill>
        <p:spPr>
          <a:xfrm>
            <a:off x="736507" y="3045586"/>
            <a:ext cx="5613400" cy="3812414"/>
          </a:xfrm>
          <a:prstGeom prst="rect">
            <a:avLst/>
          </a:prstGeom>
        </p:spPr>
      </p:pic>
    </p:spTree>
    <p:extLst>
      <p:ext uri="{BB962C8B-B14F-4D97-AF65-F5344CB8AC3E}">
        <p14:creationId xmlns:p14="http://schemas.microsoft.com/office/powerpoint/2010/main" val="1760606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D051E-55B5-8505-520B-B3A8F199C916}"/>
              </a:ext>
            </a:extLst>
          </p:cNvPr>
          <p:cNvSpPr>
            <a:spLocks noGrp="1"/>
          </p:cNvSpPr>
          <p:nvPr>
            <p:ph type="title"/>
          </p:nvPr>
        </p:nvSpPr>
        <p:spPr/>
        <p:txBody>
          <a:bodyPr/>
          <a:lstStyle/>
          <a:p>
            <a:r>
              <a:rPr lang="en-US"/>
              <a:t>Heat Rejection - Efficiency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9A349D-90DA-C0C0-A4AF-1326AEC50705}"/>
                  </a:ext>
                </a:extLst>
              </p:cNvPr>
              <p:cNvSpPr>
                <a:spLocks noGrp="1"/>
              </p:cNvSpPr>
              <p:nvPr>
                <p:ph sz="half" idx="1"/>
              </p:nvPr>
            </p:nvSpPr>
            <p:spPr/>
            <p:txBody>
              <a:bodyPr/>
              <a:lstStyle/>
              <a:p>
                <a14:m>
                  <m:oMath xmlns:m="http://schemas.openxmlformats.org/officeDocument/2006/math">
                    <m:r>
                      <m:rPr>
                        <m:sty m:val="p"/>
                      </m:rPr>
                      <a:rPr lang="el-GR" b="0" i="1" smtClean="0">
                        <a:latin typeface="Cambria Math" panose="02040503050406030204" pitchFamily="18" charset="0"/>
                        <a:ea typeface="Cambria Math" panose="02040503050406030204" pitchFamily="18" charset="0"/>
                      </a:rPr>
                      <m:t>η</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𝑜𝑢𝑡</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𝑖𝑛</m:t>
                            </m:r>
                          </m:sub>
                        </m:sSub>
                      </m:den>
                    </m:f>
                    <m:r>
                      <a:rPr lang="en-US" b="0" i="1" smtClean="0">
                        <a:latin typeface="Cambria Math" panose="02040503050406030204" pitchFamily="18" charset="0"/>
                        <a:ea typeface="Cambria Math" panose="02040503050406030204" pitchFamily="18" charset="0"/>
                      </a:rPr>
                      <m:t>∗100%</m:t>
                    </m:r>
                  </m:oMath>
                </a14:m>
                <a:endParaRPr lang="en-US" b="0">
                  <a:ea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𝑜𝑢𝑡</m:t>
                        </m:r>
                      </m:sub>
                    </m:sSub>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η</m:t>
                        </m:r>
                      </m:num>
                      <m:den>
                        <m:r>
                          <a:rPr lang="en-US" i="1">
                            <a:latin typeface="Cambria Math" panose="02040503050406030204" pitchFamily="18" charset="0"/>
                            <a:ea typeface="Cambria Math" panose="02040503050406030204" pitchFamily="18" charset="0"/>
                          </a:rPr>
                          <m:t>100</m:t>
                        </m:r>
                      </m:den>
                    </m:f>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𝑖𝑛</m:t>
                        </m:r>
                      </m:sub>
                    </m:sSub>
                  </m:oMath>
                </a14:m>
                <a:endParaRPr lang="en-US" b="0">
                  <a:ea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𝑙𝑜𝑠𝑠</m:t>
                        </m:r>
                      </m:sub>
                    </m:sSub>
                  </m:oMath>
                </a14:m>
                <a:endParaRPr lang="en-US" b="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𝑙𝑜𝑠𝑠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𝑜𝑢𝑡</m:t>
                        </m:r>
                      </m:sub>
                    </m:sSub>
                  </m:oMath>
                </a14:m>
                <a:endParaRPr lang="en-US"/>
              </a:p>
            </p:txBody>
          </p:sp>
        </mc:Choice>
        <mc:Fallback xmlns="">
          <p:sp>
            <p:nvSpPr>
              <p:cNvPr id="3" name="Content Placeholder 2">
                <a:extLst>
                  <a:ext uri="{FF2B5EF4-FFF2-40B4-BE49-F238E27FC236}">
                    <a16:creationId xmlns:a16="http://schemas.microsoft.com/office/drawing/2014/main" id="{669A349D-90DA-C0C0-A4AF-1326AEC50705}"/>
                  </a:ext>
                </a:extLst>
              </p:cNvPr>
              <p:cNvSpPr>
                <a:spLocks noGrp="1" noRot="1" noChangeAspect="1" noMove="1" noResize="1" noEditPoints="1" noAdjustHandles="1" noChangeArrowheads="1" noChangeShapeType="1" noTextEdit="1"/>
              </p:cNvSpPr>
              <p:nvPr>
                <p:ph sz="half" idx="1"/>
              </p:nvPr>
            </p:nvSpPr>
            <p:spPr>
              <a:blipFill>
                <a:blip r:embed="rId2"/>
                <a:stretch>
                  <a:fillRect l="-1412"/>
                </a:stretch>
              </a:blipFill>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C074F616-98A3-20AA-711C-E5A36ABF3BE3}"/>
              </a:ext>
            </a:extLst>
          </p:cNvPr>
          <p:cNvSpPr>
            <a:spLocks noGrp="1"/>
          </p:cNvSpPr>
          <p:nvPr>
            <p:ph sz="half" idx="2"/>
          </p:nvPr>
        </p:nvSpPr>
        <p:spPr/>
        <p:txBody>
          <a:bodyPr/>
          <a:lstStyle/>
          <a:p>
            <a:endParaRPr lang="en-US"/>
          </a:p>
        </p:txBody>
      </p:sp>
      <p:pic>
        <p:nvPicPr>
          <p:cNvPr id="8" name="Picture 7">
            <a:extLst>
              <a:ext uri="{FF2B5EF4-FFF2-40B4-BE49-F238E27FC236}">
                <a16:creationId xmlns:a16="http://schemas.microsoft.com/office/drawing/2014/main" id="{10E393BB-8CCC-D35C-A84F-3CFBC088F82E}"/>
              </a:ext>
            </a:extLst>
          </p:cNvPr>
          <p:cNvPicPr>
            <a:picLocks noChangeAspect="1"/>
          </p:cNvPicPr>
          <p:nvPr/>
        </p:nvPicPr>
        <p:blipFill>
          <a:blip r:embed="rId3"/>
          <a:stretch>
            <a:fillRect/>
          </a:stretch>
        </p:blipFill>
        <p:spPr>
          <a:xfrm>
            <a:off x="4925612" y="945278"/>
            <a:ext cx="7000925" cy="4766062"/>
          </a:xfrm>
          <a:prstGeom prst="rect">
            <a:avLst/>
          </a:prstGeom>
        </p:spPr>
      </p:pic>
      <p:sp>
        <p:nvSpPr>
          <p:cNvPr id="5" name="Rectangle 4">
            <a:extLst>
              <a:ext uri="{FF2B5EF4-FFF2-40B4-BE49-F238E27FC236}">
                <a16:creationId xmlns:a16="http://schemas.microsoft.com/office/drawing/2014/main" id="{C2098050-6739-87DE-6B1D-BF739ADD6F45}"/>
              </a:ext>
            </a:extLst>
          </p:cNvPr>
          <p:cNvSpPr/>
          <p:nvPr/>
        </p:nvSpPr>
        <p:spPr>
          <a:xfrm>
            <a:off x="4739148" y="945278"/>
            <a:ext cx="7295535" cy="49182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Confidential Efficiency Map for the Electric Drive Units</a:t>
            </a:r>
          </a:p>
        </p:txBody>
      </p:sp>
    </p:spTree>
    <p:extLst>
      <p:ext uri="{BB962C8B-B14F-4D97-AF65-F5344CB8AC3E}">
        <p14:creationId xmlns:p14="http://schemas.microsoft.com/office/powerpoint/2010/main" val="3208331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8EC1E-8366-AEDA-CFD6-8AE33F8C4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C19F4-CA02-FF5F-010F-C0FA07BB050F}"/>
              </a:ext>
            </a:extLst>
          </p:cNvPr>
          <p:cNvSpPr>
            <a:spLocks noGrp="1"/>
          </p:cNvSpPr>
          <p:nvPr>
            <p:ph type="title"/>
          </p:nvPr>
        </p:nvSpPr>
        <p:spPr/>
        <p:txBody>
          <a:bodyPr/>
          <a:lstStyle/>
          <a:p>
            <a:r>
              <a:rPr lang="en-US"/>
              <a:t>Heat Rejection - Power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34CECA-964D-C0F8-88E7-38B0620E772E}"/>
                  </a:ext>
                </a:extLst>
              </p:cNvPr>
              <p:cNvSpPr>
                <a:spLocks noGrp="1"/>
              </p:cNvSpPr>
              <p:nvPr>
                <p:ph sz="half" idx="1"/>
              </p:nvPr>
            </p:nvSpPr>
            <p:spPr/>
            <p:txBody>
              <a:bodyPr>
                <a:norm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𝑙𝑜𝑠𝑠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η</m:t>
                        </m:r>
                      </m:num>
                      <m:den>
                        <m:r>
                          <a:rPr lang="en-US" b="0" i="1" smtClean="0">
                            <a:latin typeface="Cambria Math" panose="02040503050406030204" pitchFamily="18" charset="0"/>
                            <a:ea typeface="Cambria Math" panose="02040503050406030204" pitchFamily="18" charset="0"/>
                          </a:rPr>
                          <m:t>100</m:t>
                        </m:r>
                      </m:den>
                    </m:f>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𝑖𝑛</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𝑖𝑛</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f>
                          <m:fPr>
                            <m:ctrlPr>
                              <a:rPr lang="en-U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η</m:t>
                            </m:r>
                          </m:num>
                          <m:den>
                            <m:r>
                              <a:rPr lang="en-US" i="1">
                                <a:latin typeface="Cambria Math" panose="02040503050406030204" pitchFamily="18" charset="0"/>
                                <a:ea typeface="Cambria Math" panose="02040503050406030204" pitchFamily="18" charset="0"/>
                              </a:rPr>
                              <m:t>100</m:t>
                            </m:r>
                          </m:den>
                        </m:f>
                      </m:e>
                    </m:d>
                    <m:r>
                      <a:rPr lang="en-US" b="0" i="1" smtClean="0">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𝑟𝑝𝑚</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60</m:t>
                        </m:r>
                      </m:den>
                    </m:f>
                    <m:d>
                      <m:dPr>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f>
                          <m:fPr>
                            <m:ctrlPr>
                              <a:rPr lang="en-U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η</m:t>
                            </m:r>
                          </m:num>
                          <m:den>
                            <m:r>
                              <a:rPr lang="en-US" i="1">
                                <a:latin typeface="Cambria Math" panose="02040503050406030204" pitchFamily="18" charset="0"/>
                                <a:ea typeface="Cambria Math" panose="02040503050406030204" pitchFamily="18" charset="0"/>
                              </a:rPr>
                              <m:t>100</m:t>
                            </m:r>
                          </m:den>
                        </m:f>
                      </m:e>
                    </m:d>
                  </m:oMath>
                </a14:m>
                <a:endParaRPr lang="en-US"/>
              </a:p>
              <a:p>
                <a:endParaRPr lang="en-US"/>
              </a:p>
              <a:p>
                <a:r>
                  <a:rPr lang="en-US"/>
                  <a:t>Maximum: 13.444 kW</a:t>
                </a:r>
              </a:p>
              <a:p>
                <a:r>
                  <a:rPr lang="en-US"/>
                  <a:t>Average: 3.780 kW</a:t>
                </a:r>
              </a:p>
              <a:p>
                <a:endParaRPr lang="en-US"/>
              </a:p>
              <a:p>
                <a:r>
                  <a:rPr lang="en-US"/>
                  <a:t>Two Motors:</a:t>
                </a:r>
              </a:p>
              <a:p>
                <a:pPr lvl="1"/>
                <a:r>
                  <a:rPr lang="en-US"/>
                  <a:t>Maximum: 26.888 kW</a:t>
                </a:r>
              </a:p>
              <a:p>
                <a:pPr lvl="1"/>
                <a:r>
                  <a:rPr lang="en-US"/>
                  <a:t>Average: 7.56 kW</a:t>
                </a:r>
              </a:p>
            </p:txBody>
          </p:sp>
        </mc:Choice>
        <mc:Fallback xmlns="">
          <p:sp>
            <p:nvSpPr>
              <p:cNvPr id="3" name="Content Placeholder 2">
                <a:extLst>
                  <a:ext uri="{FF2B5EF4-FFF2-40B4-BE49-F238E27FC236}">
                    <a16:creationId xmlns:a16="http://schemas.microsoft.com/office/drawing/2014/main" id="{2C34CECA-964D-C0F8-88E7-38B0620E772E}"/>
                  </a:ext>
                </a:extLst>
              </p:cNvPr>
              <p:cNvSpPr>
                <a:spLocks noGrp="1" noRot="1" noChangeAspect="1" noMove="1" noResize="1" noEditPoints="1" noAdjustHandles="1" noChangeArrowheads="1" noChangeShapeType="1" noTextEdit="1"/>
              </p:cNvSpPr>
              <p:nvPr>
                <p:ph sz="half" idx="1"/>
              </p:nvPr>
            </p:nvSpPr>
            <p:spPr>
              <a:blipFill>
                <a:blip r:embed="rId2"/>
                <a:stretch>
                  <a:fillRect l="-1412"/>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9FFF7B65-A8F6-A4F7-2BFE-2FFCEA0A73AB}"/>
              </a:ext>
            </a:extLst>
          </p:cNvPr>
          <p:cNvPicPr>
            <a:picLocks noChangeAspect="1"/>
          </p:cNvPicPr>
          <p:nvPr/>
        </p:nvPicPr>
        <p:blipFill>
          <a:blip r:embed="rId3"/>
          <a:stretch>
            <a:fillRect/>
          </a:stretch>
        </p:blipFill>
        <p:spPr>
          <a:xfrm>
            <a:off x="5678107" y="1185166"/>
            <a:ext cx="6381215" cy="4255969"/>
          </a:xfrm>
          <a:prstGeom prst="rect">
            <a:avLst/>
          </a:prstGeom>
        </p:spPr>
      </p:pic>
      <p:cxnSp>
        <p:nvCxnSpPr>
          <p:cNvPr id="9" name="Straight Arrow Connector 8">
            <a:extLst>
              <a:ext uri="{FF2B5EF4-FFF2-40B4-BE49-F238E27FC236}">
                <a16:creationId xmlns:a16="http://schemas.microsoft.com/office/drawing/2014/main" id="{B1CBE506-045D-C405-E279-931D5B9A15ED}"/>
              </a:ext>
            </a:extLst>
          </p:cNvPr>
          <p:cNvCxnSpPr/>
          <p:nvPr/>
        </p:nvCxnSpPr>
        <p:spPr>
          <a:xfrm>
            <a:off x="1642188" y="3760237"/>
            <a:ext cx="0" cy="438539"/>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55B43A4F-0651-3781-C8DC-D1F87FF5ED2C}"/>
              </a:ext>
            </a:extLst>
          </p:cNvPr>
          <p:cNvSpPr/>
          <p:nvPr/>
        </p:nvSpPr>
        <p:spPr>
          <a:xfrm>
            <a:off x="5683047" y="945278"/>
            <a:ext cx="6508954" cy="49182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Confidential Power Loss Map for the Electric Drive Units</a:t>
            </a:r>
          </a:p>
        </p:txBody>
      </p:sp>
    </p:spTree>
    <p:extLst>
      <p:ext uri="{BB962C8B-B14F-4D97-AF65-F5344CB8AC3E}">
        <p14:creationId xmlns:p14="http://schemas.microsoft.com/office/powerpoint/2010/main" val="2174924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BE1E5-94F8-3BC2-ECED-C5203E718997}"/>
              </a:ext>
            </a:extLst>
          </p:cNvPr>
          <p:cNvSpPr>
            <a:spLocks noGrp="1"/>
          </p:cNvSpPr>
          <p:nvPr>
            <p:ph type="title"/>
          </p:nvPr>
        </p:nvSpPr>
        <p:spPr/>
        <p:txBody>
          <a:bodyPr>
            <a:normAutofit/>
          </a:bodyPr>
          <a:lstStyle/>
          <a:p>
            <a:r>
              <a:rPr lang="en-US"/>
              <a:t>Heat Exchanger</a:t>
            </a:r>
            <a:br>
              <a:rPr lang="en-US"/>
            </a:br>
            <a:r>
              <a:rPr lang="en-US" sz="2200"/>
              <a:t>Selected</a:t>
            </a:r>
          </a:p>
        </p:txBody>
      </p:sp>
      <p:sp>
        <p:nvSpPr>
          <p:cNvPr id="3" name="Content Placeholder 2">
            <a:extLst>
              <a:ext uri="{FF2B5EF4-FFF2-40B4-BE49-F238E27FC236}">
                <a16:creationId xmlns:a16="http://schemas.microsoft.com/office/drawing/2014/main" id="{134568FD-2BE4-9074-B67A-13F97036B81B}"/>
              </a:ext>
            </a:extLst>
          </p:cNvPr>
          <p:cNvSpPr>
            <a:spLocks noGrp="1"/>
          </p:cNvSpPr>
          <p:nvPr>
            <p:ph sz="half" idx="1"/>
          </p:nvPr>
        </p:nvSpPr>
        <p:spPr/>
        <p:txBody>
          <a:bodyPr>
            <a:normAutofit lnSpcReduction="10000"/>
          </a:bodyPr>
          <a:lstStyle/>
          <a:p>
            <a:r>
              <a:rPr lang="en-US" dirty="0"/>
              <a:t>Max Pressure: 3100 kPa</a:t>
            </a:r>
          </a:p>
          <a:p>
            <a:r>
              <a:rPr lang="en-US" dirty="0"/>
              <a:t>Max Temperature: 204 °C</a:t>
            </a:r>
          </a:p>
          <a:p>
            <a:r>
              <a:rPr lang="en-US" dirty="0"/>
              <a:t>Weight: 6.97 </a:t>
            </a:r>
            <a:r>
              <a:rPr lang="en-US" dirty="0" err="1"/>
              <a:t>lb</a:t>
            </a:r>
            <a:endParaRPr lang="en-US" dirty="0"/>
          </a:p>
          <a:p>
            <a:r>
              <a:rPr lang="en-US" dirty="0"/>
              <a:t>Cost: $ 564.51</a:t>
            </a:r>
          </a:p>
          <a:p>
            <a:r>
              <a:rPr lang="en-US" dirty="0"/>
              <a:t>Total Area: 0.636 m^2</a:t>
            </a:r>
          </a:p>
          <a:p>
            <a:r>
              <a:rPr lang="en-US" dirty="0"/>
              <a:t>Pressure Drop: 7 kPa</a:t>
            </a:r>
          </a:p>
          <a:p>
            <a:r>
              <a:rPr lang="en-US" dirty="0"/>
              <a:t>Max Flow: 62 GPM</a:t>
            </a:r>
          </a:p>
          <a:p>
            <a:r>
              <a:rPr lang="en-US" dirty="0">
                <a:hlinkClick r:id="rId2"/>
              </a:rPr>
              <a:t>CB30-18H - Alfa Laval CB30-18H - 450,000 BTU/</a:t>
            </a:r>
            <a:r>
              <a:rPr lang="en-US" dirty="0" err="1">
                <a:hlinkClick r:id="rId2"/>
              </a:rPr>
              <a:t>Hr</a:t>
            </a:r>
            <a:r>
              <a:rPr lang="en-US" dirty="0">
                <a:hlinkClick r:id="rId2"/>
              </a:rPr>
              <a:t> (Domestic Water) CB30 Brazed Plate Heat Exchanger (18 Plates)</a:t>
            </a:r>
            <a:endParaRPr lang="en-US" dirty="0"/>
          </a:p>
        </p:txBody>
      </p:sp>
      <p:sp>
        <p:nvSpPr>
          <p:cNvPr id="5" name="Rectangle: Rounded Corners 4">
            <a:extLst>
              <a:ext uri="{FF2B5EF4-FFF2-40B4-BE49-F238E27FC236}">
                <a16:creationId xmlns:a16="http://schemas.microsoft.com/office/drawing/2014/main" id="{E6B95162-1616-A145-46DE-F7EE5CB0F087}"/>
              </a:ext>
            </a:extLst>
          </p:cNvPr>
          <p:cNvSpPr/>
          <p:nvPr/>
        </p:nvSpPr>
        <p:spPr>
          <a:xfrm>
            <a:off x="5047861" y="200722"/>
            <a:ext cx="6763139" cy="8629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For more information, see the following slides in this section which cover alternatives and more of the reasoning.</a:t>
            </a:r>
          </a:p>
        </p:txBody>
      </p:sp>
      <p:pic>
        <p:nvPicPr>
          <p:cNvPr id="14" name="Picture 13">
            <a:extLst>
              <a:ext uri="{FF2B5EF4-FFF2-40B4-BE49-F238E27FC236}">
                <a16:creationId xmlns:a16="http://schemas.microsoft.com/office/drawing/2014/main" id="{8CDC7F42-DAE2-9492-07AD-6C03A6ECF67B}"/>
              </a:ext>
            </a:extLst>
          </p:cNvPr>
          <p:cNvPicPr>
            <a:picLocks noChangeAspect="1"/>
          </p:cNvPicPr>
          <p:nvPr/>
        </p:nvPicPr>
        <p:blipFill>
          <a:blip r:embed="rId3"/>
          <a:stretch>
            <a:fillRect/>
          </a:stretch>
        </p:blipFill>
        <p:spPr>
          <a:xfrm>
            <a:off x="6096000" y="1290602"/>
            <a:ext cx="4842294" cy="4668992"/>
          </a:xfrm>
          <a:prstGeom prst="rect">
            <a:avLst/>
          </a:prstGeom>
        </p:spPr>
      </p:pic>
    </p:spTree>
    <p:extLst>
      <p:ext uri="{BB962C8B-B14F-4D97-AF65-F5344CB8AC3E}">
        <p14:creationId xmlns:p14="http://schemas.microsoft.com/office/powerpoint/2010/main" val="3824562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4C504E4-2ACE-0E41-47BF-9268F06191B5}"/>
              </a:ext>
            </a:extLst>
          </p:cNvPr>
          <p:cNvPicPr>
            <a:picLocks noChangeAspect="1"/>
          </p:cNvPicPr>
          <p:nvPr/>
        </p:nvPicPr>
        <p:blipFill>
          <a:blip r:embed="rId2"/>
          <a:stretch>
            <a:fillRect/>
          </a:stretch>
        </p:blipFill>
        <p:spPr>
          <a:xfrm>
            <a:off x="4119571" y="0"/>
            <a:ext cx="8152109" cy="6400800"/>
          </a:xfrm>
          <a:prstGeom prst="rect">
            <a:avLst/>
          </a:prstGeom>
        </p:spPr>
      </p:pic>
      <p:sp>
        <p:nvSpPr>
          <p:cNvPr id="2" name="Title 1">
            <a:extLst>
              <a:ext uri="{FF2B5EF4-FFF2-40B4-BE49-F238E27FC236}">
                <a16:creationId xmlns:a16="http://schemas.microsoft.com/office/drawing/2014/main" id="{2978878B-C387-5C01-3853-7803AAF361B6}"/>
              </a:ext>
            </a:extLst>
          </p:cNvPr>
          <p:cNvSpPr>
            <a:spLocks noGrp="1"/>
          </p:cNvSpPr>
          <p:nvPr>
            <p:ph type="title"/>
          </p:nvPr>
        </p:nvSpPr>
        <p:spPr/>
        <p:txBody>
          <a:bodyPr>
            <a:normAutofit/>
          </a:bodyPr>
          <a:lstStyle/>
          <a:p>
            <a:r>
              <a:rPr lang="en-US"/>
              <a:t>Heat Exchanger</a:t>
            </a:r>
            <a:br>
              <a:rPr lang="en-US"/>
            </a:br>
            <a:r>
              <a:rPr lang="en-US" sz="2200"/>
              <a:t>Bell &amp; Gossett</a:t>
            </a:r>
          </a:p>
        </p:txBody>
      </p:sp>
      <p:sp>
        <p:nvSpPr>
          <p:cNvPr id="3" name="Content Placeholder 2">
            <a:extLst>
              <a:ext uri="{FF2B5EF4-FFF2-40B4-BE49-F238E27FC236}">
                <a16:creationId xmlns:a16="http://schemas.microsoft.com/office/drawing/2014/main" id="{8759EC3E-1809-F467-0688-8D7D2C2EFC9A}"/>
              </a:ext>
            </a:extLst>
          </p:cNvPr>
          <p:cNvSpPr>
            <a:spLocks noGrp="1"/>
          </p:cNvSpPr>
          <p:nvPr>
            <p:ph sz="half" idx="1"/>
          </p:nvPr>
        </p:nvSpPr>
        <p:spPr>
          <a:xfrm>
            <a:off x="379048" y="1215483"/>
            <a:ext cx="3418511" cy="4471480"/>
          </a:xfrm>
        </p:spPr>
        <p:txBody>
          <a:bodyPr>
            <a:normAutofit fontScale="85000" lnSpcReduction="10000"/>
          </a:bodyPr>
          <a:lstStyle/>
          <a:p>
            <a:r>
              <a:rPr lang="en-US">
                <a:highlight>
                  <a:srgbClr val="FFFF00"/>
                </a:highlight>
              </a:rPr>
              <a:t>Water - Water</a:t>
            </a:r>
          </a:p>
          <a:p>
            <a:r>
              <a:rPr lang="en-US">
                <a:highlight>
                  <a:srgbClr val="FFFF00"/>
                </a:highlight>
              </a:rPr>
              <a:t>99,900 &gt; 91,746 BTU/</a:t>
            </a:r>
            <a:r>
              <a:rPr lang="en-US" err="1">
                <a:highlight>
                  <a:srgbClr val="FFFF00"/>
                </a:highlight>
              </a:rPr>
              <a:t>Hr</a:t>
            </a:r>
            <a:endParaRPr lang="en-US">
              <a:highlight>
                <a:srgbClr val="FFFF00"/>
              </a:highlight>
            </a:endParaRPr>
          </a:p>
          <a:p>
            <a:r>
              <a:rPr lang="en-US">
                <a:highlight>
                  <a:srgbClr val="FFFF00"/>
                </a:highlight>
              </a:rPr>
              <a:t>5.4 &gt; 5.28 GPM</a:t>
            </a:r>
          </a:p>
          <a:p>
            <a:r>
              <a:rPr lang="en-US">
                <a:highlight>
                  <a:srgbClr val="FFFF00"/>
                </a:highlight>
              </a:rPr>
              <a:t>Weight: 3.00 </a:t>
            </a:r>
            <a:r>
              <a:rPr lang="en-US" err="1">
                <a:highlight>
                  <a:srgbClr val="FFFF00"/>
                </a:highlight>
              </a:rPr>
              <a:t>lb</a:t>
            </a:r>
            <a:endParaRPr lang="en-US">
              <a:highlight>
                <a:srgbClr val="FFFF00"/>
              </a:highlight>
            </a:endParaRPr>
          </a:p>
          <a:p>
            <a:r>
              <a:rPr lang="en-US">
                <a:highlight>
                  <a:srgbClr val="FFFF00"/>
                </a:highlight>
              </a:rPr>
              <a:t>Cost: $386.19</a:t>
            </a:r>
          </a:p>
          <a:p>
            <a:endParaRPr lang="en-US"/>
          </a:p>
          <a:p>
            <a:endParaRPr lang="en-US"/>
          </a:p>
          <a:p>
            <a:r>
              <a:rPr lang="en-US"/>
              <a:t>Propylene - Water</a:t>
            </a:r>
          </a:p>
          <a:p>
            <a:r>
              <a:rPr lang="en-US"/>
              <a:t>87,900 ~ 91,746 BTU/</a:t>
            </a:r>
            <a:r>
              <a:rPr lang="en-US" err="1"/>
              <a:t>Hr</a:t>
            </a:r>
            <a:endParaRPr lang="en-US"/>
          </a:p>
          <a:p>
            <a:r>
              <a:rPr lang="en-US"/>
              <a:t>5.41 &gt; 5.28 GPM</a:t>
            </a:r>
          </a:p>
          <a:p>
            <a:r>
              <a:rPr lang="en-US"/>
              <a:t>Weight: 74.00 </a:t>
            </a:r>
            <a:r>
              <a:rPr lang="en-US" err="1"/>
              <a:t>lb</a:t>
            </a:r>
            <a:endParaRPr lang="en-US"/>
          </a:p>
          <a:p>
            <a:r>
              <a:rPr lang="en-US"/>
              <a:t>Cost: $6357.95</a:t>
            </a:r>
          </a:p>
          <a:p>
            <a:endParaRPr lang="en-US" b="1"/>
          </a:p>
        </p:txBody>
      </p:sp>
      <p:sp>
        <p:nvSpPr>
          <p:cNvPr id="8" name="Rectangle 7">
            <a:extLst>
              <a:ext uri="{FF2B5EF4-FFF2-40B4-BE49-F238E27FC236}">
                <a16:creationId xmlns:a16="http://schemas.microsoft.com/office/drawing/2014/main" id="{8EFF2D7F-C205-38F2-D761-86FA7F1E4813}"/>
              </a:ext>
            </a:extLst>
          </p:cNvPr>
          <p:cNvSpPr/>
          <p:nvPr/>
        </p:nvSpPr>
        <p:spPr>
          <a:xfrm>
            <a:off x="8789437" y="6232848"/>
            <a:ext cx="1688841" cy="13995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53393C4-E5B9-FE11-ED60-0CB355B9F3F1}"/>
              </a:ext>
            </a:extLst>
          </p:cNvPr>
          <p:cNvCxnSpPr>
            <a:cxnSpLocks/>
            <a:stCxn id="8" idx="1"/>
          </p:cNvCxnSpPr>
          <p:nvPr/>
        </p:nvCxnSpPr>
        <p:spPr>
          <a:xfrm flipH="1" flipV="1">
            <a:off x="7975226" y="5910998"/>
            <a:ext cx="814211" cy="39183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E5D20B47-0E78-519B-01A2-EF067C718FE2}"/>
              </a:ext>
            </a:extLst>
          </p:cNvPr>
          <p:cNvGrpSpPr/>
          <p:nvPr/>
        </p:nvGrpSpPr>
        <p:grpSpPr>
          <a:xfrm>
            <a:off x="1354970" y="3300774"/>
            <a:ext cx="6623845" cy="256452"/>
            <a:chOff x="530877" y="4104792"/>
            <a:chExt cx="6623845" cy="256452"/>
          </a:xfrm>
        </p:grpSpPr>
        <p:pic>
          <p:nvPicPr>
            <p:cNvPr id="13" name="Picture 12">
              <a:extLst>
                <a:ext uri="{FF2B5EF4-FFF2-40B4-BE49-F238E27FC236}">
                  <a16:creationId xmlns:a16="http://schemas.microsoft.com/office/drawing/2014/main" id="{D7E2E797-D807-AE46-9D33-DD63254FA3E1}"/>
                </a:ext>
              </a:extLst>
            </p:cNvPr>
            <p:cNvPicPr>
              <a:picLocks noChangeAspect="1"/>
            </p:cNvPicPr>
            <p:nvPr/>
          </p:nvPicPr>
          <p:blipFill>
            <a:blip r:embed="rId3"/>
            <a:stretch>
              <a:fillRect/>
            </a:stretch>
          </p:blipFill>
          <p:spPr>
            <a:xfrm>
              <a:off x="534466" y="4104792"/>
              <a:ext cx="6620256" cy="256452"/>
            </a:xfrm>
            <a:prstGeom prst="rect">
              <a:avLst/>
            </a:prstGeom>
          </p:spPr>
        </p:pic>
        <p:sp>
          <p:nvSpPr>
            <p:cNvPr id="9" name="Rectangle 8">
              <a:extLst>
                <a:ext uri="{FF2B5EF4-FFF2-40B4-BE49-F238E27FC236}">
                  <a16:creationId xmlns:a16="http://schemas.microsoft.com/office/drawing/2014/main" id="{EF774189-CEC0-36A0-33BC-F634BC8ADF2D}"/>
                </a:ext>
              </a:extLst>
            </p:cNvPr>
            <p:cNvSpPr/>
            <p:nvPr/>
          </p:nvSpPr>
          <p:spPr>
            <a:xfrm flipV="1">
              <a:off x="530877" y="4120014"/>
              <a:ext cx="6620256" cy="24123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437D8ED6-2AC7-1227-C121-C5AD43419626}"/>
              </a:ext>
            </a:extLst>
          </p:cNvPr>
          <p:cNvGrpSpPr/>
          <p:nvPr/>
        </p:nvGrpSpPr>
        <p:grpSpPr>
          <a:xfrm>
            <a:off x="1354970" y="5682365"/>
            <a:ext cx="6620799" cy="233230"/>
            <a:chOff x="1358016" y="5207905"/>
            <a:chExt cx="6620799" cy="233230"/>
          </a:xfrm>
        </p:grpSpPr>
        <p:pic>
          <p:nvPicPr>
            <p:cNvPr id="6" name="Picture 5">
              <a:extLst>
                <a:ext uri="{FF2B5EF4-FFF2-40B4-BE49-F238E27FC236}">
                  <a16:creationId xmlns:a16="http://schemas.microsoft.com/office/drawing/2014/main" id="{6C715842-31BF-E56F-3A86-19E3BF847832}"/>
                </a:ext>
              </a:extLst>
            </p:cNvPr>
            <p:cNvPicPr>
              <a:picLocks noChangeAspect="1"/>
            </p:cNvPicPr>
            <p:nvPr/>
          </p:nvPicPr>
          <p:blipFill>
            <a:blip r:embed="rId4"/>
            <a:stretch>
              <a:fillRect/>
            </a:stretch>
          </p:blipFill>
          <p:spPr>
            <a:xfrm>
              <a:off x="1358016" y="5212503"/>
              <a:ext cx="6620799" cy="228632"/>
            </a:xfrm>
            <a:prstGeom prst="rect">
              <a:avLst/>
            </a:prstGeom>
          </p:spPr>
        </p:pic>
        <p:sp>
          <p:nvSpPr>
            <p:cNvPr id="14" name="Rectangle 13">
              <a:extLst>
                <a:ext uri="{FF2B5EF4-FFF2-40B4-BE49-F238E27FC236}">
                  <a16:creationId xmlns:a16="http://schemas.microsoft.com/office/drawing/2014/main" id="{4A7CBA12-8470-C5B3-C3E7-F7CC61AA4866}"/>
                </a:ext>
              </a:extLst>
            </p:cNvPr>
            <p:cNvSpPr/>
            <p:nvPr/>
          </p:nvSpPr>
          <p:spPr>
            <a:xfrm>
              <a:off x="1358016" y="5207905"/>
              <a:ext cx="6620799" cy="22863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41350FF3-D061-FB86-CAA5-7485E8F953C0}"/>
              </a:ext>
            </a:extLst>
          </p:cNvPr>
          <p:cNvSpPr/>
          <p:nvPr/>
        </p:nvSpPr>
        <p:spPr>
          <a:xfrm>
            <a:off x="10503159" y="4425820"/>
            <a:ext cx="1688841" cy="13995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81473CAF-D2AB-C27D-A090-D0749CD5B0D1}"/>
              </a:ext>
            </a:extLst>
          </p:cNvPr>
          <p:cNvCxnSpPr>
            <a:cxnSpLocks/>
            <a:stCxn id="17" idx="1"/>
          </p:cNvCxnSpPr>
          <p:nvPr/>
        </p:nvCxnSpPr>
        <p:spPr>
          <a:xfrm flipH="1" flipV="1">
            <a:off x="7975226" y="3557226"/>
            <a:ext cx="2527933" cy="93857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08D0545-73A2-302F-2BB8-ACE7316181ED}"/>
              </a:ext>
            </a:extLst>
          </p:cNvPr>
          <p:cNvSpPr txBox="1"/>
          <p:nvPr/>
        </p:nvSpPr>
        <p:spPr>
          <a:xfrm>
            <a:off x="379048" y="6428410"/>
            <a:ext cx="7543682" cy="369332"/>
          </a:xfrm>
          <a:prstGeom prst="rect">
            <a:avLst/>
          </a:prstGeom>
          <a:noFill/>
        </p:spPr>
        <p:txBody>
          <a:bodyPr wrap="square">
            <a:spAutoFit/>
          </a:bodyPr>
          <a:lstStyle/>
          <a:p>
            <a:r>
              <a:rPr lang="en-US">
                <a:hlinkClick r:id="rId5"/>
              </a:rPr>
              <a:t>bell-&amp;-gossett-brazed-plate-heat-exchanger-selection-tables.pdf</a:t>
            </a:r>
            <a:endParaRPr lang="en-US"/>
          </a:p>
        </p:txBody>
      </p:sp>
    </p:spTree>
    <p:extLst>
      <p:ext uri="{BB962C8B-B14F-4D97-AF65-F5344CB8AC3E}">
        <p14:creationId xmlns:p14="http://schemas.microsoft.com/office/powerpoint/2010/main" val="2215571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131F7-C680-790B-F227-FFA4E47C4899}"/>
              </a:ext>
            </a:extLst>
          </p:cNvPr>
          <p:cNvSpPr>
            <a:spLocks noGrp="1"/>
          </p:cNvSpPr>
          <p:nvPr>
            <p:ph type="title"/>
          </p:nvPr>
        </p:nvSpPr>
        <p:spPr/>
        <p:txBody>
          <a:bodyPr>
            <a:normAutofit/>
          </a:bodyPr>
          <a:lstStyle/>
          <a:p>
            <a:r>
              <a:rPr lang="en-US"/>
              <a:t>Heat Exchanger</a:t>
            </a:r>
            <a:br>
              <a:rPr lang="en-US"/>
            </a:br>
            <a:r>
              <a:rPr lang="en-US" sz="2200"/>
              <a:t>Wessels</a:t>
            </a:r>
          </a:p>
        </p:txBody>
      </p:sp>
      <p:sp>
        <p:nvSpPr>
          <p:cNvPr id="3" name="Content Placeholder 2">
            <a:extLst>
              <a:ext uri="{FF2B5EF4-FFF2-40B4-BE49-F238E27FC236}">
                <a16:creationId xmlns:a16="http://schemas.microsoft.com/office/drawing/2014/main" id="{58D301AA-9B9F-08DE-974D-43E843691F06}"/>
              </a:ext>
            </a:extLst>
          </p:cNvPr>
          <p:cNvSpPr>
            <a:spLocks noGrp="1"/>
          </p:cNvSpPr>
          <p:nvPr>
            <p:ph sz="half" idx="1"/>
          </p:nvPr>
        </p:nvSpPr>
        <p:spPr/>
        <p:txBody>
          <a:bodyPr/>
          <a:lstStyle/>
          <a:p>
            <a:r>
              <a:rPr lang="en-US"/>
              <a:t>Water - Water</a:t>
            </a:r>
          </a:p>
          <a:p>
            <a:r>
              <a:rPr lang="en-US"/>
              <a:t>125,000 &gt; 91,746 BTU/</a:t>
            </a:r>
            <a:r>
              <a:rPr lang="en-US" err="1"/>
              <a:t>Hr</a:t>
            </a:r>
            <a:endParaRPr lang="en-US"/>
          </a:p>
          <a:p>
            <a:r>
              <a:rPr lang="en-US"/>
              <a:t>5.2 ~ 5.28 GPM</a:t>
            </a:r>
          </a:p>
          <a:p>
            <a:r>
              <a:rPr lang="en-US"/>
              <a:t>Weight: 5 </a:t>
            </a:r>
            <a:r>
              <a:rPr lang="en-US" err="1"/>
              <a:t>lb</a:t>
            </a:r>
            <a:endParaRPr lang="en-US"/>
          </a:p>
          <a:p>
            <a:r>
              <a:rPr lang="en-US"/>
              <a:t>Cost: ?</a:t>
            </a:r>
          </a:p>
          <a:p>
            <a:endParaRPr lang="en-US"/>
          </a:p>
        </p:txBody>
      </p:sp>
      <p:sp>
        <p:nvSpPr>
          <p:cNvPr id="4" name="Content Placeholder 3">
            <a:extLst>
              <a:ext uri="{FF2B5EF4-FFF2-40B4-BE49-F238E27FC236}">
                <a16:creationId xmlns:a16="http://schemas.microsoft.com/office/drawing/2014/main" id="{F5C4D446-5F21-C433-3B4F-0940769BE683}"/>
              </a:ext>
            </a:extLst>
          </p:cNvPr>
          <p:cNvSpPr>
            <a:spLocks noGrp="1"/>
          </p:cNvSpPr>
          <p:nvPr>
            <p:ph sz="half" idx="2"/>
          </p:nvPr>
        </p:nvSpPr>
        <p:spPr/>
        <p:txBody>
          <a:bodyPr/>
          <a:lstStyle/>
          <a:p>
            <a:endParaRPr lang="en-US"/>
          </a:p>
        </p:txBody>
      </p:sp>
      <p:pic>
        <p:nvPicPr>
          <p:cNvPr id="6" name="Picture 5">
            <a:extLst>
              <a:ext uri="{FF2B5EF4-FFF2-40B4-BE49-F238E27FC236}">
                <a16:creationId xmlns:a16="http://schemas.microsoft.com/office/drawing/2014/main" id="{6D4AA50B-B41E-9FA0-203B-5F239267966E}"/>
              </a:ext>
            </a:extLst>
          </p:cNvPr>
          <p:cNvPicPr>
            <a:picLocks noChangeAspect="1"/>
          </p:cNvPicPr>
          <p:nvPr/>
        </p:nvPicPr>
        <p:blipFill>
          <a:blip r:embed="rId2"/>
          <a:stretch>
            <a:fillRect/>
          </a:stretch>
        </p:blipFill>
        <p:spPr>
          <a:xfrm>
            <a:off x="6096000" y="0"/>
            <a:ext cx="6122643" cy="6858000"/>
          </a:xfrm>
          <a:prstGeom prst="rect">
            <a:avLst/>
          </a:prstGeom>
        </p:spPr>
      </p:pic>
      <p:sp>
        <p:nvSpPr>
          <p:cNvPr id="7" name="Rectangle 6">
            <a:extLst>
              <a:ext uri="{FF2B5EF4-FFF2-40B4-BE49-F238E27FC236}">
                <a16:creationId xmlns:a16="http://schemas.microsoft.com/office/drawing/2014/main" id="{7DF9BEEA-C5F5-031A-E682-00B64D0C3129}"/>
              </a:ext>
            </a:extLst>
          </p:cNvPr>
          <p:cNvSpPr/>
          <p:nvPr/>
        </p:nvSpPr>
        <p:spPr>
          <a:xfrm>
            <a:off x="6096000" y="2006083"/>
            <a:ext cx="6096000" cy="25215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F150EEE-CEC3-342A-45F7-CF2972549A05}"/>
              </a:ext>
            </a:extLst>
          </p:cNvPr>
          <p:cNvSpPr txBox="1"/>
          <p:nvPr/>
        </p:nvSpPr>
        <p:spPr>
          <a:xfrm>
            <a:off x="182725" y="6010947"/>
            <a:ext cx="6111550" cy="646331"/>
          </a:xfrm>
          <a:prstGeom prst="rect">
            <a:avLst/>
          </a:prstGeom>
          <a:noFill/>
        </p:spPr>
        <p:txBody>
          <a:bodyPr wrap="square">
            <a:spAutoFit/>
          </a:bodyPr>
          <a:lstStyle/>
          <a:p>
            <a:r>
              <a:rPr lang="en-US">
                <a:hlinkClick r:id="rId3"/>
              </a:rPr>
              <a:t>How To: Size Brazed Plate Heat Exchangers | Wessels Company</a:t>
            </a:r>
            <a:endParaRPr lang="en-US"/>
          </a:p>
        </p:txBody>
      </p:sp>
    </p:spTree>
    <p:extLst>
      <p:ext uri="{BB962C8B-B14F-4D97-AF65-F5344CB8AC3E}">
        <p14:creationId xmlns:p14="http://schemas.microsoft.com/office/powerpoint/2010/main" val="1911895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43B9F-A74B-C3C6-F938-E6DBB2B46EB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A530665-3373-5934-978E-A6DEB72E5F58}"/>
              </a:ext>
            </a:extLst>
          </p:cNvPr>
          <p:cNvPicPr>
            <a:picLocks noChangeAspect="1"/>
          </p:cNvPicPr>
          <p:nvPr/>
        </p:nvPicPr>
        <p:blipFill>
          <a:blip r:embed="rId2"/>
          <a:stretch>
            <a:fillRect/>
          </a:stretch>
        </p:blipFill>
        <p:spPr>
          <a:xfrm>
            <a:off x="5405252" y="0"/>
            <a:ext cx="6786748" cy="6858000"/>
          </a:xfrm>
          <a:prstGeom prst="rect">
            <a:avLst/>
          </a:prstGeom>
        </p:spPr>
      </p:pic>
      <p:sp>
        <p:nvSpPr>
          <p:cNvPr id="2" name="Title 1">
            <a:extLst>
              <a:ext uri="{FF2B5EF4-FFF2-40B4-BE49-F238E27FC236}">
                <a16:creationId xmlns:a16="http://schemas.microsoft.com/office/drawing/2014/main" id="{0E91D9E9-4920-D876-ED22-3BFCF592D96A}"/>
              </a:ext>
            </a:extLst>
          </p:cNvPr>
          <p:cNvSpPr>
            <a:spLocks noGrp="1"/>
          </p:cNvSpPr>
          <p:nvPr>
            <p:ph type="title"/>
          </p:nvPr>
        </p:nvSpPr>
        <p:spPr/>
        <p:txBody>
          <a:bodyPr>
            <a:normAutofit/>
          </a:bodyPr>
          <a:lstStyle/>
          <a:p>
            <a:r>
              <a:rPr lang="en-US"/>
              <a:t>Heat Exchanger</a:t>
            </a:r>
            <a:br>
              <a:rPr lang="en-US"/>
            </a:br>
            <a:r>
              <a:rPr lang="en-US" sz="2200"/>
              <a:t>Wessels</a:t>
            </a:r>
          </a:p>
        </p:txBody>
      </p:sp>
      <p:sp>
        <p:nvSpPr>
          <p:cNvPr id="3" name="Content Placeholder 2">
            <a:extLst>
              <a:ext uri="{FF2B5EF4-FFF2-40B4-BE49-F238E27FC236}">
                <a16:creationId xmlns:a16="http://schemas.microsoft.com/office/drawing/2014/main" id="{7524469D-41E6-5ECB-AB38-B74EE6783079}"/>
              </a:ext>
            </a:extLst>
          </p:cNvPr>
          <p:cNvSpPr>
            <a:spLocks noGrp="1"/>
          </p:cNvSpPr>
          <p:nvPr>
            <p:ph sz="half" idx="1"/>
          </p:nvPr>
        </p:nvSpPr>
        <p:spPr/>
        <p:txBody>
          <a:bodyPr/>
          <a:lstStyle/>
          <a:p>
            <a:r>
              <a:rPr lang="en-US"/>
              <a:t>Water - Water</a:t>
            </a:r>
          </a:p>
          <a:p>
            <a:r>
              <a:rPr lang="en-US"/>
              <a:t>100,000 &gt; 91,746 BTU/</a:t>
            </a:r>
            <a:r>
              <a:rPr lang="en-US" err="1"/>
              <a:t>Hr</a:t>
            </a:r>
            <a:endParaRPr lang="en-US"/>
          </a:p>
          <a:p>
            <a:r>
              <a:rPr lang="en-US"/>
              <a:t>5.0 ~ 5.28 GPM</a:t>
            </a:r>
          </a:p>
          <a:p>
            <a:r>
              <a:rPr lang="en-US"/>
              <a:t>Weight: 5 </a:t>
            </a:r>
            <a:r>
              <a:rPr lang="en-US" err="1"/>
              <a:t>lb</a:t>
            </a:r>
            <a:endParaRPr lang="en-US"/>
          </a:p>
          <a:p>
            <a:r>
              <a:rPr lang="en-US"/>
              <a:t>Cost: ?</a:t>
            </a:r>
          </a:p>
        </p:txBody>
      </p:sp>
      <p:sp>
        <p:nvSpPr>
          <p:cNvPr id="7" name="Rectangle 6">
            <a:extLst>
              <a:ext uri="{FF2B5EF4-FFF2-40B4-BE49-F238E27FC236}">
                <a16:creationId xmlns:a16="http://schemas.microsoft.com/office/drawing/2014/main" id="{511B99FC-7F09-C50D-E3D1-7C2707BDBA9E}"/>
              </a:ext>
            </a:extLst>
          </p:cNvPr>
          <p:cNvSpPr/>
          <p:nvPr/>
        </p:nvSpPr>
        <p:spPr>
          <a:xfrm>
            <a:off x="5405252" y="2006083"/>
            <a:ext cx="6786748" cy="29857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8DA8D12-1A0B-A5F1-5E40-206D726DB83E}"/>
              </a:ext>
            </a:extLst>
          </p:cNvPr>
          <p:cNvSpPr txBox="1"/>
          <p:nvPr/>
        </p:nvSpPr>
        <p:spPr>
          <a:xfrm>
            <a:off x="182725" y="6010947"/>
            <a:ext cx="5042418" cy="646331"/>
          </a:xfrm>
          <a:prstGeom prst="rect">
            <a:avLst/>
          </a:prstGeom>
          <a:noFill/>
        </p:spPr>
        <p:txBody>
          <a:bodyPr wrap="square">
            <a:spAutoFit/>
          </a:bodyPr>
          <a:lstStyle/>
          <a:p>
            <a:r>
              <a:rPr lang="en-US">
                <a:hlinkClick r:id="rId3"/>
              </a:rPr>
              <a:t>How To: Size Brazed Plate Heat Exchangers | Wessels Company</a:t>
            </a:r>
            <a:endParaRPr lang="en-US"/>
          </a:p>
        </p:txBody>
      </p:sp>
    </p:spTree>
    <p:extLst>
      <p:ext uri="{BB962C8B-B14F-4D97-AF65-F5344CB8AC3E}">
        <p14:creationId xmlns:p14="http://schemas.microsoft.com/office/powerpoint/2010/main" val="1933656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4394D-3164-5A44-EB94-37B827BB449B}"/>
              </a:ext>
            </a:extLst>
          </p:cNvPr>
          <p:cNvSpPr>
            <a:spLocks noGrp="1"/>
          </p:cNvSpPr>
          <p:nvPr>
            <p:ph type="title"/>
          </p:nvPr>
        </p:nvSpPr>
        <p:spPr/>
        <p:txBody>
          <a:bodyPr>
            <a:normAutofit/>
          </a:bodyPr>
          <a:lstStyle/>
          <a:p>
            <a:r>
              <a:rPr lang="en-US" dirty="0"/>
              <a:t>Heat Exchanger</a:t>
            </a:r>
            <a:br>
              <a:rPr lang="en-US" dirty="0"/>
            </a:br>
            <a:r>
              <a:rPr lang="en-US" sz="2200" dirty="0"/>
              <a:t>Alfa Laval</a:t>
            </a:r>
          </a:p>
        </p:txBody>
      </p:sp>
      <p:pic>
        <p:nvPicPr>
          <p:cNvPr id="6" name="Picture 5">
            <a:extLst>
              <a:ext uri="{FF2B5EF4-FFF2-40B4-BE49-F238E27FC236}">
                <a16:creationId xmlns:a16="http://schemas.microsoft.com/office/drawing/2014/main" id="{23EC682D-54B4-5C64-30B5-24FBE34A9E9C}"/>
              </a:ext>
            </a:extLst>
          </p:cNvPr>
          <p:cNvPicPr>
            <a:picLocks noChangeAspect="1"/>
          </p:cNvPicPr>
          <p:nvPr/>
        </p:nvPicPr>
        <p:blipFill>
          <a:blip r:embed="rId3"/>
          <a:srcRect t="3879"/>
          <a:stretch>
            <a:fillRect/>
          </a:stretch>
        </p:blipFill>
        <p:spPr>
          <a:xfrm>
            <a:off x="0" y="1118347"/>
            <a:ext cx="12192000" cy="5642517"/>
          </a:xfrm>
          <a:prstGeom prst="rect">
            <a:avLst/>
          </a:prstGeom>
        </p:spPr>
      </p:pic>
      <p:sp>
        <p:nvSpPr>
          <p:cNvPr id="8" name="TextBox 7">
            <a:extLst>
              <a:ext uri="{FF2B5EF4-FFF2-40B4-BE49-F238E27FC236}">
                <a16:creationId xmlns:a16="http://schemas.microsoft.com/office/drawing/2014/main" id="{0A7BA6EB-62DE-2156-CFB3-4F0EED5CC699}"/>
              </a:ext>
            </a:extLst>
          </p:cNvPr>
          <p:cNvSpPr txBox="1"/>
          <p:nvPr/>
        </p:nvSpPr>
        <p:spPr>
          <a:xfrm>
            <a:off x="4327072" y="319928"/>
            <a:ext cx="6097554" cy="369332"/>
          </a:xfrm>
          <a:prstGeom prst="rect">
            <a:avLst/>
          </a:prstGeom>
          <a:noFill/>
        </p:spPr>
        <p:txBody>
          <a:bodyPr wrap="square">
            <a:spAutoFit/>
          </a:bodyPr>
          <a:lstStyle/>
          <a:p>
            <a:r>
              <a:rPr lang="en-US" dirty="0">
                <a:hlinkClick r:id="rId4"/>
              </a:rPr>
              <a:t>New selection*</a:t>
            </a:r>
            <a:endParaRPr lang="en-US" dirty="0"/>
          </a:p>
        </p:txBody>
      </p:sp>
      <p:sp>
        <p:nvSpPr>
          <p:cNvPr id="9" name="TextBox 8">
            <a:extLst>
              <a:ext uri="{FF2B5EF4-FFF2-40B4-BE49-F238E27FC236}">
                <a16:creationId xmlns:a16="http://schemas.microsoft.com/office/drawing/2014/main" id="{6EB6A6F8-0F92-9DC8-3737-17F67042FDE5}"/>
              </a:ext>
            </a:extLst>
          </p:cNvPr>
          <p:cNvSpPr txBox="1"/>
          <p:nvPr/>
        </p:nvSpPr>
        <p:spPr>
          <a:xfrm>
            <a:off x="93306" y="3328309"/>
            <a:ext cx="2082686" cy="369332"/>
          </a:xfrm>
          <a:prstGeom prst="rect">
            <a:avLst/>
          </a:prstGeom>
          <a:noFill/>
        </p:spPr>
        <p:txBody>
          <a:bodyPr wrap="none" rtlCol="0">
            <a:spAutoFit/>
          </a:bodyPr>
          <a:lstStyle/>
          <a:p>
            <a:r>
              <a:rPr lang="en-US"/>
              <a:t>Max Heat Transfer</a:t>
            </a:r>
          </a:p>
        </p:txBody>
      </p:sp>
      <p:sp>
        <p:nvSpPr>
          <p:cNvPr id="10" name="TextBox 9">
            <a:extLst>
              <a:ext uri="{FF2B5EF4-FFF2-40B4-BE49-F238E27FC236}">
                <a16:creationId xmlns:a16="http://schemas.microsoft.com/office/drawing/2014/main" id="{A93DC0BB-FD23-6D52-2986-E4D0EB557539}"/>
              </a:ext>
            </a:extLst>
          </p:cNvPr>
          <p:cNvSpPr txBox="1"/>
          <p:nvPr/>
        </p:nvSpPr>
        <p:spPr>
          <a:xfrm>
            <a:off x="93306" y="4300031"/>
            <a:ext cx="1723549" cy="369332"/>
          </a:xfrm>
          <a:prstGeom prst="rect">
            <a:avLst/>
          </a:prstGeom>
          <a:noFill/>
        </p:spPr>
        <p:txBody>
          <a:bodyPr wrap="none" rtlCol="0">
            <a:spAutoFit/>
          </a:bodyPr>
          <a:lstStyle/>
          <a:p>
            <a:r>
              <a:rPr lang="en-US"/>
              <a:t>Max Flow Rate</a:t>
            </a:r>
          </a:p>
        </p:txBody>
      </p:sp>
      <p:sp>
        <p:nvSpPr>
          <p:cNvPr id="11" name="TextBox 10">
            <a:extLst>
              <a:ext uri="{FF2B5EF4-FFF2-40B4-BE49-F238E27FC236}">
                <a16:creationId xmlns:a16="http://schemas.microsoft.com/office/drawing/2014/main" id="{C8CAB4BA-F8C0-37C6-8195-FCD393E834D2}"/>
              </a:ext>
            </a:extLst>
          </p:cNvPr>
          <p:cNvSpPr txBox="1"/>
          <p:nvPr/>
        </p:nvSpPr>
        <p:spPr>
          <a:xfrm>
            <a:off x="93306" y="5273023"/>
            <a:ext cx="2591479" cy="369332"/>
          </a:xfrm>
          <a:prstGeom prst="rect">
            <a:avLst/>
          </a:prstGeom>
          <a:noFill/>
        </p:spPr>
        <p:txBody>
          <a:bodyPr wrap="none" rtlCol="0">
            <a:spAutoFit/>
          </a:bodyPr>
          <a:lstStyle/>
          <a:p>
            <a:r>
              <a:rPr lang="en-US"/>
              <a:t>Min Outlet Temperature</a:t>
            </a:r>
          </a:p>
        </p:txBody>
      </p:sp>
      <p:sp>
        <p:nvSpPr>
          <p:cNvPr id="12" name="TextBox 11">
            <a:extLst>
              <a:ext uri="{FF2B5EF4-FFF2-40B4-BE49-F238E27FC236}">
                <a16:creationId xmlns:a16="http://schemas.microsoft.com/office/drawing/2014/main" id="{0EB366C9-28AF-32C1-EF93-6875B5741B88}"/>
              </a:ext>
            </a:extLst>
          </p:cNvPr>
          <p:cNvSpPr txBox="1"/>
          <p:nvPr/>
        </p:nvSpPr>
        <p:spPr>
          <a:xfrm>
            <a:off x="9410021" y="5370321"/>
            <a:ext cx="2476062" cy="369332"/>
          </a:xfrm>
          <a:prstGeom prst="rect">
            <a:avLst/>
          </a:prstGeom>
          <a:noFill/>
        </p:spPr>
        <p:txBody>
          <a:bodyPr wrap="none" rtlCol="0">
            <a:spAutoFit/>
          </a:bodyPr>
          <a:lstStyle/>
          <a:p>
            <a:r>
              <a:rPr lang="en-US"/>
              <a:t>Max Inlet Temperature</a:t>
            </a:r>
          </a:p>
        </p:txBody>
      </p:sp>
      <p:sp>
        <p:nvSpPr>
          <p:cNvPr id="13" name="TextBox 12">
            <a:extLst>
              <a:ext uri="{FF2B5EF4-FFF2-40B4-BE49-F238E27FC236}">
                <a16:creationId xmlns:a16="http://schemas.microsoft.com/office/drawing/2014/main" id="{6F873CCE-834E-6120-539D-784A0B1E34B5}"/>
              </a:ext>
            </a:extLst>
          </p:cNvPr>
          <p:cNvSpPr txBox="1"/>
          <p:nvPr/>
        </p:nvSpPr>
        <p:spPr>
          <a:xfrm>
            <a:off x="10087451" y="4295300"/>
            <a:ext cx="1723549" cy="369332"/>
          </a:xfrm>
          <a:prstGeom prst="rect">
            <a:avLst/>
          </a:prstGeom>
          <a:noFill/>
        </p:spPr>
        <p:txBody>
          <a:bodyPr wrap="none" rtlCol="0">
            <a:spAutoFit/>
          </a:bodyPr>
          <a:lstStyle/>
          <a:p>
            <a:r>
              <a:rPr lang="en-US"/>
              <a:t>Max Flow Rate</a:t>
            </a:r>
          </a:p>
        </p:txBody>
      </p:sp>
      <p:cxnSp>
        <p:nvCxnSpPr>
          <p:cNvPr id="16" name="Straight Arrow Connector 15">
            <a:extLst>
              <a:ext uri="{FF2B5EF4-FFF2-40B4-BE49-F238E27FC236}">
                <a16:creationId xmlns:a16="http://schemas.microsoft.com/office/drawing/2014/main" id="{0A670B3F-665B-16F9-9594-F098BFFF9604}"/>
              </a:ext>
            </a:extLst>
          </p:cNvPr>
          <p:cNvCxnSpPr/>
          <p:nvPr/>
        </p:nvCxnSpPr>
        <p:spPr>
          <a:xfrm flipV="1">
            <a:off x="2175992" y="3328309"/>
            <a:ext cx="1612237" cy="18466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7B46EDC-323A-C422-8C8B-E58462D0814A}"/>
              </a:ext>
            </a:extLst>
          </p:cNvPr>
          <p:cNvCxnSpPr>
            <a:cxnSpLocks/>
          </p:cNvCxnSpPr>
          <p:nvPr/>
        </p:nvCxnSpPr>
        <p:spPr>
          <a:xfrm>
            <a:off x="1816855" y="4479966"/>
            <a:ext cx="2510217"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CCB10E8-A2CD-4C66-2AAC-FB8FDB6386E5}"/>
              </a:ext>
            </a:extLst>
          </p:cNvPr>
          <p:cNvCxnSpPr>
            <a:cxnSpLocks/>
            <a:stCxn id="11" idx="3"/>
          </p:cNvCxnSpPr>
          <p:nvPr/>
        </p:nvCxnSpPr>
        <p:spPr>
          <a:xfrm flipV="1">
            <a:off x="2684785" y="5273023"/>
            <a:ext cx="1868554" cy="18466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E6BD076-CBF2-4679-6561-24277017690D}"/>
              </a:ext>
            </a:extLst>
          </p:cNvPr>
          <p:cNvCxnSpPr>
            <a:cxnSpLocks/>
            <a:stCxn id="13" idx="1"/>
          </p:cNvCxnSpPr>
          <p:nvPr/>
        </p:nvCxnSpPr>
        <p:spPr>
          <a:xfrm flipH="1">
            <a:off x="9657184" y="4479966"/>
            <a:ext cx="430267"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8116FF1-CB55-4E47-1738-25935B7DF071}"/>
              </a:ext>
            </a:extLst>
          </p:cNvPr>
          <p:cNvCxnSpPr>
            <a:cxnSpLocks/>
            <a:stCxn id="12" idx="1"/>
          </p:cNvCxnSpPr>
          <p:nvPr/>
        </p:nvCxnSpPr>
        <p:spPr>
          <a:xfrm flipH="1" flipV="1">
            <a:off x="9190653" y="5273023"/>
            <a:ext cx="219368" cy="28196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8C9043-91AB-FAAA-DBB8-A03ECCF136D1}"/>
              </a:ext>
            </a:extLst>
          </p:cNvPr>
          <p:cNvSpPr txBox="1"/>
          <p:nvPr/>
        </p:nvSpPr>
        <p:spPr>
          <a:xfrm>
            <a:off x="7324725" y="292153"/>
            <a:ext cx="4867275" cy="923330"/>
          </a:xfrm>
          <a:prstGeom prst="rect">
            <a:avLst/>
          </a:prstGeom>
          <a:noFill/>
        </p:spPr>
        <p:txBody>
          <a:bodyPr wrap="square" rtlCol="0">
            <a:spAutoFit/>
          </a:bodyPr>
          <a:lstStyle/>
          <a:p>
            <a:r>
              <a:rPr lang="en-US" dirty="0">
                <a:highlight>
                  <a:srgbClr val="FFFF00"/>
                </a:highlight>
              </a:rPr>
              <a:t>We now know the stock side should have a flow of 11.3L/min and to assume a nominal input temperature on the cold side of 20°C</a:t>
            </a:r>
          </a:p>
        </p:txBody>
      </p:sp>
    </p:spTree>
    <p:extLst>
      <p:ext uri="{BB962C8B-B14F-4D97-AF65-F5344CB8AC3E}">
        <p14:creationId xmlns:p14="http://schemas.microsoft.com/office/powerpoint/2010/main" val="3844929777"/>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5BF76-A61F-094B-A264-09010CD3E584}"/>
              </a:ext>
            </a:extLst>
          </p:cNvPr>
          <p:cNvSpPr>
            <a:spLocks noGrp="1"/>
          </p:cNvSpPr>
          <p:nvPr>
            <p:ph type="title"/>
          </p:nvPr>
        </p:nvSpPr>
        <p:spPr/>
        <p:txBody>
          <a:bodyPr>
            <a:normAutofit/>
          </a:bodyPr>
          <a:lstStyle/>
          <a:p>
            <a:r>
              <a:rPr lang="en-US"/>
              <a:t>Heat Exchanger</a:t>
            </a:r>
            <a:br>
              <a:rPr lang="en-US"/>
            </a:br>
            <a:r>
              <a:rPr lang="en-US" sz="2200"/>
              <a:t>Danfoss</a:t>
            </a:r>
          </a:p>
        </p:txBody>
      </p:sp>
      <p:grpSp>
        <p:nvGrpSpPr>
          <p:cNvPr id="9" name="Group 8">
            <a:extLst>
              <a:ext uri="{FF2B5EF4-FFF2-40B4-BE49-F238E27FC236}">
                <a16:creationId xmlns:a16="http://schemas.microsoft.com/office/drawing/2014/main" id="{80D06E9D-A8D8-0E9D-12BF-84BF5A0AE8CB}"/>
              </a:ext>
            </a:extLst>
          </p:cNvPr>
          <p:cNvGrpSpPr/>
          <p:nvPr/>
        </p:nvGrpSpPr>
        <p:grpSpPr>
          <a:xfrm>
            <a:off x="3929604" y="364055"/>
            <a:ext cx="8262396" cy="6293223"/>
            <a:chOff x="3929604" y="-1"/>
            <a:chExt cx="8262396" cy="6293223"/>
          </a:xfrm>
        </p:grpSpPr>
        <p:pic>
          <p:nvPicPr>
            <p:cNvPr id="6" name="Picture 5">
              <a:extLst>
                <a:ext uri="{FF2B5EF4-FFF2-40B4-BE49-F238E27FC236}">
                  <a16:creationId xmlns:a16="http://schemas.microsoft.com/office/drawing/2014/main" id="{E271C1F6-CD82-71BB-47F8-9EF6B6381EE4}"/>
                </a:ext>
              </a:extLst>
            </p:cNvPr>
            <p:cNvPicPr>
              <a:picLocks noChangeAspect="1"/>
            </p:cNvPicPr>
            <p:nvPr/>
          </p:nvPicPr>
          <p:blipFill>
            <a:blip r:embed="rId2"/>
            <a:srcRect l="17948"/>
            <a:stretch>
              <a:fillRect/>
            </a:stretch>
          </p:blipFill>
          <p:spPr>
            <a:xfrm>
              <a:off x="3929604" y="-1"/>
              <a:ext cx="8262396" cy="4544059"/>
            </a:xfrm>
            <a:prstGeom prst="rect">
              <a:avLst/>
            </a:prstGeom>
          </p:spPr>
        </p:pic>
        <p:pic>
          <p:nvPicPr>
            <p:cNvPr id="8" name="Picture 7">
              <a:extLst>
                <a:ext uri="{FF2B5EF4-FFF2-40B4-BE49-F238E27FC236}">
                  <a16:creationId xmlns:a16="http://schemas.microsoft.com/office/drawing/2014/main" id="{6DEBD296-E97F-5149-83BC-8CDA6646FFB5}"/>
                </a:ext>
              </a:extLst>
            </p:cNvPr>
            <p:cNvPicPr>
              <a:picLocks noChangeAspect="1"/>
            </p:cNvPicPr>
            <p:nvPr/>
          </p:nvPicPr>
          <p:blipFill>
            <a:blip r:embed="rId3"/>
            <a:stretch>
              <a:fillRect/>
            </a:stretch>
          </p:blipFill>
          <p:spPr>
            <a:xfrm>
              <a:off x="3940362" y="3752102"/>
              <a:ext cx="2684958" cy="2541120"/>
            </a:xfrm>
            <a:prstGeom prst="rect">
              <a:avLst/>
            </a:prstGeom>
          </p:spPr>
        </p:pic>
      </p:grpSp>
      <p:sp>
        <p:nvSpPr>
          <p:cNvPr id="11" name="TextBox 10">
            <a:extLst>
              <a:ext uri="{FF2B5EF4-FFF2-40B4-BE49-F238E27FC236}">
                <a16:creationId xmlns:a16="http://schemas.microsoft.com/office/drawing/2014/main" id="{259ADEB6-0156-02DA-B4D5-37013152D861}"/>
              </a:ext>
            </a:extLst>
          </p:cNvPr>
          <p:cNvSpPr txBox="1"/>
          <p:nvPr/>
        </p:nvSpPr>
        <p:spPr>
          <a:xfrm>
            <a:off x="140179" y="3059668"/>
            <a:ext cx="6094562" cy="369332"/>
          </a:xfrm>
          <a:prstGeom prst="rect">
            <a:avLst/>
          </a:prstGeom>
          <a:noFill/>
        </p:spPr>
        <p:txBody>
          <a:bodyPr wrap="square">
            <a:spAutoFit/>
          </a:bodyPr>
          <a:lstStyle/>
          <a:p>
            <a:r>
              <a:rPr lang="en-US">
                <a:hlinkClick r:id="rId4"/>
              </a:rPr>
              <a:t>Danfoss </a:t>
            </a:r>
            <a:r>
              <a:rPr lang="en-US" err="1">
                <a:hlinkClick r:id="rId4"/>
              </a:rPr>
              <a:t>HEXSelector</a:t>
            </a:r>
            <a:r>
              <a:rPr lang="en-US">
                <a:hlinkClick r:id="rId4"/>
              </a:rPr>
              <a:t> | Danfoss</a:t>
            </a:r>
            <a:endParaRPr lang="en-US"/>
          </a:p>
        </p:txBody>
      </p:sp>
    </p:spTree>
    <p:extLst>
      <p:ext uri="{BB962C8B-B14F-4D97-AF65-F5344CB8AC3E}">
        <p14:creationId xmlns:p14="http://schemas.microsoft.com/office/powerpoint/2010/main" val="4107597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6B2F9-3FA9-F6EB-0EC1-05AB7C35A411}"/>
              </a:ext>
            </a:extLst>
          </p:cNvPr>
          <p:cNvSpPr>
            <a:spLocks noGrp="1"/>
          </p:cNvSpPr>
          <p:nvPr>
            <p:ph type="title"/>
          </p:nvPr>
        </p:nvSpPr>
        <p:spPr/>
        <p:txBody>
          <a:bodyPr>
            <a:normAutofit/>
          </a:bodyPr>
          <a:lstStyle/>
          <a:p>
            <a:r>
              <a:rPr lang="en-US"/>
              <a:t>Heat Exchanger</a:t>
            </a:r>
            <a:br>
              <a:rPr lang="en-US"/>
            </a:br>
            <a:r>
              <a:rPr lang="en-US" sz="2200"/>
              <a:t>Comparison</a:t>
            </a:r>
          </a:p>
        </p:txBody>
      </p:sp>
      <p:graphicFrame>
        <p:nvGraphicFramePr>
          <p:cNvPr id="6" name="Object 5">
            <a:extLst>
              <a:ext uri="{FF2B5EF4-FFF2-40B4-BE49-F238E27FC236}">
                <a16:creationId xmlns:a16="http://schemas.microsoft.com/office/drawing/2014/main" id="{2D20F4A1-786B-472B-CCF1-5C134F228F8B}"/>
              </a:ext>
            </a:extLst>
          </p:cNvPr>
          <p:cNvGraphicFramePr>
            <a:graphicFrameLocks noChangeAspect="1"/>
          </p:cNvGraphicFramePr>
          <p:nvPr>
            <p:extLst>
              <p:ext uri="{D42A27DB-BD31-4B8C-83A1-F6EECF244321}">
                <p14:modId xmlns:p14="http://schemas.microsoft.com/office/powerpoint/2010/main" val="2498028588"/>
              </p:ext>
            </p:extLst>
          </p:nvPr>
        </p:nvGraphicFramePr>
        <p:xfrm>
          <a:off x="36390" y="1520631"/>
          <a:ext cx="12119220" cy="1623786"/>
        </p:xfrm>
        <a:graphic>
          <a:graphicData uri="http://schemas.openxmlformats.org/presentationml/2006/ole">
            <mc:AlternateContent xmlns:mc="http://schemas.openxmlformats.org/markup-compatibility/2006">
              <mc:Choice xmlns:v="urn:schemas-microsoft-com:vml" Requires="v">
                <p:oleObj name="Worksheet" r:id="rId2" imgW="21960911" imgH="2933810" progId="Excel.Sheet.12">
                  <p:embed/>
                </p:oleObj>
              </mc:Choice>
              <mc:Fallback>
                <p:oleObj name="Worksheet" r:id="rId2" imgW="21960911" imgH="2933810" progId="Excel.Sheet.12">
                  <p:embed/>
                  <p:pic>
                    <p:nvPicPr>
                      <p:cNvPr id="6" name="Object 5">
                        <a:extLst>
                          <a:ext uri="{FF2B5EF4-FFF2-40B4-BE49-F238E27FC236}">
                            <a16:creationId xmlns:a16="http://schemas.microsoft.com/office/drawing/2014/main" id="{2D20F4A1-786B-472B-CCF1-5C134F228F8B}"/>
                          </a:ext>
                        </a:extLst>
                      </p:cNvPr>
                      <p:cNvPicPr/>
                      <p:nvPr/>
                    </p:nvPicPr>
                    <p:blipFill>
                      <a:blip r:embed="rId3"/>
                      <a:stretch>
                        <a:fillRect/>
                      </a:stretch>
                    </p:blipFill>
                    <p:spPr>
                      <a:xfrm>
                        <a:off x="36390" y="1520631"/>
                        <a:ext cx="12119220" cy="1623786"/>
                      </a:xfrm>
                      <a:prstGeom prst="rect">
                        <a:avLst/>
                      </a:prstGeom>
                    </p:spPr>
                  </p:pic>
                </p:oleObj>
              </mc:Fallback>
            </mc:AlternateContent>
          </a:graphicData>
        </a:graphic>
      </p:graphicFrame>
      <p:sp>
        <p:nvSpPr>
          <p:cNvPr id="11" name="Rectangle 3">
            <a:extLst>
              <a:ext uri="{FF2B5EF4-FFF2-40B4-BE49-F238E27FC236}">
                <a16:creationId xmlns:a16="http://schemas.microsoft.com/office/drawing/2014/main" id="{C9A4DA4C-4587-E1EA-D346-FD881C8618D6}"/>
              </a:ext>
            </a:extLst>
          </p:cNvPr>
          <p:cNvSpPr>
            <a:spLocks noChangeArrowheads="1"/>
          </p:cNvSpPr>
          <p:nvPr/>
        </p:nvSpPr>
        <p:spPr bwMode="auto">
          <a:xfrm>
            <a:off x="4954555" y="6251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hlinkClick r:id="rId4"/>
              </a:rPr>
              <a:t>Heat Exchangers.xlsx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687C8D3B-EFF8-E3E2-1BCB-E643AB9A5492}"/>
              </a:ext>
            </a:extLst>
          </p:cNvPr>
          <p:cNvSpPr txBox="1"/>
          <p:nvPr/>
        </p:nvSpPr>
        <p:spPr>
          <a:xfrm>
            <a:off x="1175658" y="3548779"/>
            <a:ext cx="3163078" cy="1200329"/>
          </a:xfrm>
          <a:prstGeom prst="rect">
            <a:avLst/>
          </a:prstGeom>
          <a:noFill/>
        </p:spPr>
        <p:txBody>
          <a:bodyPr wrap="square" rtlCol="0">
            <a:spAutoFit/>
          </a:bodyPr>
          <a:lstStyle/>
          <a:p>
            <a:r>
              <a:rPr lang="en-US"/>
              <a:t>Some HXs stated their max operating values and other stated what was imported into a calculator</a:t>
            </a:r>
          </a:p>
        </p:txBody>
      </p:sp>
      <p:cxnSp>
        <p:nvCxnSpPr>
          <p:cNvPr id="16" name="Straight Arrow Connector 15">
            <a:extLst>
              <a:ext uri="{FF2B5EF4-FFF2-40B4-BE49-F238E27FC236}">
                <a16:creationId xmlns:a16="http://schemas.microsoft.com/office/drawing/2014/main" id="{A4D51F78-6467-17AE-CE56-B95A427B0954}"/>
              </a:ext>
            </a:extLst>
          </p:cNvPr>
          <p:cNvCxnSpPr/>
          <p:nvPr/>
        </p:nvCxnSpPr>
        <p:spPr>
          <a:xfrm flipV="1">
            <a:off x="1436914" y="3144417"/>
            <a:ext cx="0" cy="40121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8F8671C-49AD-5E6B-448D-C739A59D3B58}"/>
              </a:ext>
            </a:extLst>
          </p:cNvPr>
          <p:cNvSpPr txBox="1"/>
          <p:nvPr/>
        </p:nvSpPr>
        <p:spPr>
          <a:xfrm>
            <a:off x="5442858" y="3894012"/>
            <a:ext cx="2730758" cy="923330"/>
          </a:xfrm>
          <a:prstGeom prst="rect">
            <a:avLst/>
          </a:prstGeom>
          <a:noFill/>
        </p:spPr>
        <p:txBody>
          <a:bodyPr wrap="square" rtlCol="0">
            <a:spAutoFit/>
          </a:bodyPr>
          <a:lstStyle/>
          <a:p>
            <a:r>
              <a:rPr lang="en-US"/>
              <a:t>Total area x pressure should be proportional to the heat transfer.</a:t>
            </a:r>
          </a:p>
        </p:txBody>
      </p:sp>
      <p:cxnSp>
        <p:nvCxnSpPr>
          <p:cNvPr id="18" name="Straight Arrow Connector 17">
            <a:extLst>
              <a:ext uri="{FF2B5EF4-FFF2-40B4-BE49-F238E27FC236}">
                <a16:creationId xmlns:a16="http://schemas.microsoft.com/office/drawing/2014/main" id="{7E121A1D-24D6-19ED-7CA8-167B74F992A7}"/>
              </a:ext>
            </a:extLst>
          </p:cNvPr>
          <p:cNvCxnSpPr>
            <a:cxnSpLocks/>
          </p:cNvCxnSpPr>
          <p:nvPr/>
        </p:nvCxnSpPr>
        <p:spPr>
          <a:xfrm flipH="1" flipV="1">
            <a:off x="4954555" y="3237722"/>
            <a:ext cx="1250302" cy="65629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1C23A5D-C6C1-83E6-399C-AE68D4F40EAD}"/>
              </a:ext>
            </a:extLst>
          </p:cNvPr>
          <p:cNvCxnSpPr>
            <a:cxnSpLocks/>
            <a:stCxn id="17" idx="0"/>
          </p:cNvCxnSpPr>
          <p:nvPr/>
        </p:nvCxnSpPr>
        <p:spPr>
          <a:xfrm flipV="1">
            <a:off x="6808237" y="3237722"/>
            <a:ext cx="1365379" cy="65629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6646A20-52E4-5C42-F9AE-C6972BD8F847}"/>
              </a:ext>
            </a:extLst>
          </p:cNvPr>
          <p:cNvSpPr txBox="1"/>
          <p:nvPr/>
        </p:nvSpPr>
        <p:spPr>
          <a:xfrm>
            <a:off x="5442857" y="5011967"/>
            <a:ext cx="3897085" cy="1477328"/>
          </a:xfrm>
          <a:prstGeom prst="rect">
            <a:avLst/>
          </a:prstGeom>
          <a:noFill/>
        </p:spPr>
        <p:txBody>
          <a:bodyPr wrap="square" rtlCol="0">
            <a:spAutoFit/>
          </a:bodyPr>
          <a:lstStyle/>
          <a:p>
            <a:r>
              <a:rPr lang="en-US" dirty="0"/>
              <a:t>As turbulence increases, so does the pressure drop and heat transfer. I expect this means that as pressure drop increases, so does the heat transfer.</a:t>
            </a:r>
          </a:p>
        </p:txBody>
      </p:sp>
      <p:sp>
        <p:nvSpPr>
          <p:cNvPr id="26" name="Rectangle 25">
            <a:extLst>
              <a:ext uri="{FF2B5EF4-FFF2-40B4-BE49-F238E27FC236}">
                <a16:creationId xmlns:a16="http://schemas.microsoft.com/office/drawing/2014/main" id="{8A740596-B104-1205-AD3E-4AFA0AA39357}"/>
              </a:ext>
            </a:extLst>
          </p:cNvPr>
          <p:cNvSpPr/>
          <p:nvPr/>
        </p:nvSpPr>
        <p:spPr>
          <a:xfrm>
            <a:off x="1875453" y="1791478"/>
            <a:ext cx="10280157" cy="173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8270C71-2218-96CF-9929-94929F382560}"/>
              </a:ext>
            </a:extLst>
          </p:cNvPr>
          <p:cNvSpPr/>
          <p:nvPr/>
        </p:nvSpPr>
        <p:spPr>
          <a:xfrm>
            <a:off x="1875452" y="2405543"/>
            <a:ext cx="10280157" cy="173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20797A7-2E88-1E33-5515-0B0DA66DE55D}"/>
              </a:ext>
            </a:extLst>
          </p:cNvPr>
          <p:cNvSpPr/>
          <p:nvPr/>
        </p:nvSpPr>
        <p:spPr>
          <a:xfrm>
            <a:off x="1875451" y="2877720"/>
            <a:ext cx="10280157" cy="173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6010D9F-6F3D-79A8-BCC7-A5DA4C974EAC}"/>
              </a:ext>
            </a:extLst>
          </p:cNvPr>
          <p:cNvSpPr/>
          <p:nvPr/>
        </p:nvSpPr>
        <p:spPr>
          <a:xfrm>
            <a:off x="1539551" y="1780392"/>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30" name="Oval 29">
            <a:extLst>
              <a:ext uri="{FF2B5EF4-FFF2-40B4-BE49-F238E27FC236}">
                <a16:creationId xmlns:a16="http://schemas.microsoft.com/office/drawing/2014/main" id="{3B66C8C7-4F61-8684-11AD-E6D7DDFD298E}"/>
              </a:ext>
            </a:extLst>
          </p:cNvPr>
          <p:cNvSpPr/>
          <p:nvPr/>
        </p:nvSpPr>
        <p:spPr>
          <a:xfrm>
            <a:off x="1539551" y="2378043"/>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31" name="Oval 30">
            <a:extLst>
              <a:ext uri="{FF2B5EF4-FFF2-40B4-BE49-F238E27FC236}">
                <a16:creationId xmlns:a16="http://schemas.microsoft.com/office/drawing/2014/main" id="{3519ABF2-5B5D-1250-F503-7E8E17528B30}"/>
              </a:ext>
            </a:extLst>
          </p:cNvPr>
          <p:cNvSpPr/>
          <p:nvPr/>
        </p:nvSpPr>
        <p:spPr>
          <a:xfrm>
            <a:off x="1539551" y="2828467"/>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32" name="Rectangle: Rounded Corners 31">
            <a:extLst>
              <a:ext uri="{FF2B5EF4-FFF2-40B4-BE49-F238E27FC236}">
                <a16:creationId xmlns:a16="http://schemas.microsoft.com/office/drawing/2014/main" id="{2116F2BC-FF0A-DBAC-247D-C4D8D014FCD4}"/>
              </a:ext>
            </a:extLst>
          </p:cNvPr>
          <p:cNvSpPr/>
          <p:nvPr/>
        </p:nvSpPr>
        <p:spPr>
          <a:xfrm>
            <a:off x="381000" y="4749108"/>
            <a:ext cx="4844143" cy="20171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arenR"/>
            </a:pPr>
            <a:r>
              <a:rPr lang="en-US"/>
              <a:t>Pressure drop: 30 kPa</a:t>
            </a:r>
          </a:p>
          <a:p>
            <a:pPr marL="342900" indent="-342900">
              <a:buAutoNum type="arabicParenR"/>
            </a:pPr>
            <a:r>
              <a:rPr lang="en-US"/>
              <a:t>Pressure drop: 7 kPa</a:t>
            </a:r>
          </a:p>
          <a:p>
            <a:pPr marL="342900" indent="-342900">
              <a:buAutoNum type="arabicParenR"/>
            </a:pPr>
            <a:r>
              <a:rPr lang="en-US"/>
              <a:t>Pressure drop: 20 kPa</a:t>
            </a:r>
          </a:p>
          <a:p>
            <a:pPr marL="342900" indent="-342900">
              <a:buAutoNum type="arabicParenR"/>
            </a:pPr>
            <a:endParaRPr lang="en-US"/>
          </a:p>
          <a:p>
            <a:r>
              <a:rPr lang="en-US"/>
              <a:t>** The heat transfer of 26.888 kW is considerable conservative on its own.</a:t>
            </a:r>
          </a:p>
        </p:txBody>
      </p:sp>
    </p:spTree>
    <p:extLst>
      <p:ext uri="{BB962C8B-B14F-4D97-AF65-F5344CB8AC3E}">
        <p14:creationId xmlns:p14="http://schemas.microsoft.com/office/powerpoint/2010/main" val="3136085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ED2B8-1CEE-2D07-E341-9712367119D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7C5AC72-0AA5-D5B3-7436-6805A17B537B}"/>
              </a:ext>
            </a:extLst>
          </p:cNvPr>
          <p:cNvSpPr txBox="1"/>
          <p:nvPr/>
        </p:nvSpPr>
        <p:spPr>
          <a:xfrm>
            <a:off x="105703" y="994412"/>
            <a:ext cx="2600872" cy="3554819"/>
          </a:xfrm>
          <a:prstGeom prst="rect">
            <a:avLst/>
          </a:prstGeom>
          <a:noFill/>
        </p:spPr>
        <p:txBody>
          <a:bodyPr wrap="square" rtlCol="0">
            <a:spAutoFit/>
          </a:bodyPr>
          <a:lstStyle/>
          <a:p>
            <a:pPr lvl="0">
              <a:defRPr/>
            </a:pPr>
            <a:r>
              <a:rPr kumimoji="0" lang="en-US" sz="1500" b="0" i="0" u="none" strike="noStrike" kern="1200" cap="none" spc="0" normalizeH="0" baseline="0" noProof="0">
                <a:ln>
                  <a:noFill/>
                </a:ln>
                <a:solidFill>
                  <a:srgbClr val="000000"/>
                </a:solidFill>
                <a:effectLst/>
                <a:uLnTx/>
                <a:uFillTx/>
                <a:latin typeface="Arial" panose="020B0604020202020204"/>
                <a:ea typeface="+mn-ea"/>
                <a:cs typeface="+mn-cs"/>
              </a:rPr>
              <a:t>Assumptions:</a:t>
            </a:r>
          </a:p>
          <a:p>
            <a:pPr marL="285750" lvl="0" indent="-285750">
              <a:buFont typeface="Arial" panose="020B0604020202020204" pitchFamily="34" charset="0"/>
              <a:buChar char="•"/>
              <a:defRPr/>
            </a:pPr>
            <a:r>
              <a:rPr kumimoji="0" lang="en-US" sz="1500" b="0" i="0" u="none" strike="noStrike" kern="1200" cap="none" spc="0" normalizeH="0" baseline="0" noProof="0">
                <a:ln>
                  <a:noFill/>
                </a:ln>
                <a:solidFill>
                  <a:srgbClr val="000000"/>
                </a:solidFill>
                <a:effectLst/>
                <a:uLnTx/>
                <a:uFillTx/>
                <a:latin typeface="Arial" panose="020B0604020202020204"/>
                <a:ea typeface="+mn-ea"/>
                <a:cs typeface="+mn-cs"/>
              </a:rPr>
              <a:t>0% LTR</a:t>
            </a:r>
          </a:p>
          <a:p>
            <a:pPr marL="285750" lvl="0" indent="-285750">
              <a:buFont typeface="Arial" panose="020B0604020202020204" pitchFamily="34" charset="0"/>
              <a:buChar char="•"/>
              <a:defRPr/>
            </a:pPr>
            <a:r>
              <a:rPr lang="en-US" sz="1500">
                <a:solidFill>
                  <a:srgbClr val="000000"/>
                </a:solidFill>
                <a:latin typeface="Arial" panose="020B0604020202020204"/>
              </a:rPr>
              <a:t>Temp</a:t>
            </a:r>
            <a:endParaRPr kumimoji="0" lang="en-US" sz="1500" b="0" i="0" u="none" strike="noStrike" kern="1200" cap="none" spc="0" normalizeH="0" baseline="0" noProof="0">
              <a:ln>
                <a:noFill/>
              </a:ln>
              <a:solidFill>
                <a:srgbClr val="000000"/>
              </a:solidFill>
              <a:effectLst/>
              <a:uLnTx/>
              <a:uFillTx/>
              <a:latin typeface="Arial" panose="020B0604020202020204"/>
              <a:ea typeface="+mn-ea"/>
              <a:cs typeface="+mn-cs"/>
            </a:endParaRPr>
          </a:p>
          <a:p>
            <a:pPr marL="742950" lvl="1" indent="-285750">
              <a:buFont typeface="Arial" panose="020B0604020202020204" pitchFamily="34" charset="0"/>
              <a:buChar char="•"/>
              <a:defRPr/>
            </a:pPr>
            <a:r>
              <a:rPr lang="en-US" sz="1500">
                <a:solidFill>
                  <a:srgbClr val="000000"/>
                </a:solidFill>
              </a:rPr>
              <a:t>60 ⁰C (GM Parts)</a:t>
            </a:r>
            <a:endParaRPr lang="en-US" sz="1500">
              <a:solidFill>
                <a:srgbClr val="000000"/>
              </a:solidFill>
              <a:latin typeface="Arial" panose="020B0604020202020204"/>
            </a:endParaRPr>
          </a:p>
          <a:p>
            <a:pPr marL="742950" lvl="1" indent="-285750">
              <a:buFont typeface="Arial" panose="020B0604020202020204" pitchFamily="34" charset="0"/>
              <a:buChar char="•"/>
              <a:defRPr/>
            </a:pPr>
            <a:r>
              <a:rPr lang="en-US" sz="1500">
                <a:solidFill>
                  <a:srgbClr val="000000"/>
                </a:solidFill>
                <a:latin typeface="Arial" panose="020B0604020202020204"/>
              </a:rPr>
              <a:t>20 </a:t>
            </a:r>
            <a:r>
              <a:rPr lang="en-US" sz="1500">
                <a:solidFill>
                  <a:srgbClr val="000000"/>
                </a:solidFill>
              </a:rPr>
              <a:t>⁰C (FDU + RDU) this gives us a conservative estimate; as temperature increases pressure decreases</a:t>
            </a:r>
          </a:p>
          <a:p>
            <a:pPr marL="285750" lvl="0" indent="-285750">
              <a:buFont typeface="Arial" panose="020B0604020202020204" pitchFamily="34" charset="0"/>
              <a:buChar char="•"/>
              <a:defRPr/>
            </a:pPr>
            <a:r>
              <a:rPr lang="en-US" sz="1500">
                <a:solidFill>
                  <a:srgbClr val="000000"/>
                </a:solidFill>
              </a:rPr>
              <a:t>Flow (Ideal)</a:t>
            </a:r>
          </a:p>
          <a:p>
            <a:pPr marL="742950" lvl="1" indent="-285750">
              <a:buFont typeface="Arial" panose="020B0604020202020204" pitchFamily="34" charset="0"/>
              <a:buChar char="•"/>
              <a:defRPr/>
            </a:pPr>
            <a:r>
              <a:rPr kumimoji="0" lang="en-US" sz="1500" b="0" i="0" u="none" strike="noStrike" kern="1200" cap="none" spc="0" normalizeH="0" baseline="0" noProof="0">
                <a:ln>
                  <a:noFill/>
                </a:ln>
                <a:solidFill>
                  <a:srgbClr val="000000"/>
                </a:solidFill>
                <a:effectLst/>
                <a:uLnTx/>
                <a:uFillTx/>
                <a:latin typeface="Arial" panose="020B0604020202020204"/>
                <a:ea typeface="+mn-ea"/>
                <a:cs typeface="+mn-cs"/>
              </a:rPr>
              <a:t>20 L/min (system)</a:t>
            </a:r>
          </a:p>
          <a:p>
            <a:pPr marL="742950" lvl="1" indent="-285750">
              <a:buFont typeface="Arial" panose="020B0604020202020204" pitchFamily="34" charset="0"/>
              <a:buChar char="•"/>
              <a:defRPr/>
            </a:pPr>
            <a:r>
              <a:rPr lang="en-US" sz="1500">
                <a:solidFill>
                  <a:srgbClr val="000000"/>
                </a:solidFill>
                <a:latin typeface="Arial" panose="020B0604020202020204"/>
              </a:rPr>
              <a:t>10 L/min (FDU)</a:t>
            </a:r>
          </a:p>
          <a:p>
            <a:pPr marL="742950" lvl="1" indent="-285750">
              <a:buFont typeface="Arial" panose="020B0604020202020204" pitchFamily="34" charset="0"/>
              <a:buChar char="•"/>
              <a:defRPr/>
            </a:pPr>
            <a:r>
              <a:rPr kumimoji="0" lang="en-US" sz="1500" b="0" i="0" u="none" strike="noStrike" kern="1200" cap="none" spc="0" normalizeH="0" baseline="0" noProof="0">
                <a:ln>
                  <a:noFill/>
                </a:ln>
                <a:solidFill>
                  <a:srgbClr val="000000"/>
                </a:solidFill>
                <a:effectLst/>
                <a:uLnTx/>
                <a:uFillTx/>
                <a:latin typeface="Arial" panose="020B0604020202020204"/>
                <a:ea typeface="+mn-ea"/>
                <a:cs typeface="+mn-cs"/>
              </a:rPr>
              <a:t>10 L/min (RDU)</a:t>
            </a:r>
          </a:p>
        </p:txBody>
      </p:sp>
      <p:sp>
        <p:nvSpPr>
          <p:cNvPr id="3" name="Title 2">
            <a:extLst>
              <a:ext uri="{FF2B5EF4-FFF2-40B4-BE49-F238E27FC236}">
                <a16:creationId xmlns:a16="http://schemas.microsoft.com/office/drawing/2014/main" id="{EC2BC705-4C29-0A46-684D-C8BEBDCB30A8}"/>
              </a:ext>
            </a:extLst>
          </p:cNvPr>
          <p:cNvSpPr>
            <a:spLocks noGrp="1"/>
          </p:cNvSpPr>
          <p:nvPr>
            <p:ph type="title"/>
          </p:nvPr>
        </p:nvSpPr>
        <p:spPr/>
        <p:txBody>
          <a:bodyPr/>
          <a:lstStyle/>
          <a:p>
            <a:r>
              <a:rPr lang="en-US">
                <a:latin typeface="Roboto"/>
                <a:ea typeface="Roboto"/>
                <a:cs typeface="Roboto"/>
              </a:rPr>
              <a:t>System Architecture: Current</a:t>
            </a:r>
            <a:endParaRPr lang="en-US"/>
          </a:p>
        </p:txBody>
      </p:sp>
      <p:grpSp>
        <p:nvGrpSpPr>
          <p:cNvPr id="45" name="Group 44">
            <a:extLst>
              <a:ext uri="{FF2B5EF4-FFF2-40B4-BE49-F238E27FC236}">
                <a16:creationId xmlns:a16="http://schemas.microsoft.com/office/drawing/2014/main" id="{4AB69287-5181-5F06-5890-1396D99A9777}"/>
              </a:ext>
            </a:extLst>
          </p:cNvPr>
          <p:cNvGrpSpPr/>
          <p:nvPr/>
        </p:nvGrpSpPr>
        <p:grpSpPr>
          <a:xfrm>
            <a:off x="2512012" y="4678358"/>
            <a:ext cx="357612" cy="361086"/>
            <a:chOff x="4543983" y="3138567"/>
            <a:chExt cx="357612" cy="361086"/>
          </a:xfrm>
        </p:grpSpPr>
        <p:sp>
          <p:nvSpPr>
            <p:cNvPr id="41" name="Isosceles Triangle 40">
              <a:extLst>
                <a:ext uri="{FF2B5EF4-FFF2-40B4-BE49-F238E27FC236}">
                  <a16:creationId xmlns:a16="http://schemas.microsoft.com/office/drawing/2014/main" id="{66BBEA50-E3B2-895A-F174-F876EA3131DD}"/>
                </a:ext>
              </a:extLst>
            </p:cNvPr>
            <p:cNvSpPr/>
            <p:nvPr/>
          </p:nvSpPr>
          <p:spPr>
            <a:xfrm rot="5400000">
              <a:off x="4546900" y="3234975"/>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Isosceles Triangle 41">
              <a:extLst>
                <a:ext uri="{FF2B5EF4-FFF2-40B4-BE49-F238E27FC236}">
                  <a16:creationId xmlns:a16="http://schemas.microsoft.com/office/drawing/2014/main" id="{F53B4E39-4E1F-A3C2-A116-D99DC445497D}"/>
                </a:ext>
              </a:extLst>
            </p:cNvPr>
            <p:cNvSpPr/>
            <p:nvPr/>
          </p:nvSpPr>
          <p:spPr>
            <a:xfrm rot="16200000" flipH="1">
              <a:off x="4723969" y="3239358"/>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3" name="Isosceles Triangle 42">
              <a:extLst>
                <a:ext uri="{FF2B5EF4-FFF2-40B4-BE49-F238E27FC236}">
                  <a16:creationId xmlns:a16="http://schemas.microsoft.com/office/drawing/2014/main" id="{CC315670-0FE5-96B5-6085-45E6AF4424DD}"/>
                </a:ext>
              </a:extLst>
            </p:cNvPr>
            <p:cNvSpPr/>
            <p:nvPr/>
          </p:nvSpPr>
          <p:spPr>
            <a:xfrm>
              <a:off x="4635374" y="3319110"/>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Isosceles Triangle 43">
              <a:extLst>
                <a:ext uri="{FF2B5EF4-FFF2-40B4-BE49-F238E27FC236}">
                  <a16:creationId xmlns:a16="http://schemas.microsoft.com/office/drawing/2014/main" id="{3FCB864C-4D3C-23B2-E716-31570E1A1582}"/>
                </a:ext>
              </a:extLst>
            </p:cNvPr>
            <p:cNvSpPr/>
            <p:nvPr/>
          </p:nvSpPr>
          <p:spPr>
            <a:xfrm flipV="1">
              <a:off x="4633272" y="3138567"/>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cxnSp>
        <p:nvCxnSpPr>
          <p:cNvPr id="61" name="Connector: Elbow 60">
            <a:extLst>
              <a:ext uri="{FF2B5EF4-FFF2-40B4-BE49-F238E27FC236}">
                <a16:creationId xmlns:a16="http://schemas.microsoft.com/office/drawing/2014/main" id="{A6C335A0-D830-93BF-07E6-423D46740538}"/>
              </a:ext>
            </a:extLst>
          </p:cNvPr>
          <p:cNvCxnSpPr>
            <a:cxnSpLocks/>
          </p:cNvCxnSpPr>
          <p:nvPr/>
        </p:nvCxnSpPr>
        <p:spPr>
          <a:xfrm flipV="1">
            <a:off x="2869624" y="4541534"/>
            <a:ext cx="4891440" cy="338900"/>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70DA2B10-9D54-9603-87E5-CC732D324B0E}"/>
              </a:ext>
            </a:extLst>
          </p:cNvPr>
          <p:cNvSpPr txBox="1"/>
          <p:nvPr/>
        </p:nvSpPr>
        <p:spPr>
          <a:xfrm>
            <a:off x="5047100" y="1991605"/>
            <a:ext cx="803753"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RDU</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63" name="TextBox 62">
            <a:extLst>
              <a:ext uri="{FF2B5EF4-FFF2-40B4-BE49-F238E27FC236}">
                <a16:creationId xmlns:a16="http://schemas.microsoft.com/office/drawing/2014/main" id="{477B7B3A-F904-0BF7-9C35-CFA0C8F478A5}"/>
              </a:ext>
            </a:extLst>
          </p:cNvPr>
          <p:cNvSpPr txBox="1"/>
          <p:nvPr/>
        </p:nvSpPr>
        <p:spPr>
          <a:xfrm>
            <a:off x="5037838" y="2860727"/>
            <a:ext cx="803753"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FDU</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65" name="TextBox 64">
            <a:extLst>
              <a:ext uri="{FF2B5EF4-FFF2-40B4-BE49-F238E27FC236}">
                <a16:creationId xmlns:a16="http://schemas.microsoft.com/office/drawing/2014/main" id="{ACBC75E8-E9D0-7FCC-DE63-12BE59E95209}"/>
              </a:ext>
            </a:extLst>
          </p:cNvPr>
          <p:cNvSpPr txBox="1"/>
          <p:nvPr/>
        </p:nvSpPr>
        <p:spPr>
          <a:xfrm>
            <a:off x="7359188" y="4161189"/>
            <a:ext cx="803753"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IPE</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cxnSp>
        <p:nvCxnSpPr>
          <p:cNvPr id="69" name="Connector: Elbow 68">
            <a:extLst>
              <a:ext uri="{FF2B5EF4-FFF2-40B4-BE49-F238E27FC236}">
                <a16:creationId xmlns:a16="http://schemas.microsoft.com/office/drawing/2014/main" id="{6FEED4A5-E56A-9C19-BB89-75A48B2222D2}"/>
              </a:ext>
            </a:extLst>
          </p:cNvPr>
          <p:cNvCxnSpPr>
            <a:cxnSpLocks/>
            <a:stCxn id="65" idx="0"/>
            <a:endCxn id="62" idx="3"/>
          </p:cNvCxnSpPr>
          <p:nvPr/>
        </p:nvCxnSpPr>
        <p:spPr>
          <a:xfrm rot="16200000" flipV="1">
            <a:off x="5813500" y="2213624"/>
            <a:ext cx="1984918" cy="1910212"/>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FC9B9D7B-5CC2-0BC6-B492-EFCD5BBBED92}"/>
              </a:ext>
            </a:extLst>
          </p:cNvPr>
          <p:cNvCxnSpPr>
            <a:cxnSpLocks/>
          </p:cNvCxnSpPr>
          <p:nvPr/>
        </p:nvCxnSpPr>
        <p:spPr>
          <a:xfrm flipH="1">
            <a:off x="5841591" y="3061281"/>
            <a:ext cx="888029"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BA2AF404-174F-CFFE-4ADD-6D7E1F3CEE5E}"/>
              </a:ext>
            </a:extLst>
          </p:cNvPr>
          <p:cNvCxnSpPr>
            <a:cxnSpLocks/>
            <a:stCxn id="62" idx="1"/>
          </p:cNvCxnSpPr>
          <p:nvPr/>
        </p:nvCxnSpPr>
        <p:spPr>
          <a:xfrm rot="10800000" flipV="1">
            <a:off x="2688180" y="2176271"/>
            <a:ext cx="2358921" cy="590704"/>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41C04689-55E4-0A04-BC5D-262D8B33E606}"/>
              </a:ext>
            </a:extLst>
          </p:cNvPr>
          <p:cNvGrpSpPr/>
          <p:nvPr/>
        </p:nvGrpSpPr>
        <p:grpSpPr>
          <a:xfrm>
            <a:off x="2600824" y="2766975"/>
            <a:ext cx="268323" cy="361086"/>
            <a:chOff x="4633272" y="3138567"/>
            <a:chExt cx="268323" cy="361086"/>
          </a:xfrm>
        </p:grpSpPr>
        <p:sp>
          <p:nvSpPr>
            <p:cNvPr id="85" name="Isosceles Triangle 84">
              <a:extLst>
                <a:ext uri="{FF2B5EF4-FFF2-40B4-BE49-F238E27FC236}">
                  <a16:creationId xmlns:a16="http://schemas.microsoft.com/office/drawing/2014/main" id="{9443C92D-8671-95A4-6FAF-BC52B0B2D236}"/>
                </a:ext>
              </a:extLst>
            </p:cNvPr>
            <p:cNvSpPr/>
            <p:nvPr/>
          </p:nvSpPr>
          <p:spPr>
            <a:xfrm rot="16200000" flipH="1">
              <a:off x="4723969" y="3239358"/>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6" name="Isosceles Triangle 85">
              <a:extLst>
                <a:ext uri="{FF2B5EF4-FFF2-40B4-BE49-F238E27FC236}">
                  <a16:creationId xmlns:a16="http://schemas.microsoft.com/office/drawing/2014/main" id="{EB72551E-6AC8-FE35-B65B-DC5AC63FC157}"/>
                </a:ext>
              </a:extLst>
            </p:cNvPr>
            <p:cNvSpPr/>
            <p:nvPr/>
          </p:nvSpPr>
          <p:spPr>
            <a:xfrm>
              <a:off x="4635374" y="3319110"/>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7" name="Isosceles Triangle 86">
              <a:extLst>
                <a:ext uri="{FF2B5EF4-FFF2-40B4-BE49-F238E27FC236}">
                  <a16:creationId xmlns:a16="http://schemas.microsoft.com/office/drawing/2014/main" id="{D7F19E54-51CD-5DFE-DC89-A7C9748A105F}"/>
                </a:ext>
              </a:extLst>
            </p:cNvPr>
            <p:cNvSpPr/>
            <p:nvPr/>
          </p:nvSpPr>
          <p:spPr>
            <a:xfrm flipV="1">
              <a:off x="4633272" y="3138567"/>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04" name="TextBox 103">
            <a:extLst>
              <a:ext uri="{FF2B5EF4-FFF2-40B4-BE49-F238E27FC236}">
                <a16:creationId xmlns:a16="http://schemas.microsoft.com/office/drawing/2014/main" id="{7AFF7C6F-6062-3744-26A0-CA7E21B86257}"/>
              </a:ext>
            </a:extLst>
          </p:cNvPr>
          <p:cNvSpPr txBox="1"/>
          <p:nvPr/>
        </p:nvSpPr>
        <p:spPr>
          <a:xfrm>
            <a:off x="3120978" y="3294068"/>
            <a:ext cx="1114488"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Radiator</a:t>
            </a:r>
          </a:p>
        </p:txBody>
      </p:sp>
      <p:cxnSp>
        <p:nvCxnSpPr>
          <p:cNvPr id="105" name="Connector: Elbow 104">
            <a:extLst>
              <a:ext uri="{FF2B5EF4-FFF2-40B4-BE49-F238E27FC236}">
                <a16:creationId xmlns:a16="http://schemas.microsoft.com/office/drawing/2014/main" id="{2E854DAD-3FE6-9A67-121C-AD204CB4473A}"/>
              </a:ext>
            </a:extLst>
          </p:cNvPr>
          <p:cNvCxnSpPr>
            <a:cxnSpLocks/>
            <a:stCxn id="63" idx="1"/>
          </p:cNvCxnSpPr>
          <p:nvPr/>
        </p:nvCxnSpPr>
        <p:spPr>
          <a:xfrm rot="10800000">
            <a:off x="4559762" y="2194059"/>
            <a:ext cx="478076" cy="851335"/>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Connector: Elbow 110">
            <a:extLst>
              <a:ext uri="{FF2B5EF4-FFF2-40B4-BE49-F238E27FC236}">
                <a16:creationId xmlns:a16="http://schemas.microsoft.com/office/drawing/2014/main" id="{330C6930-4D72-28BA-3C20-CBAB1C2C0AD0}"/>
              </a:ext>
            </a:extLst>
          </p:cNvPr>
          <p:cNvCxnSpPr>
            <a:cxnSpLocks/>
            <a:endCxn id="104" idx="0"/>
          </p:cNvCxnSpPr>
          <p:nvPr/>
        </p:nvCxnSpPr>
        <p:spPr>
          <a:xfrm>
            <a:off x="2869148" y="2958038"/>
            <a:ext cx="809074" cy="336030"/>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0F317F19-5969-93DC-93DE-D376B3E0CBC2}"/>
              </a:ext>
            </a:extLst>
          </p:cNvPr>
          <p:cNvCxnSpPr>
            <a:cxnSpLocks/>
          </p:cNvCxnSpPr>
          <p:nvPr/>
        </p:nvCxnSpPr>
        <p:spPr>
          <a:xfrm rot="5400000">
            <a:off x="1914321" y="3902397"/>
            <a:ext cx="1550297" cy="1625"/>
          </a:xfrm>
          <a:prstGeom prst="bentConnector3">
            <a:avLst>
              <a:gd name="adj1" fmla="val 50000"/>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Connector: Elbow 116">
            <a:extLst>
              <a:ext uri="{FF2B5EF4-FFF2-40B4-BE49-F238E27FC236}">
                <a16:creationId xmlns:a16="http://schemas.microsoft.com/office/drawing/2014/main" id="{2F8180A8-D6F2-9F0F-D59F-ED5537D8D9B2}"/>
              </a:ext>
            </a:extLst>
          </p:cNvPr>
          <p:cNvCxnSpPr>
            <a:cxnSpLocks/>
            <a:stCxn id="104" idx="2"/>
          </p:cNvCxnSpPr>
          <p:nvPr/>
        </p:nvCxnSpPr>
        <p:spPr>
          <a:xfrm rot="5400000">
            <a:off x="3062935" y="3288643"/>
            <a:ext cx="240531" cy="990044"/>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3" name="Arrow: Curved Up 122">
            <a:extLst>
              <a:ext uri="{FF2B5EF4-FFF2-40B4-BE49-F238E27FC236}">
                <a16:creationId xmlns:a16="http://schemas.microsoft.com/office/drawing/2014/main" id="{D42C99DC-D6D6-25F8-07CF-3342C5B88BA0}"/>
              </a:ext>
            </a:extLst>
          </p:cNvPr>
          <p:cNvSpPr/>
          <p:nvPr/>
        </p:nvSpPr>
        <p:spPr>
          <a:xfrm rot="3594505">
            <a:off x="2752754" y="4451965"/>
            <a:ext cx="574569" cy="210965"/>
          </a:xfrm>
          <a:prstGeom prst="curvedUp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0000"/>
              </a:solidFill>
              <a:effectLst/>
              <a:uLnTx/>
              <a:uFillTx/>
              <a:latin typeface="Arial" panose="020B0604020202020204"/>
              <a:ea typeface="+mn-ea"/>
              <a:cs typeface="+mn-cs"/>
            </a:endParaRPr>
          </a:p>
        </p:txBody>
      </p:sp>
      <p:sp>
        <p:nvSpPr>
          <p:cNvPr id="150" name="TextBox 149">
            <a:extLst>
              <a:ext uri="{FF2B5EF4-FFF2-40B4-BE49-F238E27FC236}">
                <a16:creationId xmlns:a16="http://schemas.microsoft.com/office/drawing/2014/main" id="{628C5893-3528-DE80-1F4E-BA5D2533C19C}"/>
              </a:ext>
            </a:extLst>
          </p:cNvPr>
          <p:cNvSpPr txBox="1"/>
          <p:nvPr/>
        </p:nvSpPr>
        <p:spPr>
          <a:xfrm>
            <a:off x="3510328" y="4165354"/>
            <a:ext cx="960148" cy="461665"/>
          </a:xfrm>
          <a:prstGeom prst="rect">
            <a:avLst/>
          </a:prstGeom>
          <a:noFill/>
          <a:ln w="19050">
            <a:solidFill>
              <a:srgbClr val="0070C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a:cs typeface="Aria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Split Loop Direction</a:t>
            </a:r>
          </a:p>
        </p:txBody>
      </p:sp>
      <p:cxnSp>
        <p:nvCxnSpPr>
          <p:cNvPr id="154" name="Straight Arrow Connector 153">
            <a:extLst>
              <a:ext uri="{FF2B5EF4-FFF2-40B4-BE49-F238E27FC236}">
                <a16:creationId xmlns:a16="http://schemas.microsoft.com/office/drawing/2014/main" id="{81F6E622-F070-4401-3EB2-060FAC4E3A44}"/>
              </a:ext>
            </a:extLst>
          </p:cNvPr>
          <p:cNvCxnSpPr>
            <a:cxnSpLocks/>
            <a:stCxn id="150" idx="1"/>
            <a:endCxn id="123" idx="3"/>
          </p:cNvCxnSpPr>
          <p:nvPr/>
        </p:nvCxnSpPr>
        <p:spPr>
          <a:xfrm flipH="1">
            <a:off x="2942161" y="4396187"/>
            <a:ext cx="568167" cy="202739"/>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9DB6F82-E494-F2DE-F80C-4E297C651098}"/>
              </a:ext>
            </a:extLst>
          </p:cNvPr>
          <p:cNvSpPr txBox="1"/>
          <p:nvPr/>
        </p:nvSpPr>
        <p:spPr>
          <a:xfrm>
            <a:off x="4475492" y="4671587"/>
            <a:ext cx="803753" cy="369332"/>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Pump</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4273205D-2C38-ADC0-A3F7-8FDBEC7F5CFC}"/>
              </a:ext>
            </a:extLst>
          </p:cNvPr>
          <p:cNvSpPr txBox="1"/>
          <p:nvPr/>
        </p:nvSpPr>
        <p:spPr>
          <a:xfrm>
            <a:off x="6167281" y="2084290"/>
            <a:ext cx="803753" cy="246221"/>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Flowmeter</a:t>
            </a:r>
            <a:endParaRPr kumimoji="0" lang="en-US" sz="10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A8D362A7-1C5E-7F58-C42D-74CCD3865551}"/>
              </a:ext>
            </a:extLst>
          </p:cNvPr>
          <p:cNvSpPr txBox="1"/>
          <p:nvPr/>
        </p:nvSpPr>
        <p:spPr>
          <a:xfrm>
            <a:off x="6091694" y="2942821"/>
            <a:ext cx="803753" cy="246221"/>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Flowmeter</a:t>
            </a:r>
            <a:endParaRPr kumimoji="0" lang="en-US" sz="10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cxnSp>
        <p:nvCxnSpPr>
          <p:cNvPr id="25" name="Straight Arrow Connector 24">
            <a:extLst>
              <a:ext uri="{FF2B5EF4-FFF2-40B4-BE49-F238E27FC236}">
                <a16:creationId xmlns:a16="http://schemas.microsoft.com/office/drawing/2014/main" id="{53B20757-420F-2E49-D921-312037C3DA2F}"/>
              </a:ext>
            </a:extLst>
          </p:cNvPr>
          <p:cNvCxnSpPr>
            <a:cxnSpLocks/>
            <a:endCxn id="8" idx="3"/>
          </p:cNvCxnSpPr>
          <p:nvPr/>
        </p:nvCxnSpPr>
        <p:spPr>
          <a:xfrm flipH="1">
            <a:off x="6895447" y="3065932"/>
            <a:ext cx="87488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4D3B1D0-2265-CDD2-48BE-E83769D68511}"/>
              </a:ext>
            </a:extLst>
          </p:cNvPr>
          <p:cNvSpPr txBox="1"/>
          <p:nvPr/>
        </p:nvSpPr>
        <p:spPr>
          <a:xfrm>
            <a:off x="4526857" y="4330639"/>
            <a:ext cx="7232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80 W</a:t>
            </a:r>
          </a:p>
        </p:txBody>
      </p:sp>
      <p:sp>
        <p:nvSpPr>
          <p:cNvPr id="6" name="TextBox 5">
            <a:extLst>
              <a:ext uri="{FF2B5EF4-FFF2-40B4-BE49-F238E27FC236}">
                <a16:creationId xmlns:a16="http://schemas.microsoft.com/office/drawing/2014/main" id="{E625ED0C-DBEF-0A6C-0B59-38CE2EFF1927}"/>
              </a:ext>
            </a:extLst>
          </p:cNvPr>
          <p:cNvSpPr txBox="1"/>
          <p:nvPr/>
        </p:nvSpPr>
        <p:spPr>
          <a:xfrm>
            <a:off x="6064069" y="1700586"/>
            <a:ext cx="17770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∆P = 6.895 kPa</a:t>
            </a:r>
          </a:p>
        </p:txBody>
      </p:sp>
      <p:sp>
        <p:nvSpPr>
          <p:cNvPr id="7" name="TextBox 6">
            <a:extLst>
              <a:ext uri="{FF2B5EF4-FFF2-40B4-BE49-F238E27FC236}">
                <a16:creationId xmlns:a16="http://schemas.microsoft.com/office/drawing/2014/main" id="{039D5465-F7DA-9FC1-FF36-45C9578D2EAE}"/>
              </a:ext>
            </a:extLst>
          </p:cNvPr>
          <p:cNvSpPr txBox="1"/>
          <p:nvPr/>
        </p:nvSpPr>
        <p:spPr>
          <a:xfrm>
            <a:off x="6006902" y="3209820"/>
            <a:ext cx="17770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∆P = 6.895 kPa</a:t>
            </a:r>
          </a:p>
        </p:txBody>
      </p:sp>
      <p:sp>
        <p:nvSpPr>
          <p:cNvPr id="9" name="TextBox 8">
            <a:extLst>
              <a:ext uri="{FF2B5EF4-FFF2-40B4-BE49-F238E27FC236}">
                <a16:creationId xmlns:a16="http://schemas.microsoft.com/office/drawing/2014/main" id="{9C557CAC-4704-699A-E5B0-1FB44E316784}"/>
              </a:ext>
            </a:extLst>
          </p:cNvPr>
          <p:cNvSpPr txBox="1"/>
          <p:nvPr/>
        </p:nvSpPr>
        <p:spPr>
          <a:xfrm>
            <a:off x="4244728" y="3241903"/>
            <a:ext cx="16488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∆P = 24.7 kPa</a:t>
            </a:r>
          </a:p>
        </p:txBody>
      </p:sp>
      <p:sp>
        <p:nvSpPr>
          <p:cNvPr id="10" name="TextBox 9">
            <a:extLst>
              <a:ext uri="{FF2B5EF4-FFF2-40B4-BE49-F238E27FC236}">
                <a16:creationId xmlns:a16="http://schemas.microsoft.com/office/drawing/2014/main" id="{12434CE0-2D9A-F558-E3D7-4AB38BB8B9F8}"/>
              </a:ext>
            </a:extLst>
          </p:cNvPr>
          <p:cNvSpPr txBox="1"/>
          <p:nvPr/>
        </p:nvSpPr>
        <p:spPr>
          <a:xfrm>
            <a:off x="4229812" y="1621075"/>
            <a:ext cx="16488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∆P = 24.3 kPa</a:t>
            </a:r>
          </a:p>
        </p:txBody>
      </p:sp>
      <p:sp>
        <p:nvSpPr>
          <p:cNvPr id="12" name="TextBox 11">
            <a:extLst>
              <a:ext uri="{FF2B5EF4-FFF2-40B4-BE49-F238E27FC236}">
                <a16:creationId xmlns:a16="http://schemas.microsoft.com/office/drawing/2014/main" id="{27B16A56-50DF-B217-3C8A-F0E0BB23964C}"/>
              </a:ext>
            </a:extLst>
          </p:cNvPr>
          <p:cNvSpPr txBox="1"/>
          <p:nvPr/>
        </p:nvSpPr>
        <p:spPr>
          <a:xfrm>
            <a:off x="3918201" y="5004446"/>
            <a:ext cx="1469313" cy="369332"/>
          </a:xfrm>
          <a:prstGeom prst="rect">
            <a:avLst/>
          </a:prstGeom>
          <a:noFill/>
        </p:spPr>
        <p:txBody>
          <a:bodyPr wrap="none" rtlCol="0">
            <a:spAutoFit/>
          </a:bodyPr>
          <a:lstStyle/>
          <a:p>
            <a:pPr lvl="0">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∆P </a:t>
            </a:r>
            <a:r>
              <a:rPr lang="en-US">
                <a:solidFill>
                  <a:srgbClr val="000000"/>
                </a:solidFill>
              </a:rPr>
              <a:t>= - ? </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kPa</a:t>
            </a:r>
          </a:p>
        </p:txBody>
      </p:sp>
      <p:sp>
        <p:nvSpPr>
          <p:cNvPr id="15" name="TextBox 14">
            <a:extLst>
              <a:ext uri="{FF2B5EF4-FFF2-40B4-BE49-F238E27FC236}">
                <a16:creationId xmlns:a16="http://schemas.microsoft.com/office/drawing/2014/main" id="{A40D2D91-CD27-575A-838C-0FCD93394C98}"/>
              </a:ext>
            </a:extLst>
          </p:cNvPr>
          <p:cNvSpPr txBox="1"/>
          <p:nvPr/>
        </p:nvSpPr>
        <p:spPr>
          <a:xfrm>
            <a:off x="128858" y="5588834"/>
            <a:ext cx="8034083" cy="584775"/>
          </a:xfrm>
          <a:prstGeom prst="rect">
            <a:avLst/>
          </a:prstGeom>
          <a:noFill/>
        </p:spPr>
        <p:txBody>
          <a:bodyPr wrap="square" rtlCol="0">
            <a:spAutoFit/>
          </a:bodyPr>
          <a:lstStyle/>
          <a:p>
            <a:pPr>
              <a:defRPr/>
            </a:pPr>
            <a:r>
              <a:rPr lang="en-US">
                <a:solidFill>
                  <a:srgbClr val="000000"/>
                </a:solidFill>
              </a:rPr>
              <a:t>* </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 raised IPE should not add significant resistance to the system. Whatever pressure drop occurs when the coolant travels up </a:t>
            </a:r>
            <a:r>
              <a:rPr lang="en-US" sz="1400">
                <a:solidFill>
                  <a:srgbClr val="000000"/>
                </a:solidFill>
                <a:latin typeface="Arial" panose="020B0604020202020204"/>
              </a:rPr>
              <a:t>will be added back once the coolant moves back down.</a:t>
            </a: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2" name="Picture 21">
            <a:extLst>
              <a:ext uri="{FF2B5EF4-FFF2-40B4-BE49-F238E27FC236}">
                <a16:creationId xmlns:a16="http://schemas.microsoft.com/office/drawing/2014/main" id="{B5EB7807-E919-8EF8-665B-80FD95295EEF}"/>
              </a:ext>
            </a:extLst>
          </p:cNvPr>
          <p:cNvPicPr>
            <a:picLocks noChangeAspect="1"/>
          </p:cNvPicPr>
          <p:nvPr/>
        </p:nvPicPr>
        <p:blipFill>
          <a:blip r:embed="rId3"/>
          <a:stretch>
            <a:fillRect/>
          </a:stretch>
        </p:blipFill>
        <p:spPr>
          <a:xfrm>
            <a:off x="9251672" y="126485"/>
            <a:ext cx="2401108" cy="1679256"/>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C323EF4-7B2C-AFA3-8321-DE776329D1AC}"/>
                  </a:ext>
                </a:extLst>
              </p:cNvPr>
              <p:cNvSpPr txBox="1"/>
              <p:nvPr/>
            </p:nvSpPr>
            <p:spPr>
              <a:xfrm>
                <a:off x="8461720" y="3124776"/>
                <a:ext cx="3624577" cy="26187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𝑜𝑡h𝑒𝑟</m:t>
                          </m:r>
                        </m:sub>
                      </m:sSub>
                      <m:r>
                        <a:rPr lang="en-US" i="1">
                          <a:latin typeface="Cambria Math" panose="02040503050406030204" pitchFamily="18" charset="0"/>
                          <a:ea typeface="Cambria Math" panose="02040503050406030204" pitchFamily="18" charset="0"/>
                        </a:rPr>
                        <m:t>≈56.2231 </m:t>
                      </m:r>
                      <m:r>
                        <a:rPr lang="en-US" i="1">
                          <a:latin typeface="Cambria Math" panose="02040503050406030204" pitchFamily="18" charset="0"/>
                          <a:ea typeface="Cambria Math" panose="02040503050406030204" pitchFamily="18" charset="0"/>
                        </a:rPr>
                        <m:t>𝑘𝑃𝑎</m:t>
                      </m:r>
                    </m:oMath>
                  </m:oMathPara>
                </a14:m>
                <a:endParaRPr lang="en-US"/>
              </a:p>
              <a:p>
                <a:r>
                  <a:rPr lang="en-US" sz="1400"/>
                  <a:t>^ From MY24 AWD LYRIQ. The </a:t>
                </a:r>
                <a:r>
                  <a:rPr lang="en-US" sz="1400" b="1"/>
                  <a:t>OBCM2 is removed</a:t>
                </a:r>
                <a:r>
                  <a:rPr lang="en-US" sz="1400"/>
                  <a:t> but </a:t>
                </a:r>
                <a:r>
                  <a:rPr lang="en-US" sz="1400" b="1"/>
                  <a:t>a few significant bends </a:t>
                </a:r>
                <a:r>
                  <a:rPr lang="en-US" sz="1400"/>
                  <a:t>in the added piping is expected to increase the pressure drop to make it about the same as the MY24 AWD LYRIQ.</a:t>
                </a:r>
              </a:p>
              <a:p>
                <a:endParaRPr lang="en-US" b="0" i="1">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0=</m:t>
                      </m:r>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𝑝𝑢𝑚𝑝</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𝐷𝑈</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𝑜𝑡h𝑒𝑟</m:t>
                          </m:r>
                        </m:sub>
                      </m:sSub>
                    </m:oMath>
                  </m:oMathPara>
                </a14:m>
                <a:endParaRPr lang="en-US"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𝑝𝑢𝑚𝑝</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𝐷𝑈</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𝑜𝑡h𝑒𝑟</m:t>
                          </m:r>
                        </m:sub>
                      </m:sSub>
                    </m:oMath>
                  </m:oMathPara>
                </a14:m>
                <a:endParaRPr lang="en-US" b="0" i="1">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𝑝𝑢𝑚𝑝</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−87.618 </m:t>
                      </m:r>
                      <m:r>
                        <a:rPr lang="en-US" b="0" i="1" smtClean="0">
                          <a:latin typeface="Cambria Math" panose="02040503050406030204" pitchFamily="18" charset="0"/>
                          <a:ea typeface="Cambria Math" panose="02040503050406030204" pitchFamily="18" charset="0"/>
                        </a:rPr>
                        <m:t>𝑘𝑃𝑎</m:t>
                      </m:r>
                    </m:oMath>
                  </m:oMathPara>
                </a14:m>
                <a:endParaRPr lang="en-US" b="0" i="1">
                  <a:latin typeface="Cambria Math" panose="02040503050406030204" pitchFamily="18" charset="0"/>
                  <a:ea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6C323EF4-7B2C-AFA3-8321-DE776329D1AC}"/>
                  </a:ext>
                </a:extLst>
              </p:cNvPr>
              <p:cNvSpPr txBox="1">
                <a:spLocks noRot="1" noChangeAspect="1" noMove="1" noResize="1" noEditPoints="1" noAdjustHandles="1" noChangeArrowheads="1" noChangeShapeType="1" noTextEdit="1"/>
              </p:cNvSpPr>
              <p:nvPr/>
            </p:nvSpPr>
            <p:spPr>
              <a:xfrm>
                <a:off x="8461720" y="3124776"/>
                <a:ext cx="3624577" cy="2618794"/>
              </a:xfrm>
              <a:prstGeom prst="rect">
                <a:avLst/>
              </a:prstGeom>
              <a:blipFill>
                <a:blip r:embed="rId4"/>
                <a:stretch>
                  <a:fillRect l="-5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A272E06-ED20-01B8-C5F1-FE17229EBB1C}"/>
                  </a:ext>
                </a:extLst>
              </p:cNvPr>
              <p:cNvSpPr txBox="1"/>
              <p:nvPr/>
            </p:nvSpPr>
            <p:spPr>
              <a:xfrm>
                <a:off x="9195528" y="1953815"/>
                <a:ext cx="2392450" cy="7956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𝐷𝑈</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𝑅𝐷𝑈</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𝐹𝐷𝑈</m:t>
                              </m:r>
                            </m:sub>
                          </m:sSub>
                        </m:num>
                        <m:den>
                          <m:r>
                            <a:rPr lang="en-US" i="1">
                              <a:latin typeface="Cambria Math" panose="02040503050406030204" pitchFamily="18" charset="0"/>
                              <a:ea typeface="Cambria Math" panose="02040503050406030204" pitchFamily="18" charset="0"/>
                            </a:rPr>
                            <m:t>2</m:t>
                          </m:r>
                        </m:den>
                      </m:f>
                    </m:oMath>
                  </m:oMathPara>
                </a14:m>
                <a:endParaRPr lang="en-US">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𝐷𝑈</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31.395</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𝑘𝑃𝑎</m:t>
                      </m:r>
                    </m:oMath>
                  </m:oMathPara>
                </a14:m>
                <a:endParaRPr lang="en-US">
                  <a:ea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CA272E06-ED20-01B8-C5F1-FE17229EBB1C}"/>
                  </a:ext>
                </a:extLst>
              </p:cNvPr>
              <p:cNvSpPr txBox="1">
                <a:spLocks noRot="1" noChangeAspect="1" noMove="1" noResize="1" noEditPoints="1" noAdjustHandles="1" noChangeArrowheads="1" noChangeShapeType="1" noTextEdit="1"/>
              </p:cNvSpPr>
              <p:nvPr/>
            </p:nvSpPr>
            <p:spPr>
              <a:xfrm>
                <a:off x="9195528" y="1953815"/>
                <a:ext cx="2392450" cy="795602"/>
              </a:xfrm>
              <a:prstGeom prst="rect">
                <a:avLst/>
              </a:prstGeom>
              <a:blipFill>
                <a:blip r:embed="rId5"/>
                <a:stretch>
                  <a:fillRect b="-6154"/>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FA38AA98-C7F9-FE5B-8D0A-4615BEB914C4}"/>
              </a:ext>
            </a:extLst>
          </p:cNvPr>
          <p:cNvCxnSpPr>
            <a:cxnSpLocks/>
            <a:endCxn id="24" idx="1"/>
          </p:cNvCxnSpPr>
          <p:nvPr/>
        </p:nvCxnSpPr>
        <p:spPr>
          <a:xfrm flipV="1">
            <a:off x="7813527" y="2351616"/>
            <a:ext cx="1382001" cy="2916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C2590030-3BF7-A7C6-5F12-0579CC571C51}"/>
              </a:ext>
            </a:extLst>
          </p:cNvPr>
          <p:cNvSpPr/>
          <p:nvPr/>
        </p:nvSpPr>
        <p:spPr>
          <a:xfrm>
            <a:off x="4305669" y="1621075"/>
            <a:ext cx="3509482" cy="1990160"/>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8A23A57-B63E-09CA-65A9-5ECAF3917ECA}"/>
              </a:ext>
            </a:extLst>
          </p:cNvPr>
          <p:cNvSpPr txBox="1"/>
          <p:nvPr/>
        </p:nvSpPr>
        <p:spPr>
          <a:xfrm>
            <a:off x="7063006" y="4133339"/>
            <a:ext cx="333746" cy="553998"/>
          </a:xfrm>
          <a:prstGeom prst="rect">
            <a:avLst/>
          </a:prstGeom>
          <a:noFill/>
        </p:spPr>
        <p:txBody>
          <a:bodyPr wrap="none" rtlCol="0">
            <a:spAutoFit/>
          </a:bodyPr>
          <a:lstStyle/>
          <a:p>
            <a:r>
              <a:rPr lang="en-US" sz="3000">
                <a:solidFill>
                  <a:srgbClr val="000000"/>
                </a:solidFill>
              </a:rPr>
              <a:t>*</a:t>
            </a:r>
          </a:p>
        </p:txBody>
      </p:sp>
      <p:cxnSp>
        <p:nvCxnSpPr>
          <p:cNvPr id="30" name="Connector: Elbow 29">
            <a:extLst>
              <a:ext uri="{FF2B5EF4-FFF2-40B4-BE49-F238E27FC236}">
                <a16:creationId xmlns:a16="http://schemas.microsoft.com/office/drawing/2014/main" id="{13972C26-B3D5-968D-111F-CB3FB163D24C}"/>
              </a:ext>
            </a:extLst>
          </p:cNvPr>
          <p:cNvCxnSpPr>
            <a:cxnSpLocks/>
          </p:cNvCxnSpPr>
          <p:nvPr/>
        </p:nvCxnSpPr>
        <p:spPr>
          <a:xfrm flipV="1">
            <a:off x="6729620" y="1119121"/>
            <a:ext cx="2548060" cy="581465"/>
          </a:xfrm>
          <a:prstGeom prst="bentConnector3">
            <a:avLst>
              <a:gd name="adj1" fmla="val 1064"/>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F3B53A03-23C0-470F-1B64-EA90D08F53B5}"/>
              </a:ext>
            </a:extLst>
          </p:cNvPr>
          <p:cNvSpPr/>
          <p:nvPr/>
        </p:nvSpPr>
        <p:spPr>
          <a:xfrm>
            <a:off x="6091694" y="1621075"/>
            <a:ext cx="1641739" cy="1958077"/>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918EB995-85D2-8859-EE83-748936416370}"/>
              </a:ext>
            </a:extLst>
          </p:cNvPr>
          <p:cNvSpPr txBox="1"/>
          <p:nvPr/>
        </p:nvSpPr>
        <p:spPr>
          <a:xfrm>
            <a:off x="182163" y="6145688"/>
            <a:ext cx="9344225" cy="584775"/>
          </a:xfrm>
          <a:prstGeom prst="rect">
            <a:avLst/>
          </a:prstGeom>
          <a:noFill/>
        </p:spPr>
        <p:txBody>
          <a:bodyPr wrap="none" rtlCol="0">
            <a:spAutoFit/>
          </a:bodyPr>
          <a:lstStyle/>
          <a:p>
            <a:r>
              <a:rPr lang="en-US" sz="1600">
                <a:solidFill>
                  <a:srgbClr val="000000"/>
                </a:solidFill>
              </a:rPr>
              <a:t>Source of Pressure Drops: </a:t>
            </a:r>
            <a:r>
              <a:rPr lang="en-US" sz="1600">
                <a:solidFill>
                  <a:srgbClr val="000000"/>
                </a:solidFill>
                <a:hlinkClick r:id="rId6"/>
              </a:rPr>
              <a:t>Magna Pressure Drop PowerPoint </a:t>
            </a:r>
            <a:r>
              <a:rPr lang="en-US" sz="1600">
                <a:solidFill>
                  <a:srgbClr val="000000"/>
                </a:solidFill>
              </a:rPr>
              <a:t>– Linearly interpolated from 9-12 L/min</a:t>
            </a:r>
          </a:p>
          <a:p>
            <a:r>
              <a:rPr lang="en-US" sz="1600">
                <a:solidFill>
                  <a:srgbClr val="000000"/>
                </a:solidFill>
              </a:rPr>
              <a:t>(I don’t think I can share a copy because it is confidential? Need access to GT SharePoint)</a:t>
            </a:r>
          </a:p>
        </p:txBody>
      </p:sp>
      <p:cxnSp>
        <p:nvCxnSpPr>
          <p:cNvPr id="37" name="Straight Arrow Connector 36">
            <a:extLst>
              <a:ext uri="{FF2B5EF4-FFF2-40B4-BE49-F238E27FC236}">
                <a16:creationId xmlns:a16="http://schemas.microsoft.com/office/drawing/2014/main" id="{AA51DEF2-F45C-424C-0B4E-84E1B1DC21B2}"/>
              </a:ext>
            </a:extLst>
          </p:cNvPr>
          <p:cNvCxnSpPr>
            <a:cxnSpLocks/>
            <a:endCxn id="12" idx="3"/>
          </p:cNvCxnSpPr>
          <p:nvPr/>
        </p:nvCxnSpPr>
        <p:spPr>
          <a:xfrm flipH="1" flipV="1">
            <a:off x="5387514" y="5189112"/>
            <a:ext cx="3382166" cy="1846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2B17DBA-DB37-2A23-759A-A4BEE7656208}"/>
              </a:ext>
            </a:extLst>
          </p:cNvPr>
          <p:cNvSpPr/>
          <p:nvPr/>
        </p:nvSpPr>
        <p:spPr>
          <a:xfrm>
            <a:off x="2512012" y="1697039"/>
            <a:ext cx="9463678" cy="39663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Confidential Thermal Architecture and Pressure Drops</a:t>
            </a:r>
          </a:p>
        </p:txBody>
      </p:sp>
    </p:spTree>
    <p:extLst>
      <p:ext uri="{BB962C8B-B14F-4D97-AF65-F5344CB8AC3E}">
        <p14:creationId xmlns:p14="http://schemas.microsoft.com/office/powerpoint/2010/main" val="1199000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B6E33-3264-41DB-8C5F-57F24BA11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D05A2-F66B-C897-F621-B8551A724A14}"/>
              </a:ext>
            </a:extLst>
          </p:cNvPr>
          <p:cNvSpPr>
            <a:spLocks noGrp="1"/>
          </p:cNvSpPr>
          <p:nvPr>
            <p:ph type="title"/>
          </p:nvPr>
        </p:nvSpPr>
        <p:spPr/>
        <p:txBody>
          <a:bodyPr/>
          <a:lstStyle/>
          <a:p>
            <a:r>
              <a:rPr lang="en-US" dirty="0"/>
              <a:t>System Architecture: Pressure Requirements</a:t>
            </a:r>
          </a:p>
        </p:txBody>
      </p:sp>
      <p:sp>
        <p:nvSpPr>
          <p:cNvPr id="3" name="Content Placeholder 2">
            <a:extLst>
              <a:ext uri="{FF2B5EF4-FFF2-40B4-BE49-F238E27FC236}">
                <a16:creationId xmlns:a16="http://schemas.microsoft.com/office/drawing/2014/main" id="{8E946535-4956-DBBC-0600-5021CB446F02}"/>
              </a:ext>
            </a:extLst>
          </p:cNvPr>
          <p:cNvSpPr>
            <a:spLocks noGrp="1"/>
          </p:cNvSpPr>
          <p:nvPr>
            <p:ph sz="half" idx="1"/>
          </p:nvPr>
        </p:nvSpPr>
        <p:spPr/>
        <p:txBody>
          <a:bodyPr>
            <a:normAutofit fontScale="92500"/>
          </a:bodyPr>
          <a:lstStyle/>
          <a:p>
            <a:pPr marL="0" indent="0">
              <a:buNone/>
            </a:pPr>
            <a:r>
              <a:rPr lang="en-US" dirty="0"/>
              <a:t>The HX effectively replaces the stock drive units (which are in parallel) and OBCM2. See the following slide for more detail.</a:t>
            </a:r>
          </a:p>
          <a:p>
            <a:pPr marL="0" indent="0">
              <a:buNone/>
            </a:pPr>
            <a:endParaRPr lang="en-US" dirty="0"/>
          </a:p>
          <a:p>
            <a:r>
              <a:rPr lang="en-US" dirty="0"/>
              <a:t>Stock:</a:t>
            </a:r>
          </a:p>
          <a:p>
            <a:pPr lvl="1"/>
            <a:r>
              <a:rPr lang="en-US" dirty="0"/>
              <a:t>Drive Units: ~26.9402 kPa</a:t>
            </a:r>
          </a:p>
          <a:p>
            <a:pPr lvl="1"/>
            <a:r>
              <a:rPr lang="en-US" dirty="0"/>
              <a:t>OBCM2: ~17.9051 kPa</a:t>
            </a:r>
          </a:p>
          <a:p>
            <a:pPr lvl="1"/>
            <a:r>
              <a:rPr lang="en-US" dirty="0"/>
              <a:t>Total: ~44.8453 kPa</a:t>
            </a:r>
          </a:p>
          <a:p>
            <a:pPr lvl="1"/>
            <a:endParaRPr lang="en-US" dirty="0"/>
          </a:p>
          <a:p>
            <a:pPr marL="0" indent="0">
              <a:buNone/>
            </a:pPr>
            <a:r>
              <a:rPr lang="en-US" dirty="0"/>
              <a:t>This means if the added components have a pressure drop of less than 44.8 kPa, the flow should be 20 L/min. </a:t>
            </a:r>
          </a:p>
        </p:txBody>
      </p:sp>
      <p:sp>
        <p:nvSpPr>
          <p:cNvPr id="4" name="Content Placeholder 3">
            <a:extLst>
              <a:ext uri="{FF2B5EF4-FFF2-40B4-BE49-F238E27FC236}">
                <a16:creationId xmlns:a16="http://schemas.microsoft.com/office/drawing/2014/main" id="{20C438BF-E9D4-1669-D424-02B9CA30565A}"/>
              </a:ext>
            </a:extLst>
          </p:cNvPr>
          <p:cNvSpPr>
            <a:spLocks noGrp="1"/>
          </p:cNvSpPr>
          <p:nvPr>
            <p:ph sz="half" idx="2"/>
          </p:nvPr>
        </p:nvSpPr>
        <p:spPr/>
        <p:txBody>
          <a:bodyPr>
            <a:normAutofit fontScale="92500"/>
          </a:bodyPr>
          <a:lstStyle/>
          <a:p>
            <a:pPr marL="0" indent="0">
              <a:buNone/>
            </a:pPr>
            <a:r>
              <a:rPr lang="en-US" dirty="0"/>
              <a:t>This is not the case for the current system, which appears to have a pressure drop of about 31.4 kPa. Either the pressure needs to be under 31.4 kPa, or the current system has a larger pressure drop than 31.4 kPa due to additional bends.</a:t>
            </a:r>
          </a:p>
          <a:p>
            <a:pPr marL="0" indent="0">
              <a:buNone/>
            </a:pPr>
            <a:endParaRPr lang="en-US" dirty="0"/>
          </a:p>
          <a:p>
            <a:pPr marL="0" indent="0">
              <a:buNone/>
            </a:pPr>
            <a:r>
              <a:rPr lang="en-US" dirty="0"/>
              <a:t>Each 90 degree connector can add a pressure drop of about 0.24 kPa (see</a:t>
            </a:r>
            <a:r>
              <a:rPr lang="en-US" dirty="0">
                <a:hlinkClick r:id="rId2"/>
              </a:rPr>
              <a:t> here </a:t>
            </a:r>
            <a:r>
              <a:rPr lang="en-US" dirty="0"/>
              <a:t>for more detail). It is conceivable there are 10 bends which would contribute a total of 2.4 kPa of pressure drop.</a:t>
            </a:r>
          </a:p>
        </p:txBody>
      </p:sp>
      <p:sp>
        <p:nvSpPr>
          <p:cNvPr id="5" name="Rectangle 4">
            <a:extLst>
              <a:ext uri="{FF2B5EF4-FFF2-40B4-BE49-F238E27FC236}">
                <a16:creationId xmlns:a16="http://schemas.microsoft.com/office/drawing/2014/main" id="{CF690766-5B96-2152-A7C4-5FC767853988}"/>
              </a:ext>
            </a:extLst>
          </p:cNvPr>
          <p:cNvSpPr/>
          <p:nvPr/>
        </p:nvSpPr>
        <p:spPr>
          <a:xfrm>
            <a:off x="2290916" y="2920181"/>
            <a:ext cx="1750142" cy="7374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Confidential Pressure Drops</a:t>
            </a:r>
          </a:p>
        </p:txBody>
      </p:sp>
    </p:spTree>
    <p:extLst>
      <p:ext uri="{BB962C8B-B14F-4D97-AF65-F5344CB8AC3E}">
        <p14:creationId xmlns:p14="http://schemas.microsoft.com/office/powerpoint/2010/main" val="2084071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54BEB-92A3-405B-FE62-5402CDCC80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C81129-ED45-5D78-DAE8-CA2B1AA86044}"/>
              </a:ext>
            </a:extLst>
          </p:cNvPr>
          <p:cNvSpPr>
            <a:spLocks noGrp="1"/>
          </p:cNvSpPr>
          <p:nvPr>
            <p:ph type="title"/>
          </p:nvPr>
        </p:nvSpPr>
        <p:spPr/>
        <p:txBody>
          <a:bodyPr/>
          <a:lstStyle/>
          <a:p>
            <a:r>
              <a:rPr lang="en-US">
                <a:latin typeface="Roboto"/>
                <a:ea typeface="Roboto"/>
                <a:cs typeface="Roboto"/>
              </a:rPr>
              <a:t>System Information: MY24 AWD LYRIQ</a:t>
            </a:r>
            <a:endParaRPr lang="en-US"/>
          </a:p>
        </p:txBody>
      </p:sp>
      <p:grpSp>
        <p:nvGrpSpPr>
          <p:cNvPr id="45" name="Group 44">
            <a:extLst>
              <a:ext uri="{FF2B5EF4-FFF2-40B4-BE49-F238E27FC236}">
                <a16:creationId xmlns:a16="http://schemas.microsoft.com/office/drawing/2014/main" id="{AE46EBB6-4724-0E14-A44E-60FBAF53B596}"/>
              </a:ext>
            </a:extLst>
          </p:cNvPr>
          <p:cNvGrpSpPr/>
          <p:nvPr/>
        </p:nvGrpSpPr>
        <p:grpSpPr>
          <a:xfrm>
            <a:off x="2512012" y="4678358"/>
            <a:ext cx="357612" cy="361086"/>
            <a:chOff x="4543983" y="3138567"/>
            <a:chExt cx="357612" cy="361086"/>
          </a:xfrm>
        </p:grpSpPr>
        <p:sp>
          <p:nvSpPr>
            <p:cNvPr id="41" name="Isosceles Triangle 40">
              <a:extLst>
                <a:ext uri="{FF2B5EF4-FFF2-40B4-BE49-F238E27FC236}">
                  <a16:creationId xmlns:a16="http://schemas.microsoft.com/office/drawing/2014/main" id="{E1E06FE5-AB7C-D6A6-0719-A349AD50FC03}"/>
                </a:ext>
              </a:extLst>
            </p:cNvPr>
            <p:cNvSpPr/>
            <p:nvPr/>
          </p:nvSpPr>
          <p:spPr>
            <a:xfrm rot="5400000">
              <a:off x="4546900" y="3234975"/>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Isosceles Triangle 41">
              <a:extLst>
                <a:ext uri="{FF2B5EF4-FFF2-40B4-BE49-F238E27FC236}">
                  <a16:creationId xmlns:a16="http://schemas.microsoft.com/office/drawing/2014/main" id="{EA8C0BD2-9319-711A-ED27-456D000A3E2A}"/>
                </a:ext>
              </a:extLst>
            </p:cNvPr>
            <p:cNvSpPr/>
            <p:nvPr/>
          </p:nvSpPr>
          <p:spPr>
            <a:xfrm rot="16200000" flipH="1">
              <a:off x="4723969" y="3239358"/>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3" name="Isosceles Triangle 42">
              <a:extLst>
                <a:ext uri="{FF2B5EF4-FFF2-40B4-BE49-F238E27FC236}">
                  <a16:creationId xmlns:a16="http://schemas.microsoft.com/office/drawing/2014/main" id="{8108086E-354C-5BFE-0E87-15D9CFC491CC}"/>
                </a:ext>
              </a:extLst>
            </p:cNvPr>
            <p:cNvSpPr/>
            <p:nvPr/>
          </p:nvSpPr>
          <p:spPr>
            <a:xfrm>
              <a:off x="4635374" y="3319110"/>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Isosceles Triangle 43">
              <a:extLst>
                <a:ext uri="{FF2B5EF4-FFF2-40B4-BE49-F238E27FC236}">
                  <a16:creationId xmlns:a16="http://schemas.microsoft.com/office/drawing/2014/main" id="{1B0B8CB3-8FA5-0E63-63E2-9E4D045CBF4B}"/>
                </a:ext>
              </a:extLst>
            </p:cNvPr>
            <p:cNvSpPr/>
            <p:nvPr/>
          </p:nvSpPr>
          <p:spPr>
            <a:xfrm flipV="1">
              <a:off x="4633272" y="3138567"/>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cxnSp>
        <p:nvCxnSpPr>
          <p:cNvPr id="61" name="Connector: Elbow 60">
            <a:extLst>
              <a:ext uri="{FF2B5EF4-FFF2-40B4-BE49-F238E27FC236}">
                <a16:creationId xmlns:a16="http://schemas.microsoft.com/office/drawing/2014/main" id="{5BE6C0BD-8D26-0244-5DDD-ED7EAA7EF2D0}"/>
              </a:ext>
            </a:extLst>
          </p:cNvPr>
          <p:cNvCxnSpPr>
            <a:cxnSpLocks/>
            <a:stCxn id="42" idx="3"/>
            <a:endCxn id="65" idx="2"/>
          </p:cNvCxnSpPr>
          <p:nvPr/>
        </p:nvCxnSpPr>
        <p:spPr>
          <a:xfrm flipV="1">
            <a:off x="2869625" y="4521987"/>
            <a:ext cx="5199451" cy="347434"/>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A9B99AFD-06FE-1664-C3DA-80183863352B}"/>
              </a:ext>
            </a:extLst>
          </p:cNvPr>
          <p:cNvSpPr txBox="1"/>
          <p:nvPr/>
        </p:nvSpPr>
        <p:spPr>
          <a:xfrm>
            <a:off x="5047100" y="1991605"/>
            <a:ext cx="803753"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RDU</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63" name="TextBox 62">
            <a:extLst>
              <a:ext uri="{FF2B5EF4-FFF2-40B4-BE49-F238E27FC236}">
                <a16:creationId xmlns:a16="http://schemas.microsoft.com/office/drawing/2014/main" id="{9D5687DD-EBD5-907F-6611-E5A214BFF090}"/>
              </a:ext>
            </a:extLst>
          </p:cNvPr>
          <p:cNvSpPr txBox="1"/>
          <p:nvPr/>
        </p:nvSpPr>
        <p:spPr>
          <a:xfrm>
            <a:off x="5037838" y="2860727"/>
            <a:ext cx="803753"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FDU</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65" name="TextBox 64">
            <a:extLst>
              <a:ext uri="{FF2B5EF4-FFF2-40B4-BE49-F238E27FC236}">
                <a16:creationId xmlns:a16="http://schemas.microsoft.com/office/drawing/2014/main" id="{95FF623E-80A4-B8A9-95B9-B45B10A0344D}"/>
              </a:ext>
            </a:extLst>
          </p:cNvPr>
          <p:cNvSpPr txBox="1"/>
          <p:nvPr/>
        </p:nvSpPr>
        <p:spPr>
          <a:xfrm>
            <a:off x="7667199" y="4152655"/>
            <a:ext cx="803753"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IPE</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cxnSp>
        <p:nvCxnSpPr>
          <p:cNvPr id="69" name="Connector: Elbow 68">
            <a:extLst>
              <a:ext uri="{FF2B5EF4-FFF2-40B4-BE49-F238E27FC236}">
                <a16:creationId xmlns:a16="http://schemas.microsoft.com/office/drawing/2014/main" id="{59BF6181-1383-E85D-20BB-EB5EFC908936}"/>
              </a:ext>
            </a:extLst>
          </p:cNvPr>
          <p:cNvCxnSpPr>
            <a:cxnSpLocks/>
            <a:stCxn id="12" idx="0"/>
            <a:endCxn id="11" idx="3"/>
          </p:cNvCxnSpPr>
          <p:nvPr/>
        </p:nvCxnSpPr>
        <p:spPr>
          <a:xfrm rot="16200000" flipV="1">
            <a:off x="7042606" y="2316764"/>
            <a:ext cx="1167036" cy="885903"/>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0492F7B-E7CD-074C-5D36-0EB773610AC9}"/>
              </a:ext>
            </a:extLst>
          </p:cNvPr>
          <p:cNvCxnSpPr>
            <a:cxnSpLocks/>
          </p:cNvCxnSpPr>
          <p:nvPr/>
        </p:nvCxnSpPr>
        <p:spPr>
          <a:xfrm flipH="1">
            <a:off x="5841591" y="3061281"/>
            <a:ext cx="888029"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603D641E-D2D5-089E-653A-F932D28C107D}"/>
              </a:ext>
            </a:extLst>
          </p:cNvPr>
          <p:cNvCxnSpPr>
            <a:cxnSpLocks/>
            <a:stCxn id="62" idx="1"/>
          </p:cNvCxnSpPr>
          <p:nvPr/>
        </p:nvCxnSpPr>
        <p:spPr>
          <a:xfrm rot="10800000" flipV="1">
            <a:off x="2688180" y="2176271"/>
            <a:ext cx="2358921" cy="590704"/>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600500DF-AEDB-B348-DA6D-B0DAEFA88C83}"/>
              </a:ext>
            </a:extLst>
          </p:cNvPr>
          <p:cNvGrpSpPr/>
          <p:nvPr/>
        </p:nvGrpSpPr>
        <p:grpSpPr>
          <a:xfrm>
            <a:off x="2600824" y="2766975"/>
            <a:ext cx="268323" cy="361086"/>
            <a:chOff x="4633272" y="3138567"/>
            <a:chExt cx="268323" cy="361086"/>
          </a:xfrm>
        </p:grpSpPr>
        <p:sp>
          <p:nvSpPr>
            <p:cNvPr id="85" name="Isosceles Triangle 84">
              <a:extLst>
                <a:ext uri="{FF2B5EF4-FFF2-40B4-BE49-F238E27FC236}">
                  <a16:creationId xmlns:a16="http://schemas.microsoft.com/office/drawing/2014/main" id="{89532E76-438F-4D1A-AFDE-9252B5FA4CD5}"/>
                </a:ext>
              </a:extLst>
            </p:cNvPr>
            <p:cNvSpPr/>
            <p:nvPr/>
          </p:nvSpPr>
          <p:spPr>
            <a:xfrm rot="16200000" flipH="1">
              <a:off x="4723969" y="3239358"/>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6" name="Isosceles Triangle 85">
              <a:extLst>
                <a:ext uri="{FF2B5EF4-FFF2-40B4-BE49-F238E27FC236}">
                  <a16:creationId xmlns:a16="http://schemas.microsoft.com/office/drawing/2014/main" id="{C602B4B9-E06B-9E08-F47A-29A283CE1DF8}"/>
                </a:ext>
              </a:extLst>
            </p:cNvPr>
            <p:cNvSpPr/>
            <p:nvPr/>
          </p:nvSpPr>
          <p:spPr>
            <a:xfrm>
              <a:off x="4635374" y="3319110"/>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7" name="Isosceles Triangle 86">
              <a:extLst>
                <a:ext uri="{FF2B5EF4-FFF2-40B4-BE49-F238E27FC236}">
                  <a16:creationId xmlns:a16="http://schemas.microsoft.com/office/drawing/2014/main" id="{15D8E266-B4DB-F847-1E90-49A727CD105B}"/>
                </a:ext>
              </a:extLst>
            </p:cNvPr>
            <p:cNvSpPr/>
            <p:nvPr/>
          </p:nvSpPr>
          <p:spPr>
            <a:xfrm flipV="1">
              <a:off x="4633272" y="3138567"/>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04" name="TextBox 103">
            <a:extLst>
              <a:ext uri="{FF2B5EF4-FFF2-40B4-BE49-F238E27FC236}">
                <a16:creationId xmlns:a16="http://schemas.microsoft.com/office/drawing/2014/main" id="{055F433D-21BB-4359-1C88-009E16ADFE2B}"/>
              </a:ext>
            </a:extLst>
          </p:cNvPr>
          <p:cNvSpPr txBox="1"/>
          <p:nvPr/>
        </p:nvSpPr>
        <p:spPr>
          <a:xfrm>
            <a:off x="3120978" y="3294068"/>
            <a:ext cx="1114488"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Radiator</a:t>
            </a:r>
          </a:p>
        </p:txBody>
      </p:sp>
      <p:cxnSp>
        <p:nvCxnSpPr>
          <p:cNvPr id="105" name="Connector: Elbow 104">
            <a:extLst>
              <a:ext uri="{FF2B5EF4-FFF2-40B4-BE49-F238E27FC236}">
                <a16:creationId xmlns:a16="http://schemas.microsoft.com/office/drawing/2014/main" id="{A7F12B51-3F11-EA56-9ECA-55AD61934E41}"/>
              </a:ext>
            </a:extLst>
          </p:cNvPr>
          <p:cNvCxnSpPr>
            <a:cxnSpLocks/>
            <a:stCxn id="63" idx="1"/>
          </p:cNvCxnSpPr>
          <p:nvPr/>
        </p:nvCxnSpPr>
        <p:spPr>
          <a:xfrm rot="10800000">
            <a:off x="4559762" y="2194059"/>
            <a:ext cx="478076" cy="851335"/>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Connector: Elbow 110">
            <a:extLst>
              <a:ext uri="{FF2B5EF4-FFF2-40B4-BE49-F238E27FC236}">
                <a16:creationId xmlns:a16="http://schemas.microsoft.com/office/drawing/2014/main" id="{2D663AB2-5181-A8AA-EC00-5310A95A9209}"/>
              </a:ext>
            </a:extLst>
          </p:cNvPr>
          <p:cNvCxnSpPr>
            <a:cxnSpLocks/>
            <a:endCxn id="104" idx="0"/>
          </p:cNvCxnSpPr>
          <p:nvPr/>
        </p:nvCxnSpPr>
        <p:spPr>
          <a:xfrm>
            <a:off x="2869148" y="2958038"/>
            <a:ext cx="809074" cy="336030"/>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59992951-3048-E41B-1026-9C4D6E677513}"/>
              </a:ext>
            </a:extLst>
          </p:cNvPr>
          <p:cNvCxnSpPr>
            <a:cxnSpLocks/>
          </p:cNvCxnSpPr>
          <p:nvPr/>
        </p:nvCxnSpPr>
        <p:spPr>
          <a:xfrm rot="5400000">
            <a:off x="1914321" y="3902397"/>
            <a:ext cx="1550297" cy="1625"/>
          </a:xfrm>
          <a:prstGeom prst="bentConnector3">
            <a:avLst>
              <a:gd name="adj1" fmla="val 50000"/>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Connector: Elbow 116">
            <a:extLst>
              <a:ext uri="{FF2B5EF4-FFF2-40B4-BE49-F238E27FC236}">
                <a16:creationId xmlns:a16="http://schemas.microsoft.com/office/drawing/2014/main" id="{8132FABA-2CC0-B49C-ECCF-14F292F79674}"/>
              </a:ext>
            </a:extLst>
          </p:cNvPr>
          <p:cNvCxnSpPr>
            <a:cxnSpLocks/>
            <a:stCxn id="104" idx="2"/>
          </p:cNvCxnSpPr>
          <p:nvPr/>
        </p:nvCxnSpPr>
        <p:spPr>
          <a:xfrm rot="5400000">
            <a:off x="3062935" y="3288643"/>
            <a:ext cx="240531" cy="990044"/>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3" name="Arrow: Curved Up 122">
            <a:extLst>
              <a:ext uri="{FF2B5EF4-FFF2-40B4-BE49-F238E27FC236}">
                <a16:creationId xmlns:a16="http://schemas.microsoft.com/office/drawing/2014/main" id="{14250A5B-8C6B-6BB6-B0EA-E26454A0DBE1}"/>
              </a:ext>
            </a:extLst>
          </p:cNvPr>
          <p:cNvSpPr/>
          <p:nvPr/>
        </p:nvSpPr>
        <p:spPr>
          <a:xfrm rot="3594505">
            <a:off x="2752754" y="4451965"/>
            <a:ext cx="574569" cy="210965"/>
          </a:xfrm>
          <a:prstGeom prst="curvedUp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0000"/>
              </a:solidFill>
              <a:effectLst/>
              <a:uLnTx/>
              <a:uFillTx/>
              <a:latin typeface="Arial" panose="020B0604020202020204"/>
              <a:ea typeface="+mn-ea"/>
              <a:cs typeface="+mn-cs"/>
            </a:endParaRPr>
          </a:p>
        </p:txBody>
      </p:sp>
      <p:sp>
        <p:nvSpPr>
          <p:cNvPr id="150" name="TextBox 149">
            <a:extLst>
              <a:ext uri="{FF2B5EF4-FFF2-40B4-BE49-F238E27FC236}">
                <a16:creationId xmlns:a16="http://schemas.microsoft.com/office/drawing/2014/main" id="{5D14B553-C9E0-2D7F-9A63-E0685FA21D53}"/>
              </a:ext>
            </a:extLst>
          </p:cNvPr>
          <p:cNvSpPr txBox="1"/>
          <p:nvPr/>
        </p:nvSpPr>
        <p:spPr>
          <a:xfrm>
            <a:off x="3510328" y="4165354"/>
            <a:ext cx="960148" cy="461665"/>
          </a:xfrm>
          <a:prstGeom prst="rect">
            <a:avLst/>
          </a:prstGeom>
          <a:noFill/>
          <a:ln w="19050">
            <a:solidFill>
              <a:srgbClr val="0070C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a:cs typeface="Aria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Split Loop Direction</a:t>
            </a:r>
          </a:p>
        </p:txBody>
      </p:sp>
      <p:cxnSp>
        <p:nvCxnSpPr>
          <p:cNvPr id="154" name="Straight Arrow Connector 153">
            <a:extLst>
              <a:ext uri="{FF2B5EF4-FFF2-40B4-BE49-F238E27FC236}">
                <a16:creationId xmlns:a16="http://schemas.microsoft.com/office/drawing/2014/main" id="{CFC24726-437D-A13C-16DA-D70114C5134E}"/>
              </a:ext>
            </a:extLst>
          </p:cNvPr>
          <p:cNvCxnSpPr>
            <a:cxnSpLocks/>
            <a:stCxn id="150" idx="1"/>
            <a:endCxn id="123" idx="3"/>
          </p:cNvCxnSpPr>
          <p:nvPr/>
        </p:nvCxnSpPr>
        <p:spPr>
          <a:xfrm flipH="1">
            <a:off x="2942161" y="4396187"/>
            <a:ext cx="568167" cy="202739"/>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7BCC07E3-2A91-1DA4-F4BF-2589CFAB36F1}"/>
              </a:ext>
            </a:extLst>
          </p:cNvPr>
          <p:cNvSpPr txBox="1"/>
          <p:nvPr/>
        </p:nvSpPr>
        <p:spPr>
          <a:xfrm>
            <a:off x="5413250" y="1711024"/>
            <a:ext cx="133281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Rear Drive Unit</a:t>
            </a:r>
          </a:p>
        </p:txBody>
      </p:sp>
      <p:sp>
        <p:nvSpPr>
          <p:cNvPr id="168" name="TextBox 167">
            <a:extLst>
              <a:ext uri="{FF2B5EF4-FFF2-40B4-BE49-F238E27FC236}">
                <a16:creationId xmlns:a16="http://schemas.microsoft.com/office/drawing/2014/main" id="{E19DAC7F-24B9-0B8C-28D3-A2BAAFC9D7BA}"/>
              </a:ext>
            </a:extLst>
          </p:cNvPr>
          <p:cNvSpPr txBox="1"/>
          <p:nvPr/>
        </p:nvSpPr>
        <p:spPr>
          <a:xfrm>
            <a:off x="5332960" y="3220796"/>
            <a:ext cx="133281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Front Drive Unit</a:t>
            </a:r>
          </a:p>
        </p:txBody>
      </p:sp>
      <p:sp>
        <p:nvSpPr>
          <p:cNvPr id="4" name="TextBox 3">
            <a:extLst>
              <a:ext uri="{FF2B5EF4-FFF2-40B4-BE49-F238E27FC236}">
                <a16:creationId xmlns:a16="http://schemas.microsoft.com/office/drawing/2014/main" id="{FD3BF8DF-1AB0-B6A8-FD8F-5362D1680727}"/>
              </a:ext>
            </a:extLst>
          </p:cNvPr>
          <p:cNvSpPr txBox="1"/>
          <p:nvPr/>
        </p:nvSpPr>
        <p:spPr>
          <a:xfrm>
            <a:off x="4475492" y="4671587"/>
            <a:ext cx="803753" cy="369332"/>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Pump</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cxnSp>
        <p:nvCxnSpPr>
          <p:cNvPr id="25" name="Straight Arrow Connector 24">
            <a:extLst>
              <a:ext uri="{FF2B5EF4-FFF2-40B4-BE49-F238E27FC236}">
                <a16:creationId xmlns:a16="http://schemas.microsoft.com/office/drawing/2014/main" id="{574325E0-8C76-AF78-DA10-A5A630EF5101}"/>
              </a:ext>
            </a:extLst>
          </p:cNvPr>
          <p:cNvCxnSpPr>
            <a:cxnSpLocks/>
            <a:endCxn id="6" idx="3"/>
          </p:cNvCxnSpPr>
          <p:nvPr/>
        </p:nvCxnSpPr>
        <p:spPr>
          <a:xfrm flipH="1" flipV="1">
            <a:off x="7183669" y="3037789"/>
            <a:ext cx="885407" cy="7604"/>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E756E36-592E-765C-387D-213F6C096A5B}"/>
              </a:ext>
            </a:extLst>
          </p:cNvPr>
          <p:cNvSpPr txBox="1"/>
          <p:nvPr/>
        </p:nvSpPr>
        <p:spPr>
          <a:xfrm>
            <a:off x="4526857" y="4330639"/>
            <a:ext cx="7232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80 W</a:t>
            </a:r>
          </a:p>
        </p:txBody>
      </p:sp>
      <p:sp>
        <p:nvSpPr>
          <p:cNvPr id="6" name="TextBox 5">
            <a:extLst>
              <a:ext uri="{FF2B5EF4-FFF2-40B4-BE49-F238E27FC236}">
                <a16:creationId xmlns:a16="http://schemas.microsoft.com/office/drawing/2014/main" id="{72D8FB7A-0D4C-CFE9-1D7F-258CACA4BA9F}"/>
              </a:ext>
            </a:extLst>
          </p:cNvPr>
          <p:cNvSpPr txBox="1"/>
          <p:nvPr/>
        </p:nvSpPr>
        <p:spPr>
          <a:xfrm>
            <a:off x="6274228" y="2853123"/>
            <a:ext cx="909441" cy="369332"/>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FTPIM</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4B83CDB1-5B0F-2EB8-3938-F0A105FBDAE6}"/>
              </a:ext>
            </a:extLst>
          </p:cNvPr>
          <p:cNvSpPr txBox="1"/>
          <p:nvPr/>
        </p:nvSpPr>
        <p:spPr>
          <a:xfrm>
            <a:off x="6273731" y="1991532"/>
            <a:ext cx="909441" cy="369332"/>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rgbClr val="D6DBD3">
                    <a:lumMod val="10000"/>
                  </a:srgbClr>
                </a:solidFill>
                <a:latin typeface="Arial" panose="020B0604020202020204"/>
                <a:cs typeface="Arial"/>
              </a:rPr>
              <a:t>R</a:t>
            </a: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TPIM</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cxnSp>
        <p:nvCxnSpPr>
          <p:cNvPr id="15" name="Straight Arrow Connector 14">
            <a:extLst>
              <a:ext uri="{FF2B5EF4-FFF2-40B4-BE49-F238E27FC236}">
                <a16:creationId xmlns:a16="http://schemas.microsoft.com/office/drawing/2014/main" id="{DB4D10C4-8FF8-60D9-82F4-C0966C616FAD}"/>
              </a:ext>
            </a:extLst>
          </p:cNvPr>
          <p:cNvCxnSpPr>
            <a:cxnSpLocks/>
            <a:stCxn id="11" idx="1"/>
            <a:endCxn id="62" idx="3"/>
          </p:cNvCxnSpPr>
          <p:nvPr/>
        </p:nvCxnSpPr>
        <p:spPr>
          <a:xfrm flipH="1">
            <a:off x="5850853" y="2176198"/>
            <a:ext cx="422878" cy="73"/>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317872A-A668-6A43-C3F0-D7C508EA1A9E}"/>
              </a:ext>
            </a:extLst>
          </p:cNvPr>
          <p:cNvSpPr txBox="1"/>
          <p:nvPr/>
        </p:nvSpPr>
        <p:spPr>
          <a:xfrm>
            <a:off x="4932422" y="1709546"/>
            <a:ext cx="2539697" cy="768473"/>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21" name="TextBox 20">
            <a:extLst>
              <a:ext uri="{FF2B5EF4-FFF2-40B4-BE49-F238E27FC236}">
                <a16:creationId xmlns:a16="http://schemas.microsoft.com/office/drawing/2014/main" id="{634677EC-BA6D-8AEC-8354-81E775953898}"/>
              </a:ext>
            </a:extLst>
          </p:cNvPr>
          <p:cNvSpPr txBox="1"/>
          <p:nvPr/>
        </p:nvSpPr>
        <p:spPr>
          <a:xfrm>
            <a:off x="4932422" y="2747906"/>
            <a:ext cx="2539697" cy="768473"/>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24" name="TextBox 23">
            <a:extLst>
              <a:ext uri="{FF2B5EF4-FFF2-40B4-BE49-F238E27FC236}">
                <a16:creationId xmlns:a16="http://schemas.microsoft.com/office/drawing/2014/main" id="{DF70B919-61D8-7293-3D16-B3F8FC962179}"/>
              </a:ext>
            </a:extLst>
          </p:cNvPr>
          <p:cNvSpPr txBox="1"/>
          <p:nvPr/>
        </p:nvSpPr>
        <p:spPr>
          <a:xfrm>
            <a:off x="3918201" y="5004446"/>
            <a:ext cx="2110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∆P = -83.1633 kPa</a:t>
            </a:r>
          </a:p>
        </p:txBody>
      </p:sp>
      <p:sp>
        <p:nvSpPr>
          <p:cNvPr id="26" name="TextBox 25">
            <a:extLst>
              <a:ext uri="{FF2B5EF4-FFF2-40B4-BE49-F238E27FC236}">
                <a16:creationId xmlns:a16="http://schemas.microsoft.com/office/drawing/2014/main" id="{998E79FC-11F3-615A-B673-E3952CD2B6F2}"/>
              </a:ext>
            </a:extLst>
          </p:cNvPr>
          <p:cNvSpPr txBox="1"/>
          <p:nvPr/>
        </p:nvSpPr>
        <p:spPr>
          <a:xfrm>
            <a:off x="5185485" y="3543434"/>
            <a:ext cx="2033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∆P = 30.5537 kPa</a:t>
            </a:r>
          </a:p>
        </p:txBody>
      </p:sp>
      <p:sp>
        <p:nvSpPr>
          <p:cNvPr id="27" name="TextBox 26">
            <a:extLst>
              <a:ext uri="{FF2B5EF4-FFF2-40B4-BE49-F238E27FC236}">
                <a16:creationId xmlns:a16="http://schemas.microsoft.com/office/drawing/2014/main" id="{A30E0521-371B-BE3F-C064-BC3C19DF7A19}"/>
              </a:ext>
            </a:extLst>
          </p:cNvPr>
          <p:cNvSpPr txBox="1"/>
          <p:nvPr/>
        </p:nvSpPr>
        <p:spPr>
          <a:xfrm>
            <a:off x="5247496" y="1348910"/>
            <a:ext cx="2033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∆P = 23.3266 kPa</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D855B58-AADB-5B6A-3194-2EA246B5E165}"/>
                  </a:ext>
                </a:extLst>
              </p:cNvPr>
              <p:cNvSpPr txBox="1"/>
              <p:nvPr/>
            </p:nvSpPr>
            <p:spPr>
              <a:xfrm>
                <a:off x="8913951" y="229651"/>
                <a:ext cx="2610715" cy="1072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𝐷𝑈</m:t>
                          </m:r>
                        </m:sub>
                      </m:sSub>
                      <m:r>
                        <a:rPr lang="en-US" i="1">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𝑅𝐷𝑈</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𝐹𝐷𝑈</m:t>
                              </m:r>
                            </m:sub>
                          </m:sSub>
                        </m:num>
                        <m:den>
                          <m:r>
                            <a:rPr lang="en-US" b="0" i="1" smtClean="0">
                              <a:latin typeface="Cambria Math" panose="02040503050406030204" pitchFamily="18" charset="0"/>
                              <a:ea typeface="Cambria Math" panose="02040503050406030204" pitchFamily="18" charset="0"/>
                            </a:rPr>
                            <m:t>2</m:t>
                          </m:r>
                        </m:den>
                      </m:f>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𝐷𝑈</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26.9402 </m:t>
                      </m:r>
                      <m:r>
                        <a:rPr lang="en-US" b="0" i="1" smtClean="0">
                          <a:latin typeface="Cambria Math" panose="02040503050406030204" pitchFamily="18" charset="0"/>
                          <a:ea typeface="Cambria Math" panose="02040503050406030204" pitchFamily="18" charset="0"/>
                        </a:rPr>
                        <m:t>𝑘𝑃𝑎</m:t>
                      </m:r>
                    </m:oMath>
                  </m:oMathPara>
                </a14:m>
                <a:endParaRPr lang="en-US" b="0" dirty="0">
                  <a:ea typeface="Cambria Math" panose="02040503050406030204" pitchFamily="18" charset="0"/>
                </a:endParaRPr>
              </a:p>
              <a:p>
                <a:endParaRPr lang="en-US" dirty="0"/>
              </a:p>
            </p:txBody>
          </p:sp>
        </mc:Choice>
        <mc:Fallback xmlns="">
          <p:sp>
            <p:nvSpPr>
              <p:cNvPr id="36" name="TextBox 35">
                <a:extLst>
                  <a:ext uri="{FF2B5EF4-FFF2-40B4-BE49-F238E27FC236}">
                    <a16:creationId xmlns:a16="http://schemas.microsoft.com/office/drawing/2014/main" id="{7D855B58-AADB-5B6A-3194-2EA246B5E165}"/>
                  </a:ext>
                </a:extLst>
              </p:cNvPr>
              <p:cNvSpPr txBox="1">
                <a:spLocks noRot="1" noChangeAspect="1" noMove="1" noResize="1" noEditPoints="1" noAdjustHandles="1" noChangeArrowheads="1" noChangeShapeType="1" noTextEdit="1"/>
              </p:cNvSpPr>
              <p:nvPr/>
            </p:nvSpPr>
            <p:spPr>
              <a:xfrm>
                <a:off x="8913951" y="229651"/>
                <a:ext cx="2610715" cy="107260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928F97A-EF0C-403A-37DE-4E644DF2AA35}"/>
                  </a:ext>
                </a:extLst>
              </p:cNvPr>
              <p:cNvSpPr txBox="1"/>
              <p:nvPr/>
            </p:nvSpPr>
            <p:spPr>
              <a:xfrm>
                <a:off x="7826477" y="4869420"/>
                <a:ext cx="4212033" cy="9661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0=</m:t>
                      </m:r>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𝑝𝑢𝑚𝑝</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𝐷𝑈</m:t>
                          </m:r>
                        </m:sub>
                      </m:sSub>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𝑂𝐵𝐶𝑀</m:t>
                          </m:r>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𝑜𝑡h𝑒𝑟</m:t>
                          </m:r>
                        </m:sub>
                      </m:sSub>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𝑜𝑡h𝑒𝑟</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𝑝𝑢𝑚𝑝</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𝐷𝑈</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𝑂𝐵𝐶𝑀</m:t>
                          </m:r>
                          <m:r>
                            <a:rPr lang="en-US" b="0" i="1" smtClean="0">
                              <a:latin typeface="Cambria Math" panose="02040503050406030204" pitchFamily="18" charset="0"/>
                              <a:ea typeface="Cambria Math" panose="02040503050406030204" pitchFamily="18" charset="0"/>
                            </a:rPr>
                            <m:t>2</m:t>
                          </m:r>
                        </m:sub>
                      </m:sSub>
                    </m:oMath>
                  </m:oMathPara>
                </a14:m>
                <a:endParaRPr lang="en-US"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𝑜𝑡h𝑒𝑟</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38.3180 </m:t>
                      </m:r>
                      <m:r>
                        <a:rPr lang="en-US" b="0" i="1" smtClean="0">
                          <a:latin typeface="Cambria Math" panose="02040503050406030204" pitchFamily="18" charset="0"/>
                          <a:ea typeface="Cambria Math" panose="02040503050406030204" pitchFamily="18" charset="0"/>
                        </a:rPr>
                        <m:t>𝑘𝑃𝑎</m:t>
                      </m:r>
                    </m:oMath>
                  </m:oMathPara>
                </a14:m>
                <a:endParaRPr lang="en-US" dirty="0"/>
              </a:p>
            </p:txBody>
          </p:sp>
        </mc:Choice>
        <mc:Fallback xmlns="">
          <p:sp>
            <p:nvSpPr>
              <p:cNvPr id="38" name="TextBox 37">
                <a:extLst>
                  <a:ext uri="{FF2B5EF4-FFF2-40B4-BE49-F238E27FC236}">
                    <a16:creationId xmlns:a16="http://schemas.microsoft.com/office/drawing/2014/main" id="{2928F97A-EF0C-403A-37DE-4E644DF2AA35}"/>
                  </a:ext>
                </a:extLst>
              </p:cNvPr>
              <p:cNvSpPr txBox="1">
                <a:spLocks noRot="1" noChangeAspect="1" noMove="1" noResize="1" noEditPoints="1" noAdjustHandles="1" noChangeArrowheads="1" noChangeShapeType="1" noTextEdit="1"/>
              </p:cNvSpPr>
              <p:nvPr/>
            </p:nvSpPr>
            <p:spPr>
              <a:xfrm>
                <a:off x="7826477" y="4869420"/>
                <a:ext cx="4212033" cy="966162"/>
              </a:xfrm>
              <a:prstGeom prst="rect">
                <a:avLst/>
              </a:prstGeom>
              <a:blipFill>
                <a:blip r:embed="rId4"/>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34A87EEC-7B4A-D508-D6F0-318B6756B226}"/>
              </a:ext>
            </a:extLst>
          </p:cNvPr>
          <p:cNvSpPr txBox="1"/>
          <p:nvPr/>
        </p:nvSpPr>
        <p:spPr>
          <a:xfrm>
            <a:off x="104918" y="996108"/>
            <a:ext cx="2624436" cy="1708160"/>
          </a:xfrm>
          <a:prstGeom prst="rect">
            <a:avLst/>
          </a:prstGeom>
          <a:noFill/>
        </p:spPr>
        <p:txBody>
          <a:bodyPr wrap="none" rtlCol="0">
            <a:spAutoFit/>
          </a:bodyPr>
          <a:lstStyle/>
          <a:p>
            <a:pPr lvl="0">
              <a:defRPr/>
            </a:pPr>
            <a:r>
              <a:rPr kumimoji="0" lang="en-US" sz="1500" b="0" i="0" u="none" strike="noStrike" kern="1200" cap="none" spc="0" normalizeH="0" baseline="0" noProof="0">
                <a:ln>
                  <a:noFill/>
                </a:ln>
                <a:solidFill>
                  <a:srgbClr val="000000"/>
                </a:solidFill>
                <a:effectLst/>
                <a:uLnTx/>
                <a:uFillTx/>
                <a:latin typeface="Arial" panose="020B0604020202020204"/>
                <a:ea typeface="+mn-ea"/>
                <a:cs typeface="+mn-cs"/>
              </a:rPr>
              <a:t>Assumptions:</a:t>
            </a:r>
          </a:p>
          <a:p>
            <a:pPr marL="285750" lvl="0" indent="-285750">
              <a:buFont typeface="Arial" panose="020B0604020202020204" pitchFamily="34" charset="0"/>
              <a:buChar char="•"/>
              <a:defRPr/>
            </a:pPr>
            <a:r>
              <a:rPr kumimoji="0" lang="en-US" sz="1500" b="0" i="0" u="none" strike="noStrike" kern="1200" cap="none" spc="0" normalizeH="0" baseline="0" noProof="0">
                <a:ln>
                  <a:noFill/>
                </a:ln>
                <a:solidFill>
                  <a:srgbClr val="000000"/>
                </a:solidFill>
                <a:effectLst/>
                <a:uLnTx/>
                <a:uFillTx/>
                <a:latin typeface="Arial" panose="020B0604020202020204"/>
                <a:ea typeface="+mn-ea"/>
                <a:cs typeface="+mn-cs"/>
              </a:rPr>
              <a:t>0% LTR</a:t>
            </a:r>
          </a:p>
          <a:p>
            <a:pPr marL="285750" lvl="0" indent="-285750">
              <a:buFont typeface="Arial" panose="020B0604020202020204" pitchFamily="34" charset="0"/>
              <a:buChar char="•"/>
              <a:defRPr/>
            </a:pPr>
            <a:r>
              <a:rPr lang="en-US" sz="1500">
                <a:solidFill>
                  <a:srgbClr val="000000"/>
                </a:solidFill>
                <a:latin typeface="Arial" panose="020B0604020202020204"/>
              </a:rPr>
              <a:t>60 </a:t>
            </a:r>
            <a:r>
              <a:rPr lang="en-US" sz="1500">
                <a:solidFill>
                  <a:srgbClr val="000000"/>
                </a:solidFill>
              </a:rPr>
              <a:t>⁰C</a:t>
            </a:r>
          </a:p>
          <a:p>
            <a:pPr marL="285750" lvl="0" indent="-285750">
              <a:buFont typeface="Arial" panose="020B0604020202020204" pitchFamily="34" charset="0"/>
              <a:buChar char="•"/>
              <a:defRPr/>
            </a:pPr>
            <a:r>
              <a:rPr lang="en-US" sz="1500">
                <a:solidFill>
                  <a:srgbClr val="000000"/>
                </a:solidFill>
              </a:rPr>
              <a:t>Flow</a:t>
            </a:r>
          </a:p>
          <a:p>
            <a:pPr marL="742950" lvl="1" indent="-285750">
              <a:buFont typeface="Arial" panose="020B0604020202020204" pitchFamily="34" charset="0"/>
              <a:buChar char="•"/>
              <a:defRPr/>
            </a:pPr>
            <a:r>
              <a:rPr kumimoji="0" lang="en-US" sz="1500" b="0" i="0" u="none" strike="noStrike" kern="1200" cap="none" spc="0" normalizeH="0" baseline="0" noProof="0">
                <a:ln>
                  <a:noFill/>
                </a:ln>
                <a:solidFill>
                  <a:srgbClr val="000000"/>
                </a:solidFill>
                <a:effectLst/>
                <a:uLnTx/>
                <a:uFillTx/>
                <a:latin typeface="Arial" panose="020B0604020202020204"/>
                <a:ea typeface="+mn-ea"/>
                <a:cs typeface="+mn-cs"/>
              </a:rPr>
              <a:t>20.4 L/min (system)</a:t>
            </a:r>
          </a:p>
          <a:p>
            <a:pPr marL="742950" lvl="1" indent="-285750">
              <a:buFont typeface="Arial" panose="020B0604020202020204" pitchFamily="34" charset="0"/>
              <a:buChar char="•"/>
              <a:defRPr/>
            </a:pPr>
            <a:r>
              <a:rPr lang="en-US" sz="1500">
                <a:solidFill>
                  <a:srgbClr val="000000"/>
                </a:solidFill>
                <a:latin typeface="Arial" panose="020B0604020202020204"/>
              </a:rPr>
              <a:t>10.1 L/min (FDU)</a:t>
            </a:r>
          </a:p>
          <a:p>
            <a:pPr marL="742950" lvl="1" indent="-285750">
              <a:buFont typeface="Arial" panose="020B0604020202020204" pitchFamily="34" charset="0"/>
              <a:buChar char="•"/>
              <a:defRPr/>
            </a:pPr>
            <a:r>
              <a:rPr kumimoji="0" lang="en-US" sz="1500" b="0" i="0" u="none" strike="noStrike" kern="1200" cap="none" spc="0" normalizeH="0" baseline="0" noProof="0">
                <a:ln>
                  <a:noFill/>
                </a:ln>
                <a:solidFill>
                  <a:srgbClr val="000000"/>
                </a:solidFill>
                <a:effectLst/>
                <a:uLnTx/>
                <a:uFillTx/>
                <a:latin typeface="Arial" panose="020B0604020202020204"/>
                <a:ea typeface="+mn-ea"/>
                <a:cs typeface="+mn-cs"/>
              </a:rPr>
              <a:t>10.3 L/min (RDU)</a:t>
            </a:r>
          </a:p>
        </p:txBody>
      </p:sp>
      <p:sp>
        <p:nvSpPr>
          <p:cNvPr id="7" name="TextBox 6">
            <a:extLst>
              <a:ext uri="{FF2B5EF4-FFF2-40B4-BE49-F238E27FC236}">
                <a16:creationId xmlns:a16="http://schemas.microsoft.com/office/drawing/2014/main" id="{11DBC3FE-8EF1-6EBE-9C0E-569EBA4E18E8}"/>
              </a:ext>
            </a:extLst>
          </p:cNvPr>
          <p:cNvSpPr txBox="1"/>
          <p:nvPr/>
        </p:nvSpPr>
        <p:spPr>
          <a:xfrm>
            <a:off x="182163" y="6145688"/>
            <a:ext cx="10317248" cy="584775"/>
          </a:xfrm>
          <a:prstGeom prst="rect">
            <a:avLst/>
          </a:prstGeom>
          <a:noFill/>
        </p:spPr>
        <p:txBody>
          <a:bodyPr wrap="none" rtlCol="0">
            <a:spAutoFit/>
          </a:bodyPr>
          <a:lstStyle/>
          <a:p>
            <a:r>
              <a:rPr lang="en-US" sz="1600">
                <a:solidFill>
                  <a:srgbClr val="000000"/>
                </a:solidFill>
              </a:rPr>
              <a:t>Source of Pressure Drops: GM Garbage Collector V3 </a:t>
            </a:r>
            <a:r>
              <a:rPr lang="en-US" sz="1600">
                <a:hlinkClick r:id="rId5"/>
              </a:rPr>
              <a:t>https://anl.box.com/s/b6m2rktyqaqkx6ymi9irjzm4hzs1ls4f</a:t>
            </a:r>
            <a:r>
              <a:rPr lang="en-US" sz="1600"/>
              <a:t> </a:t>
            </a:r>
          </a:p>
          <a:p>
            <a:r>
              <a:rPr lang="en-US" sz="1600">
                <a:solidFill>
                  <a:srgbClr val="000000"/>
                </a:solidFill>
              </a:rPr>
              <a:t>(Need </a:t>
            </a:r>
            <a:r>
              <a:rPr lang="en-US" sz="1600" err="1">
                <a:solidFill>
                  <a:srgbClr val="000000"/>
                </a:solidFill>
              </a:rPr>
              <a:t>EcoCAR</a:t>
            </a:r>
            <a:r>
              <a:rPr lang="en-US" sz="1600">
                <a:solidFill>
                  <a:srgbClr val="000000"/>
                </a:solidFill>
              </a:rPr>
              <a:t> BOX Access)</a:t>
            </a:r>
          </a:p>
        </p:txBody>
      </p:sp>
      <p:cxnSp>
        <p:nvCxnSpPr>
          <p:cNvPr id="9" name="Straight Arrow Connector 8">
            <a:extLst>
              <a:ext uri="{FF2B5EF4-FFF2-40B4-BE49-F238E27FC236}">
                <a16:creationId xmlns:a16="http://schemas.microsoft.com/office/drawing/2014/main" id="{770AFC38-EC47-7C06-6B38-73DE4A2AE5E2}"/>
              </a:ext>
            </a:extLst>
          </p:cNvPr>
          <p:cNvCxnSpPr>
            <a:cxnSpLocks/>
            <a:endCxn id="36" idx="1"/>
          </p:cNvCxnSpPr>
          <p:nvPr/>
        </p:nvCxnSpPr>
        <p:spPr>
          <a:xfrm flipV="1">
            <a:off x="7596140" y="765952"/>
            <a:ext cx="1317811" cy="9701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0419B41-C74B-7570-FF36-BECB8315F097}"/>
              </a:ext>
            </a:extLst>
          </p:cNvPr>
          <p:cNvSpPr txBox="1"/>
          <p:nvPr/>
        </p:nvSpPr>
        <p:spPr>
          <a:xfrm>
            <a:off x="8582846" y="4341897"/>
            <a:ext cx="364100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*∆P for Radiator, IPE is not given. It is approximated as:</a:t>
            </a:r>
          </a:p>
        </p:txBody>
      </p:sp>
      <p:sp>
        <p:nvSpPr>
          <p:cNvPr id="12" name="TextBox 11">
            <a:extLst>
              <a:ext uri="{FF2B5EF4-FFF2-40B4-BE49-F238E27FC236}">
                <a16:creationId xmlns:a16="http://schemas.microsoft.com/office/drawing/2014/main" id="{4B16F47A-3741-420D-BC04-B3A2BA064780}"/>
              </a:ext>
            </a:extLst>
          </p:cNvPr>
          <p:cNvSpPr txBox="1"/>
          <p:nvPr/>
        </p:nvSpPr>
        <p:spPr>
          <a:xfrm>
            <a:off x="7555303" y="3343234"/>
            <a:ext cx="1027543"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OBCM2</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cxnSp>
        <p:nvCxnSpPr>
          <p:cNvPr id="13" name="Connector: Elbow 12">
            <a:extLst>
              <a:ext uri="{FF2B5EF4-FFF2-40B4-BE49-F238E27FC236}">
                <a16:creationId xmlns:a16="http://schemas.microsoft.com/office/drawing/2014/main" id="{C21EA797-A4C3-0698-C7FE-BF0C56DA3F97}"/>
              </a:ext>
            </a:extLst>
          </p:cNvPr>
          <p:cNvCxnSpPr>
            <a:cxnSpLocks/>
            <a:endCxn id="12" idx="2"/>
          </p:cNvCxnSpPr>
          <p:nvPr/>
        </p:nvCxnSpPr>
        <p:spPr>
          <a:xfrm rot="16200000" flipV="1">
            <a:off x="7849032" y="3932610"/>
            <a:ext cx="440089" cy="1"/>
          </a:xfrm>
          <a:prstGeom prst="bentConnector3">
            <a:avLst>
              <a:gd name="adj1" fmla="val 50000"/>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65EF4BB-AE09-4B11-809C-3B336A4C4010}"/>
              </a:ext>
            </a:extLst>
          </p:cNvPr>
          <p:cNvSpPr/>
          <p:nvPr/>
        </p:nvSpPr>
        <p:spPr>
          <a:xfrm>
            <a:off x="4710545" y="1348910"/>
            <a:ext cx="2844755" cy="2550767"/>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F31F412-E1DE-0A05-C1CC-1395E7688526}"/>
              </a:ext>
            </a:extLst>
          </p:cNvPr>
          <p:cNvSpPr txBox="1"/>
          <p:nvPr/>
        </p:nvSpPr>
        <p:spPr>
          <a:xfrm>
            <a:off x="10007851" y="3126053"/>
            <a:ext cx="1269899" cy="276999"/>
          </a:xfrm>
          <a:prstGeom prst="rect">
            <a:avLst/>
          </a:prstGeom>
          <a:noFill/>
        </p:spPr>
        <p:txBody>
          <a:bodyPr wrap="none" rtlCol="0">
            <a:spAutoFit/>
          </a:bodyPr>
          <a:lstStyle/>
          <a:p>
            <a:r>
              <a:rPr lang="en-US" sz="1200" dirty="0"/>
              <a:t>Curtesy of </a:t>
            </a:r>
            <a:r>
              <a:rPr lang="en-US" sz="1200" dirty="0">
                <a:hlinkClick r:id="rId6"/>
              </a:rPr>
              <a:t>MAC</a:t>
            </a:r>
            <a:endParaRPr lang="en-US" sz="1200" dirty="0"/>
          </a:p>
        </p:txBody>
      </p:sp>
      <p:cxnSp>
        <p:nvCxnSpPr>
          <p:cNvPr id="17" name="Straight Arrow Connector 16">
            <a:extLst>
              <a:ext uri="{FF2B5EF4-FFF2-40B4-BE49-F238E27FC236}">
                <a16:creationId xmlns:a16="http://schemas.microsoft.com/office/drawing/2014/main" id="{CB08C363-8CA8-D393-59CC-6813D7DE4CE5}"/>
              </a:ext>
            </a:extLst>
          </p:cNvPr>
          <p:cNvCxnSpPr>
            <a:cxnSpLocks/>
          </p:cNvCxnSpPr>
          <p:nvPr/>
        </p:nvCxnSpPr>
        <p:spPr>
          <a:xfrm flipV="1">
            <a:off x="8540307" y="3058369"/>
            <a:ext cx="726777" cy="31618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2" name="Chart 21">
            <a:extLst>
              <a:ext uri="{FF2B5EF4-FFF2-40B4-BE49-F238E27FC236}">
                <a16:creationId xmlns:a16="http://schemas.microsoft.com/office/drawing/2014/main" id="{A5520397-4744-58A2-E2D4-F8C10857CEDA}"/>
              </a:ext>
            </a:extLst>
          </p:cNvPr>
          <p:cNvGraphicFramePr>
            <a:graphicFrameLocks/>
          </p:cNvGraphicFramePr>
          <p:nvPr/>
        </p:nvGraphicFramePr>
        <p:xfrm>
          <a:off x="9054079" y="1284032"/>
          <a:ext cx="2923291" cy="1774337"/>
        </p:xfrm>
        <a:graphic>
          <a:graphicData uri="http://schemas.openxmlformats.org/drawingml/2006/chart">
            <c:chart xmlns:c="http://schemas.openxmlformats.org/drawingml/2006/chart" xmlns:r="http://schemas.openxmlformats.org/officeDocument/2006/relationships" r:id="rId7"/>
          </a:graphicData>
        </a:graphic>
      </p:graphicFrame>
      <p:sp>
        <p:nvSpPr>
          <p:cNvPr id="28" name="TextBox 27">
            <a:extLst>
              <a:ext uri="{FF2B5EF4-FFF2-40B4-BE49-F238E27FC236}">
                <a16:creationId xmlns:a16="http://schemas.microsoft.com/office/drawing/2014/main" id="{3F30F76F-6609-2E47-24B0-196884C51E3D}"/>
              </a:ext>
            </a:extLst>
          </p:cNvPr>
          <p:cNvSpPr txBox="1"/>
          <p:nvPr/>
        </p:nvSpPr>
        <p:spPr>
          <a:xfrm>
            <a:off x="9536491" y="3429000"/>
            <a:ext cx="2550698" cy="369332"/>
          </a:xfrm>
          <a:prstGeom prst="rect">
            <a:avLst/>
          </a:prstGeom>
          <a:noFill/>
        </p:spPr>
        <p:txBody>
          <a:bodyPr wrap="none" rtlCol="0">
            <a:spAutoFit/>
          </a:bodyPr>
          <a:lstStyle/>
          <a:p>
            <a:r>
              <a:rPr lang="en-US" dirty="0"/>
              <a:t>2.5969psi=17.9051kPa</a:t>
            </a:r>
          </a:p>
        </p:txBody>
      </p:sp>
      <p:sp>
        <p:nvSpPr>
          <p:cNvPr id="8" name="Rectangle 7">
            <a:extLst>
              <a:ext uri="{FF2B5EF4-FFF2-40B4-BE49-F238E27FC236}">
                <a16:creationId xmlns:a16="http://schemas.microsoft.com/office/drawing/2014/main" id="{ED298895-3594-0556-9219-8B8F678900D8}"/>
              </a:ext>
            </a:extLst>
          </p:cNvPr>
          <p:cNvSpPr/>
          <p:nvPr/>
        </p:nvSpPr>
        <p:spPr>
          <a:xfrm>
            <a:off x="2512012" y="933401"/>
            <a:ext cx="9575070" cy="49284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Confidential Thermal Architecture and Pressure Drops</a:t>
            </a:r>
          </a:p>
        </p:txBody>
      </p:sp>
      <p:sp>
        <p:nvSpPr>
          <p:cNvPr id="14" name="Rectangle 13">
            <a:extLst>
              <a:ext uri="{FF2B5EF4-FFF2-40B4-BE49-F238E27FC236}">
                <a16:creationId xmlns:a16="http://schemas.microsoft.com/office/drawing/2014/main" id="{652584B5-E4A2-7760-F300-EEC54FE27A0A}"/>
              </a:ext>
            </a:extLst>
          </p:cNvPr>
          <p:cNvSpPr/>
          <p:nvPr/>
        </p:nvSpPr>
        <p:spPr>
          <a:xfrm>
            <a:off x="8582846" y="200721"/>
            <a:ext cx="3029051" cy="9004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6771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636B059-9059-267D-6156-3C6CBE8D9FD1}"/>
              </a:ext>
            </a:extLst>
          </p:cNvPr>
          <p:cNvCxnSpPr>
            <a:cxnSpLocks/>
          </p:cNvCxnSpPr>
          <p:nvPr/>
        </p:nvCxnSpPr>
        <p:spPr>
          <a:xfrm flipV="1">
            <a:off x="1502734" y="2184941"/>
            <a:ext cx="0" cy="3287068"/>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A117346-E937-0694-4794-24936654ED9F}"/>
              </a:ext>
            </a:extLst>
          </p:cNvPr>
          <p:cNvSpPr>
            <a:spLocks noGrp="1"/>
          </p:cNvSpPr>
          <p:nvPr>
            <p:ph type="title"/>
          </p:nvPr>
        </p:nvSpPr>
        <p:spPr/>
        <p:txBody>
          <a:bodyPr/>
          <a:lstStyle/>
          <a:p>
            <a:r>
              <a:rPr lang="en-US"/>
              <a:t>Diagram</a:t>
            </a:r>
          </a:p>
        </p:txBody>
      </p:sp>
      <p:sp>
        <p:nvSpPr>
          <p:cNvPr id="5" name="Rectangle: Rounded Corners 4">
            <a:extLst>
              <a:ext uri="{FF2B5EF4-FFF2-40B4-BE49-F238E27FC236}">
                <a16:creationId xmlns:a16="http://schemas.microsoft.com/office/drawing/2014/main" id="{56BF93D2-2160-EB8A-23B3-F152BA721B18}"/>
              </a:ext>
            </a:extLst>
          </p:cNvPr>
          <p:cNvSpPr/>
          <p:nvPr/>
        </p:nvSpPr>
        <p:spPr>
          <a:xfrm>
            <a:off x="5477774" y="2208362"/>
            <a:ext cx="1354347" cy="23205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HX</a:t>
            </a:r>
          </a:p>
        </p:txBody>
      </p:sp>
      <p:sp>
        <p:nvSpPr>
          <p:cNvPr id="6" name="Rectangle 5">
            <a:extLst>
              <a:ext uri="{FF2B5EF4-FFF2-40B4-BE49-F238E27FC236}">
                <a16:creationId xmlns:a16="http://schemas.microsoft.com/office/drawing/2014/main" id="{0A271095-57B3-87FD-A26F-5B10F855D794}"/>
              </a:ext>
            </a:extLst>
          </p:cNvPr>
          <p:cNvSpPr/>
          <p:nvPr/>
        </p:nvSpPr>
        <p:spPr>
          <a:xfrm>
            <a:off x="5687683" y="1894935"/>
            <a:ext cx="189781" cy="310551"/>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069EA3E-9122-009B-20AB-E73E03C14C17}"/>
              </a:ext>
            </a:extLst>
          </p:cNvPr>
          <p:cNvSpPr/>
          <p:nvPr/>
        </p:nvSpPr>
        <p:spPr>
          <a:xfrm>
            <a:off x="6409427" y="1894935"/>
            <a:ext cx="189781" cy="31055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108CF1B-433D-D3BC-11A3-C159A3D8E834}"/>
              </a:ext>
            </a:extLst>
          </p:cNvPr>
          <p:cNvSpPr/>
          <p:nvPr/>
        </p:nvSpPr>
        <p:spPr>
          <a:xfrm>
            <a:off x="6409427" y="4528867"/>
            <a:ext cx="189781" cy="31055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6017B03-E6D9-150B-DD23-085012ADA8FC}"/>
              </a:ext>
            </a:extLst>
          </p:cNvPr>
          <p:cNvSpPr/>
          <p:nvPr/>
        </p:nvSpPr>
        <p:spPr>
          <a:xfrm>
            <a:off x="5696308" y="4528867"/>
            <a:ext cx="189781" cy="310551"/>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3E2C9A-CDE4-9C05-3E3A-D6EB54D412EA}"/>
              </a:ext>
            </a:extLst>
          </p:cNvPr>
          <p:cNvSpPr txBox="1"/>
          <p:nvPr/>
        </p:nvSpPr>
        <p:spPr>
          <a:xfrm>
            <a:off x="5602685" y="4130145"/>
            <a:ext cx="377026" cy="369332"/>
          </a:xfrm>
          <a:prstGeom prst="rect">
            <a:avLst/>
          </a:prstGeom>
          <a:noFill/>
        </p:spPr>
        <p:txBody>
          <a:bodyPr wrap="none" rtlCol="0">
            <a:spAutoFit/>
          </a:bodyPr>
          <a:lstStyle/>
          <a:p>
            <a:r>
              <a:rPr lang="en-US">
                <a:solidFill>
                  <a:schemeClr val="bg1"/>
                </a:solidFill>
              </a:rPr>
              <a:t>In</a:t>
            </a:r>
          </a:p>
        </p:txBody>
      </p:sp>
      <p:sp>
        <p:nvSpPr>
          <p:cNvPr id="11" name="TextBox 10">
            <a:extLst>
              <a:ext uri="{FF2B5EF4-FFF2-40B4-BE49-F238E27FC236}">
                <a16:creationId xmlns:a16="http://schemas.microsoft.com/office/drawing/2014/main" id="{88290E82-59B5-B845-8769-8F47057EE3DD}"/>
              </a:ext>
            </a:extLst>
          </p:cNvPr>
          <p:cNvSpPr txBox="1"/>
          <p:nvPr/>
        </p:nvSpPr>
        <p:spPr>
          <a:xfrm>
            <a:off x="6315804" y="2222737"/>
            <a:ext cx="377026" cy="369332"/>
          </a:xfrm>
          <a:prstGeom prst="rect">
            <a:avLst/>
          </a:prstGeom>
          <a:noFill/>
        </p:spPr>
        <p:txBody>
          <a:bodyPr wrap="none" rtlCol="0">
            <a:spAutoFit/>
          </a:bodyPr>
          <a:lstStyle/>
          <a:p>
            <a:r>
              <a:rPr lang="en-US">
                <a:solidFill>
                  <a:schemeClr val="bg1"/>
                </a:solidFill>
              </a:rPr>
              <a:t>In</a:t>
            </a:r>
          </a:p>
        </p:txBody>
      </p:sp>
      <p:sp>
        <p:nvSpPr>
          <p:cNvPr id="12" name="TextBox 11">
            <a:extLst>
              <a:ext uri="{FF2B5EF4-FFF2-40B4-BE49-F238E27FC236}">
                <a16:creationId xmlns:a16="http://schemas.microsoft.com/office/drawing/2014/main" id="{AC0A7325-DD04-8D44-B5E8-9E094D1F2C49}"/>
              </a:ext>
            </a:extLst>
          </p:cNvPr>
          <p:cNvSpPr txBox="1"/>
          <p:nvPr/>
        </p:nvSpPr>
        <p:spPr>
          <a:xfrm>
            <a:off x="6163408" y="4130145"/>
            <a:ext cx="556563" cy="369332"/>
          </a:xfrm>
          <a:prstGeom prst="rect">
            <a:avLst/>
          </a:prstGeom>
          <a:noFill/>
        </p:spPr>
        <p:txBody>
          <a:bodyPr wrap="none" rtlCol="0">
            <a:spAutoFit/>
          </a:bodyPr>
          <a:lstStyle/>
          <a:p>
            <a:r>
              <a:rPr lang="en-US">
                <a:solidFill>
                  <a:schemeClr val="bg1"/>
                </a:solidFill>
              </a:rPr>
              <a:t>Out</a:t>
            </a:r>
          </a:p>
        </p:txBody>
      </p:sp>
      <p:sp>
        <p:nvSpPr>
          <p:cNvPr id="13" name="TextBox 12">
            <a:extLst>
              <a:ext uri="{FF2B5EF4-FFF2-40B4-BE49-F238E27FC236}">
                <a16:creationId xmlns:a16="http://schemas.microsoft.com/office/drawing/2014/main" id="{DE755EC6-F4DD-C00A-F523-A8EF3ED89B2E}"/>
              </a:ext>
            </a:extLst>
          </p:cNvPr>
          <p:cNvSpPr txBox="1"/>
          <p:nvPr/>
        </p:nvSpPr>
        <p:spPr>
          <a:xfrm>
            <a:off x="5512916" y="2222737"/>
            <a:ext cx="556563" cy="369332"/>
          </a:xfrm>
          <a:prstGeom prst="rect">
            <a:avLst/>
          </a:prstGeom>
          <a:noFill/>
        </p:spPr>
        <p:txBody>
          <a:bodyPr wrap="none" rtlCol="0">
            <a:spAutoFit/>
          </a:bodyPr>
          <a:lstStyle/>
          <a:p>
            <a:r>
              <a:rPr lang="en-US">
                <a:solidFill>
                  <a:schemeClr val="bg1"/>
                </a:solidFill>
              </a:rPr>
              <a:t>Out</a:t>
            </a:r>
          </a:p>
        </p:txBody>
      </p:sp>
      <p:sp>
        <p:nvSpPr>
          <p:cNvPr id="14" name="TextBox 13">
            <a:extLst>
              <a:ext uri="{FF2B5EF4-FFF2-40B4-BE49-F238E27FC236}">
                <a16:creationId xmlns:a16="http://schemas.microsoft.com/office/drawing/2014/main" id="{EBFC316A-9274-E608-2557-3C329360A7A6}"/>
              </a:ext>
            </a:extLst>
          </p:cNvPr>
          <p:cNvSpPr txBox="1"/>
          <p:nvPr/>
        </p:nvSpPr>
        <p:spPr>
          <a:xfrm>
            <a:off x="5557800" y="2515606"/>
            <a:ext cx="404278" cy="307777"/>
          </a:xfrm>
          <a:prstGeom prst="rect">
            <a:avLst/>
          </a:prstGeom>
          <a:noFill/>
        </p:spPr>
        <p:txBody>
          <a:bodyPr wrap="none" rtlCol="0">
            <a:spAutoFit/>
          </a:bodyPr>
          <a:lstStyle/>
          <a:p>
            <a:r>
              <a:rPr lang="en-US" sz="1400" i="1">
                <a:solidFill>
                  <a:schemeClr val="bg1"/>
                </a:solidFill>
              </a:rPr>
              <a:t>S4</a:t>
            </a:r>
          </a:p>
        </p:txBody>
      </p:sp>
      <p:sp>
        <p:nvSpPr>
          <p:cNvPr id="15" name="TextBox 14">
            <a:extLst>
              <a:ext uri="{FF2B5EF4-FFF2-40B4-BE49-F238E27FC236}">
                <a16:creationId xmlns:a16="http://schemas.microsoft.com/office/drawing/2014/main" id="{4111D989-BAE9-38E0-A2A9-3347C8797D34}"/>
              </a:ext>
            </a:extLst>
          </p:cNvPr>
          <p:cNvSpPr txBox="1"/>
          <p:nvPr/>
        </p:nvSpPr>
        <p:spPr>
          <a:xfrm>
            <a:off x="6279405" y="2512858"/>
            <a:ext cx="404278" cy="307777"/>
          </a:xfrm>
          <a:prstGeom prst="rect">
            <a:avLst/>
          </a:prstGeom>
          <a:noFill/>
        </p:spPr>
        <p:txBody>
          <a:bodyPr wrap="none" rtlCol="0">
            <a:spAutoFit/>
          </a:bodyPr>
          <a:lstStyle/>
          <a:p>
            <a:r>
              <a:rPr lang="en-US" sz="1400" i="1">
                <a:solidFill>
                  <a:schemeClr val="bg1"/>
                </a:solidFill>
              </a:rPr>
              <a:t>S1</a:t>
            </a:r>
          </a:p>
        </p:txBody>
      </p:sp>
      <p:sp>
        <p:nvSpPr>
          <p:cNvPr id="16" name="TextBox 15">
            <a:extLst>
              <a:ext uri="{FF2B5EF4-FFF2-40B4-BE49-F238E27FC236}">
                <a16:creationId xmlns:a16="http://schemas.microsoft.com/office/drawing/2014/main" id="{7845A067-BC87-B069-6F87-BBDBBF00BDC2}"/>
              </a:ext>
            </a:extLst>
          </p:cNvPr>
          <p:cNvSpPr txBox="1"/>
          <p:nvPr/>
        </p:nvSpPr>
        <p:spPr>
          <a:xfrm>
            <a:off x="6239550" y="3918629"/>
            <a:ext cx="404278" cy="307777"/>
          </a:xfrm>
          <a:prstGeom prst="rect">
            <a:avLst/>
          </a:prstGeom>
          <a:noFill/>
        </p:spPr>
        <p:txBody>
          <a:bodyPr wrap="none" rtlCol="0">
            <a:spAutoFit/>
          </a:bodyPr>
          <a:lstStyle/>
          <a:p>
            <a:r>
              <a:rPr lang="en-US" sz="1400" i="1">
                <a:solidFill>
                  <a:schemeClr val="bg1"/>
                </a:solidFill>
              </a:rPr>
              <a:t>S2</a:t>
            </a:r>
          </a:p>
        </p:txBody>
      </p:sp>
      <p:sp>
        <p:nvSpPr>
          <p:cNvPr id="17" name="TextBox 16">
            <a:extLst>
              <a:ext uri="{FF2B5EF4-FFF2-40B4-BE49-F238E27FC236}">
                <a16:creationId xmlns:a16="http://schemas.microsoft.com/office/drawing/2014/main" id="{B2AFA5C8-482C-7B54-F5AB-55ACE70D4418}"/>
              </a:ext>
            </a:extLst>
          </p:cNvPr>
          <p:cNvSpPr txBox="1"/>
          <p:nvPr/>
        </p:nvSpPr>
        <p:spPr>
          <a:xfrm>
            <a:off x="5569533" y="3946865"/>
            <a:ext cx="404278" cy="307777"/>
          </a:xfrm>
          <a:prstGeom prst="rect">
            <a:avLst/>
          </a:prstGeom>
          <a:noFill/>
        </p:spPr>
        <p:txBody>
          <a:bodyPr wrap="none" rtlCol="0">
            <a:spAutoFit/>
          </a:bodyPr>
          <a:lstStyle/>
          <a:p>
            <a:r>
              <a:rPr lang="en-US" sz="1400" i="1">
                <a:solidFill>
                  <a:schemeClr val="bg1"/>
                </a:solidFill>
              </a:rPr>
              <a:t>S3</a:t>
            </a:r>
          </a:p>
        </p:txBody>
      </p:sp>
      <p:sp>
        <p:nvSpPr>
          <p:cNvPr id="18" name="TextBox 17">
            <a:extLst>
              <a:ext uri="{FF2B5EF4-FFF2-40B4-BE49-F238E27FC236}">
                <a16:creationId xmlns:a16="http://schemas.microsoft.com/office/drawing/2014/main" id="{49B3C4CB-D4BC-C954-A817-B8FC661825A6}"/>
              </a:ext>
            </a:extLst>
          </p:cNvPr>
          <p:cNvSpPr txBox="1"/>
          <p:nvPr/>
        </p:nvSpPr>
        <p:spPr>
          <a:xfrm>
            <a:off x="5512916" y="629728"/>
            <a:ext cx="1548373" cy="369332"/>
          </a:xfrm>
          <a:prstGeom prst="rect">
            <a:avLst/>
          </a:prstGeom>
          <a:noFill/>
        </p:spPr>
        <p:txBody>
          <a:bodyPr wrap="none" rtlCol="0">
            <a:spAutoFit/>
          </a:bodyPr>
          <a:lstStyle/>
          <a:p>
            <a:r>
              <a:rPr lang="en-US"/>
              <a:t>1”-11 ½ NPT </a:t>
            </a:r>
          </a:p>
        </p:txBody>
      </p:sp>
      <p:cxnSp>
        <p:nvCxnSpPr>
          <p:cNvPr id="20" name="Straight Arrow Connector 19">
            <a:extLst>
              <a:ext uri="{FF2B5EF4-FFF2-40B4-BE49-F238E27FC236}">
                <a16:creationId xmlns:a16="http://schemas.microsoft.com/office/drawing/2014/main" id="{38411BA5-8DDB-2C5B-1928-7815D5F18E7E}"/>
              </a:ext>
            </a:extLst>
          </p:cNvPr>
          <p:cNvCxnSpPr>
            <a:stCxn id="18" idx="2"/>
          </p:cNvCxnSpPr>
          <p:nvPr/>
        </p:nvCxnSpPr>
        <p:spPr>
          <a:xfrm flipH="1">
            <a:off x="5973811" y="999060"/>
            <a:ext cx="313292" cy="8958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AB2ECD9-4B7C-527E-E0EA-701353CA6324}"/>
              </a:ext>
            </a:extLst>
          </p:cNvPr>
          <p:cNvCxnSpPr>
            <a:cxnSpLocks/>
          </p:cNvCxnSpPr>
          <p:nvPr/>
        </p:nvCxnSpPr>
        <p:spPr>
          <a:xfrm flipH="1" flipV="1">
            <a:off x="3237186" y="5108180"/>
            <a:ext cx="1809267" cy="1"/>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317BA68-9E7D-FD43-BECF-5FC4467C4AF0}"/>
              </a:ext>
            </a:extLst>
          </p:cNvPr>
          <p:cNvCxnSpPr>
            <a:cxnSpLocks/>
          </p:cNvCxnSpPr>
          <p:nvPr/>
        </p:nvCxnSpPr>
        <p:spPr>
          <a:xfrm flipH="1">
            <a:off x="3156778" y="1696529"/>
            <a:ext cx="1812038"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D064136-31AE-8F72-1F20-83671C91E6BC}"/>
              </a:ext>
            </a:extLst>
          </p:cNvPr>
          <p:cNvSpPr txBox="1"/>
          <p:nvPr/>
        </p:nvSpPr>
        <p:spPr>
          <a:xfrm>
            <a:off x="2467150" y="1214689"/>
            <a:ext cx="1364541" cy="369332"/>
          </a:xfrm>
          <a:prstGeom prst="rect">
            <a:avLst/>
          </a:prstGeom>
          <a:noFill/>
        </p:spPr>
        <p:txBody>
          <a:bodyPr wrap="none" rtlCol="0">
            <a:spAutoFit/>
          </a:bodyPr>
          <a:lstStyle/>
          <a:p>
            <a:r>
              <a:rPr lang="en-US"/>
              <a:t>To Radiator</a:t>
            </a:r>
          </a:p>
        </p:txBody>
      </p:sp>
      <p:sp>
        <p:nvSpPr>
          <p:cNvPr id="25" name="TextBox 24">
            <a:extLst>
              <a:ext uri="{FF2B5EF4-FFF2-40B4-BE49-F238E27FC236}">
                <a16:creationId xmlns:a16="http://schemas.microsoft.com/office/drawing/2014/main" id="{B707E26B-BAE0-C7D3-5A4D-C56E034AF7D5}"/>
              </a:ext>
            </a:extLst>
          </p:cNvPr>
          <p:cNvSpPr txBox="1"/>
          <p:nvPr/>
        </p:nvSpPr>
        <p:spPr>
          <a:xfrm>
            <a:off x="2713079" y="5165733"/>
            <a:ext cx="1159292" cy="369332"/>
          </a:xfrm>
          <a:prstGeom prst="rect">
            <a:avLst/>
          </a:prstGeom>
          <a:noFill/>
        </p:spPr>
        <p:txBody>
          <a:bodyPr wrap="none" rtlCol="0">
            <a:spAutoFit/>
          </a:bodyPr>
          <a:lstStyle/>
          <a:p>
            <a:r>
              <a:rPr lang="en-US"/>
              <a:t>From IPE</a:t>
            </a:r>
          </a:p>
        </p:txBody>
      </p:sp>
      <p:sp>
        <p:nvSpPr>
          <p:cNvPr id="26" name="Rectangle: Rounded Corners 25">
            <a:extLst>
              <a:ext uri="{FF2B5EF4-FFF2-40B4-BE49-F238E27FC236}">
                <a16:creationId xmlns:a16="http://schemas.microsoft.com/office/drawing/2014/main" id="{2B7AB2DD-1C76-5338-36FE-719EB047C334}"/>
              </a:ext>
            </a:extLst>
          </p:cNvPr>
          <p:cNvSpPr/>
          <p:nvPr/>
        </p:nvSpPr>
        <p:spPr>
          <a:xfrm>
            <a:off x="5046453" y="1578634"/>
            <a:ext cx="733245" cy="286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6D77A5E8-6998-5393-0484-14747C4AB737}"/>
              </a:ext>
            </a:extLst>
          </p:cNvPr>
          <p:cNvSpPr/>
          <p:nvPr/>
        </p:nvSpPr>
        <p:spPr>
          <a:xfrm>
            <a:off x="5191177" y="4947154"/>
            <a:ext cx="733245" cy="286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D17989AF-64DD-2BA8-B712-F1A89CDF0CD4}"/>
              </a:ext>
            </a:extLst>
          </p:cNvPr>
          <p:cNvSpPr/>
          <p:nvPr/>
        </p:nvSpPr>
        <p:spPr>
          <a:xfrm>
            <a:off x="6429554" y="4934410"/>
            <a:ext cx="733245" cy="286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21350BE8-D940-BA5F-9620-19B0239B741C}"/>
              </a:ext>
            </a:extLst>
          </p:cNvPr>
          <p:cNvSpPr/>
          <p:nvPr/>
        </p:nvSpPr>
        <p:spPr>
          <a:xfrm>
            <a:off x="6409426" y="1514270"/>
            <a:ext cx="733245" cy="286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C3063CEC-E51A-77E7-1673-A3029B767D3C}"/>
              </a:ext>
            </a:extLst>
          </p:cNvPr>
          <p:cNvCxnSpPr>
            <a:cxnSpLocks/>
            <a:endCxn id="29" idx="3"/>
          </p:cNvCxnSpPr>
          <p:nvPr/>
        </p:nvCxnSpPr>
        <p:spPr>
          <a:xfrm flipH="1">
            <a:off x="7162799" y="5077865"/>
            <a:ext cx="4353465"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DD2AF25-7FB2-1AA6-8863-BD74AE2380B1}"/>
              </a:ext>
            </a:extLst>
          </p:cNvPr>
          <p:cNvCxnSpPr/>
          <p:nvPr/>
        </p:nvCxnSpPr>
        <p:spPr>
          <a:xfrm flipH="1">
            <a:off x="7226061" y="1696529"/>
            <a:ext cx="2855344"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5996178C-7567-C752-E684-9DBD41AE5059}"/>
              </a:ext>
            </a:extLst>
          </p:cNvPr>
          <p:cNvSpPr txBox="1"/>
          <p:nvPr/>
        </p:nvSpPr>
        <p:spPr>
          <a:xfrm rot="18071640">
            <a:off x="9351745" y="1667275"/>
            <a:ext cx="1851789" cy="369332"/>
          </a:xfrm>
          <a:prstGeom prst="rect">
            <a:avLst/>
          </a:prstGeom>
          <a:noFill/>
        </p:spPr>
        <p:txBody>
          <a:bodyPr wrap="none" rtlCol="0">
            <a:spAutoFit/>
          </a:bodyPr>
          <a:lstStyle/>
          <a:p>
            <a:r>
              <a:rPr lang="en-US"/>
              <a:t>From EDU Loop</a:t>
            </a:r>
          </a:p>
        </p:txBody>
      </p:sp>
      <p:sp>
        <p:nvSpPr>
          <p:cNvPr id="35" name="TextBox 34">
            <a:extLst>
              <a:ext uri="{FF2B5EF4-FFF2-40B4-BE49-F238E27FC236}">
                <a16:creationId xmlns:a16="http://schemas.microsoft.com/office/drawing/2014/main" id="{0149B534-1CE1-6BEC-5286-99BC7B251DAB}"/>
              </a:ext>
            </a:extLst>
          </p:cNvPr>
          <p:cNvSpPr txBox="1"/>
          <p:nvPr/>
        </p:nvSpPr>
        <p:spPr>
          <a:xfrm rot="17697403">
            <a:off x="10630679" y="4140680"/>
            <a:ext cx="1556901" cy="369332"/>
          </a:xfrm>
          <a:prstGeom prst="rect">
            <a:avLst/>
          </a:prstGeom>
          <a:noFill/>
        </p:spPr>
        <p:txBody>
          <a:bodyPr wrap="none" rtlCol="0">
            <a:spAutoFit/>
          </a:bodyPr>
          <a:lstStyle/>
          <a:p>
            <a:r>
              <a:rPr lang="en-US"/>
              <a:t>To EDU Loop</a:t>
            </a:r>
          </a:p>
        </p:txBody>
      </p:sp>
      <p:sp>
        <p:nvSpPr>
          <p:cNvPr id="38" name="Oval 37">
            <a:extLst>
              <a:ext uri="{FF2B5EF4-FFF2-40B4-BE49-F238E27FC236}">
                <a16:creationId xmlns:a16="http://schemas.microsoft.com/office/drawing/2014/main" id="{272212F2-D02B-2445-88D8-7350F04EAAE6}"/>
              </a:ext>
            </a:extLst>
          </p:cNvPr>
          <p:cNvSpPr/>
          <p:nvPr/>
        </p:nvSpPr>
        <p:spPr>
          <a:xfrm>
            <a:off x="10007942" y="4879581"/>
            <a:ext cx="457200" cy="45720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3E927B9E-7DFC-3239-0B7B-A8382901A099}"/>
              </a:ext>
            </a:extLst>
          </p:cNvPr>
          <p:cNvSpPr txBox="1"/>
          <p:nvPr/>
        </p:nvSpPr>
        <p:spPr>
          <a:xfrm>
            <a:off x="10069482" y="4503351"/>
            <a:ext cx="787395" cy="369332"/>
          </a:xfrm>
          <a:prstGeom prst="rect">
            <a:avLst/>
          </a:prstGeom>
          <a:noFill/>
        </p:spPr>
        <p:txBody>
          <a:bodyPr wrap="none" rtlCol="0">
            <a:spAutoFit/>
          </a:bodyPr>
          <a:lstStyle/>
          <a:p>
            <a:r>
              <a:rPr lang="en-US"/>
              <a:t>Pump</a:t>
            </a:r>
          </a:p>
        </p:txBody>
      </p:sp>
      <p:sp>
        <p:nvSpPr>
          <p:cNvPr id="44" name="Rectangle: Rounded Corners 43">
            <a:extLst>
              <a:ext uri="{FF2B5EF4-FFF2-40B4-BE49-F238E27FC236}">
                <a16:creationId xmlns:a16="http://schemas.microsoft.com/office/drawing/2014/main" id="{FC0D0761-8476-A3F0-9C4C-C19CC0670DD9}"/>
              </a:ext>
            </a:extLst>
          </p:cNvPr>
          <p:cNvSpPr/>
          <p:nvPr/>
        </p:nvSpPr>
        <p:spPr>
          <a:xfrm>
            <a:off x="7779500" y="3769207"/>
            <a:ext cx="638712" cy="457199"/>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17A5B4FA-5890-40DC-5AC9-53C5AD1722BC}"/>
              </a:ext>
            </a:extLst>
          </p:cNvPr>
          <p:cNvSpPr txBox="1"/>
          <p:nvPr/>
        </p:nvSpPr>
        <p:spPr>
          <a:xfrm>
            <a:off x="7529148" y="3351646"/>
            <a:ext cx="1172116" cy="369332"/>
          </a:xfrm>
          <a:prstGeom prst="rect">
            <a:avLst/>
          </a:prstGeom>
          <a:noFill/>
        </p:spPr>
        <p:txBody>
          <a:bodyPr wrap="none" rtlCol="0">
            <a:spAutoFit/>
          </a:bodyPr>
          <a:lstStyle/>
          <a:p>
            <a:r>
              <a:rPr lang="en-US"/>
              <a:t>Reservoir</a:t>
            </a:r>
          </a:p>
        </p:txBody>
      </p:sp>
      <p:sp>
        <p:nvSpPr>
          <p:cNvPr id="46" name="Rectangle: Rounded Corners 45">
            <a:extLst>
              <a:ext uri="{FF2B5EF4-FFF2-40B4-BE49-F238E27FC236}">
                <a16:creationId xmlns:a16="http://schemas.microsoft.com/office/drawing/2014/main" id="{2A10150E-3A5B-FC3C-A788-B8AB32F47788}"/>
              </a:ext>
            </a:extLst>
          </p:cNvPr>
          <p:cNvSpPr/>
          <p:nvPr/>
        </p:nvSpPr>
        <p:spPr>
          <a:xfrm>
            <a:off x="7939983" y="4943545"/>
            <a:ext cx="318090" cy="25877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F2FC418-396A-169B-017C-7F7E491180B5}"/>
              </a:ext>
            </a:extLst>
          </p:cNvPr>
          <p:cNvSpPr txBox="1"/>
          <p:nvPr/>
        </p:nvSpPr>
        <p:spPr>
          <a:xfrm>
            <a:off x="29989" y="1559155"/>
            <a:ext cx="1343060" cy="646331"/>
          </a:xfrm>
          <a:prstGeom prst="rect">
            <a:avLst/>
          </a:prstGeom>
          <a:noFill/>
        </p:spPr>
        <p:txBody>
          <a:bodyPr wrap="none" rtlCol="0">
            <a:spAutoFit/>
          </a:bodyPr>
          <a:lstStyle/>
          <a:p>
            <a:r>
              <a:rPr lang="en-US"/>
              <a:t>Pressure</a:t>
            </a:r>
          </a:p>
          <a:p>
            <a:r>
              <a:rPr lang="en-US"/>
              <a:t>Transducer</a:t>
            </a:r>
          </a:p>
        </p:txBody>
      </p:sp>
      <p:sp>
        <p:nvSpPr>
          <p:cNvPr id="36" name="TextBox 35">
            <a:extLst>
              <a:ext uri="{FF2B5EF4-FFF2-40B4-BE49-F238E27FC236}">
                <a16:creationId xmlns:a16="http://schemas.microsoft.com/office/drawing/2014/main" id="{CEB1D579-6A3B-9398-28DE-BC14F033AA10}"/>
              </a:ext>
            </a:extLst>
          </p:cNvPr>
          <p:cNvSpPr txBox="1"/>
          <p:nvPr/>
        </p:nvSpPr>
        <p:spPr>
          <a:xfrm>
            <a:off x="54130" y="4711472"/>
            <a:ext cx="1343060" cy="646331"/>
          </a:xfrm>
          <a:prstGeom prst="rect">
            <a:avLst/>
          </a:prstGeom>
          <a:noFill/>
        </p:spPr>
        <p:txBody>
          <a:bodyPr wrap="none" rtlCol="0">
            <a:spAutoFit/>
          </a:bodyPr>
          <a:lstStyle/>
          <a:p>
            <a:r>
              <a:rPr lang="en-US"/>
              <a:t>Pressure</a:t>
            </a:r>
          </a:p>
          <a:p>
            <a:r>
              <a:rPr lang="en-US"/>
              <a:t>Transducer</a:t>
            </a:r>
          </a:p>
        </p:txBody>
      </p:sp>
      <p:sp>
        <p:nvSpPr>
          <p:cNvPr id="42" name="Rectangle: Rounded Corners 41">
            <a:extLst>
              <a:ext uri="{FF2B5EF4-FFF2-40B4-BE49-F238E27FC236}">
                <a16:creationId xmlns:a16="http://schemas.microsoft.com/office/drawing/2014/main" id="{A46B6FFD-056C-D533-BC1B-0B73B68D168D}"/>
              </a:ext>
            </a:extLst>
          </p:cNvPr>
          <p:cNvSpPr/>
          <p:nvPr/>
        </p:nvSpPr>
        <p:spPr>
          <a:xfrm>
            <a:off x="3978090" y="4928165"/>
            <a:ext cx="733245" cy="286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B6655C99-4FB8-C980-ABF8-41109FF90EA6}"/>
              </a:ext>
            </a:extLst>
          </p:cNvPr>
          <p:cNvSpPr txBox="1"/>
          <p:nvPr/>
        </p:nvSpPr>
        <p:spPr>
          <a:xfrm>
            <a:off x="3802482" y="4288079"/>
            <a:ext cx="1445716" cy="646331"/>
          </a:xfrm>
          <a:prstGeom prst="rect">
            <a:avLst/>
          </a:prstGeom>
          <a:noFill/>
        </p:spPr>
        <p:txBody>
          <a:bodyPr wrap="square" rtlCol="0">
            <a:spAutoFit/>
          </a:bodyPr>
          <a:lstStyle/>
          <a:p>
            <a:r>
              <a:rPr lang="en-US"/>
              <a:t>Flow Restrictor</a:t>
            </a:r>
          </a:p>
        </p:txBody>
      </p:sp>
      <p:cxnSp>
        <p:nvCxnSpPr>
          <p:cNvPr id="48" name="Straight Connector 47">
            <a:extLst>
              <a:ext uri="{FF2B5EF4-FFF2-40B4-BE49-F238E27FC236}">
                <a16:creationId xmlns:a16="http://schemas.microsoft.com/office/drawing/2014/main" id="{579CC7CF-0603-376A-8867-AAC527D038D2}"/>
              </a:ext>
            </a:extLst>
          </p:cNvPr>
          <p:cNvCxnSpPr>
            <a:cxnSpLocks/>
            <a:stCxn id="46" idx="0"/>
            <a:endCxn id="44" idx="2"/>
          </p:cNvCxnSpPr>
          <p:nvPr/>
        </p:nvCxnSpPr>
        <p:spPr>
          <a:xfrm flipH="1" flipV="1">
            <a:off x="8098856" y="4226406"/>
            <a:ext cx="172" cy="717139"/>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6B681610-FE28-4C4F-B385-BBEF0444F1B8}"/>
              </a:ext>
            </a:extLst>
          </p:cNvPr>
          <p:cNvGrpSpPr/>
          <p:nvPr/>
        </p:nvGrpSpPr>
        <p:grpSpPr>
          <a:xfrm>
            <a:off x="10347427" y="174880"/>
            <a:ext cx="1663773" cy="852130"/>
            <a:chOff x="208152" y="4839418"/>
            <a:chExt cx="1663773" cy="852130"/>
          </a:xfrm>
        </p:grpSpPr>
        <p:grpSp>
          <p:nvGrpSpPr>
            <p:cNvPr id="72" name="Group 71">
              <a:extLst>
                <a:ext uri="{FF2B5EF4-FFF2-40B4-BE49-F238E27FC236}">
                  <a16:creationId xmlns:a16="http://schemas.microsoft.com/office/drawing/2014/main" id="{A0229266-7227-075A-3492-9E1949A6B632}"/>
                </a:ext>
              </a:extLst>
            </p:cNvPr>
            <p:cNvGrpSpPr/>
            <p:nvPr/>
          </p:nvGrpSpPr>
          <p:grpSpPr>
            <a:xfrm>
              <a:off x="307035" y="4886953"/>
              <a:ext cx="1564890" cy="688469"/>
              <a:chOff x="307035" y="4886953"/>
              <a:chExt cx="1564890" cy="688469"/>
            </a:xfrm>
          </p:grpSpPr>
          <p:cxnSp>
            <p:nvCxnSpPr>
              <p:cNvPr id="66" name="Straight Connector 65">
                <a:extLst>
                  <a:ext uri="{FF2B5EF4-FFF2-40B4-BE49-F238E27FC236}">
                    <a16:creationId xmlns:a16="http://schemas.microsoft.com/office/drawing/2014/main" id="{DD5FCA87-DBD9-16B3-7119-C57B0C90C467}"/>
                  </a:ext>
                </a:extLst>
              </p:cNvPr>
              <p:cNvCxnSpPr>
                <a:cxnSpLocks/>
              </p:cNvCxnSpPr>
              <p:nvPr/>
            </p:nvCxnSpPr>
            <p:spPr>
              <a:xfrm flipH="1">
                <a:off x="314584" y="5077865"/>
                <a:ext cx="301236"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893F515C-BDAC-6213-EC4A-C1B1BF4959C8}"/>
                  </a:ext>
                </a:extLst>
              </p:cNvPr>
              <p:cNvSpPr txBox="1"/>
              <p:nvPr/>
            </p:nvSpPr>
            <p:spPr>
              <a:xfrm>
                <a:off x="686985" y="4886953"/>
                <a:ext cx="1184940" cy="369332"/>
              </a:xfrm>
              <a:prstGeom prst="rect">
                <a:avLst/>
              </a:prstGeom>
              <a:noFill/>
            </p:spPr>
            <p:txBody>
              <a:bodyPr wrap="none" rtlCol="0">
                <a:spAutoFit/>
              </a:bodyPr>
              <a:lstStyle/>
              <a:p>
                <a:r>
                  <a:rPr lang="en-US"/>
                  <a:t>5/8” Hose</a:t>
                </a:r>
              </a:p>
            </p:txBody>
          </p:sp>
          <p:sp>
            <p:nvSpPr>
              <p:cNvPr id="70" name="TextBox 69">
                <a:extLst>
                  <a:ext uri="{FF2B5EF4-FFF2-40B4-BE49-F238E27FC236}">
                    <a16:creationId xmlns:a16="http://schemas.microsoft.com/office/drawing/2014/main" id="{F7E739A1-B8D5-833A-8E5B-DE9BAC701C83}"/>
                  </a:ext>
                </a:extLst>
              </p:cNvPr>
              <p:cNvSpPr txBox="1"/>
              <p:nvPr/>
            </p:nvSpPr>
            <p:spPr>
              <a:xfrm>
                <a:off x="654203" y="5206090"/>
                <a:ext cx="1184940" cy="369332"/>
              </a:xfrm>
              <a:prstGeom prst="rect">
                <a:avLst/>
              </a:prstGeom>
              <a:noFill/>
            </p:spPr>
            <p:txBody>
              <a:bodyPr wrap="none" rtlCol="0">
                <a:spAutoFit/>
              </a:bodyPr>
              <a:lstStyle/>
              <a:p>
                <a:r>
                  <a:rPr lang="en-US"/>
                  <a:t>3/4” Hose</a:t>
                </a:r>
              </a:p>
            </p:txBody>
          </p:sp>
          <p:cxnSp>
            <p:nvCxnSpPr>
              <p:cNvPr id="71" name="Straight Connector 70">
                <a:extLst>
                  <a:ext uri="{FF2B5EF4-FFF2-40B4-BE49-F238E27FC236}">
                    <a16:creationId xmlns:a16="http://schemas.microsoft.com/office/drawing/2014/main" id="{3607B7E8-A057-AABC-64F4-265DD67FDE12}"/>
                  </a:ext>
                </a:extLst>
              </p:cNvPr>
              <p:cNvCxnSpPr>
                <a:cxnSpLocks/>
              </p:cNvCxnSpPr>
              <p:nvPr/>
            </p:nvCxnSpPr>
            <p:spPr>
              <a:xfrm flipH="1">
                <a:off x="307035" y="5415375"/>
                <a:ext cx="301236"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73" name="Rectangle 72">
              <a:extLst>
                <a:ext uri="{FF2B5EF4-FFF2-40B4-BE49-F238E27FC236}">
                  <a16:creationId xmlns:a16="http://schemas.microsoft.com/office/drawing/2014/main" id="{4644A76C-F25D-A860-E902-D1713B7B0D05}"/>
                </a:ext>
              </a:extLst>
            </p:cNvPr>
            <p:cNvSpPr/>
            <p:nvPr/>
          </p:nvSpPr>
          <p:spPr>
            <a:xfrm>
              <a:off x="208152" y="4839418"/>
              <a:ext cx="1654375" cy="85213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580E72CF-95D7-9BEF-6ADA-435B548A39E7}"/>
              </a:ext>
            </a:extLst>
          </p:cNvPr>
          <p:cNvGrpSpPr/>
          <p:nvPr/>
        </p:nvGrpSpPr>
        <p:grpSpPr>
          <a:xfrm rot="16200000">
            <a:off x="944852" y="2309909"/>
            <a:ext cx="733245" cy="699521"/>
            <a:chOff x="2509491" y="1091380"/>
            <a:chExt cx="733245" cy="699521"/>
          </a:xfrm>
        </p:grpSpPr>
        <p:sp>
          <p:nvSpPr>
            <p:cNvPr id="19" name="Rectangle: Rounded Corners 18">
              <a:extLst>
                <a:ext uri="{FF2B5EF4-FFF2-40B4-BE49-F238E27FC236}">
                  <a16:creationId xmlns:a16="http://schemas.microsoft.com/office/drawing/2014/main" id="{1D3120A7-15A5-78A5-CDF8-51EB3DE6641A}"/>
                </a:ext>
              </a:extLst>
            </p:cNvPr>
            <p:cNvSpPr/>
            <p:nvPr/>
          </p:nvSpPr>
          <p:spPr>
            <a:xfrm>
              <a:off x="2509491" y="1503992"/>
              <a:ext cx="733245" cy="286909"/>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E58492D3-5C00-F016-D56D-9D6AE091F791}"/>
                </a:ext>
              </a:extLst>
            </p:cNvPr>
            <p:cNvSpPr/>
            <p:nvPr/>
          </p:nvSpPr>
          <p:spPr>
            <a:xfrm>
              <a:off x="2750096" y="1091380"/>
              <a:ext cx="195500" cy="566344"/>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TextBox 75">
            <a:extLst>
              <a:ext uri="{FF2B5EF4-FFF2-40B4-BE49-F238E27FC236}">
                <a16:creationId xmlns:a16="http://schemas.microsoft.com/office/drawing/2014/main" id="{28943FB4-3709-D655-2934-03D88AF8650B}"/>
              </a:ext>
            </a:extLst>
          </p:cNvPr>
          <p:cNvSpPr txBox="1"/>
          <p:nvPr/>
        </p:nvSpPr>
        <p:spPr>
          <a:xfrm>
            <a:off x="1966915" y="2426406"/>
            <a:ext cx="1031051" cy="369332"/>
          </a:xfrm>
          <a:prstGeom prst="rect">
            <a:avLst/>
          </a:prstGeom>
          <a:noFill/>
        </p:spPr>
        <p:txBody>
          <a:bodyPr wrap="none" rtlCol="0">
            <a:spAutoFit/>
          </a:bodyPr>
          <a:lstStyle/>
          <a:p>
            <a:r>
              <a:rPr lang="en-US"/>
              <a:t>Housing</a:t>
            </a:r>
          </a:p>
        </p:txBody>
      </p:sp>
      <p:grpSp>
        <p:nvGrpSpPr>
          <p:cNvPr id="49" name="Group 48">
            <a:extLst>
              <a:ext uri="{FF2B5EF4-FFF2-40B4-BE49-F238E27FC236}">
                <a16:creationId xmlns:a16="http://schemas.microsoft.com/office/drawing/2014/main" id="{9AFA0B0A-8AB6-3F52-D219-BA655D5F0A0B}"/>
              </a:ext>
            </a:extLst>
          </p:cNvPr>
          <p:cNvGrpSpPr/>
          <p:nvPr/>
        </p:nvGrpSpPr>
        <p:grpSpPr>
          <a:xfrm rot="5400000">
            <a:off x="909600" y="3929927"/>
            <a:ext cx="733245" cy="725831"/>
            <a:chOff x="2416176" y="5001984"/>
            <a:chExt cx="733245" cy="725831"/>
          </a:xfrm>
        </p:grpSpPr>
        <p:sp>
          <p:nvSpPr>
            <p:cNvPr id="37" name="Rectangle: Rounded Corners 36">
              <a:extLst>
                <a:ext uri="{FF2B5EF4-FFF2-40B4-BE49-F238E27FC236}">
                  <a16:creationId xmlns:a16="http://schemas.microsoft.com/office/drawing/2014/main" id="{5155F5CC-6107-4D91-0845-C8E48094B328}"/>
                </a:ext>
              </a:extLst>
            </p:cNvPr>
            <p:cNvSpPr/>
            <p:nvPr/>
          </p:nvSpPr>
          <p:spPr>
            <a:xfrm>
              <a:off x="2416176" y="5001984"/>
              <a:ext cx="733245" cy="286909"/>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Rounded Corners 76">
              <a:extLst>
                <a:ext uri="{FF2B5EF4-FFF2-40B4-BE49-F238E27FC236}">
                  <a16:creationId xmlns:a16="http://schemas.microsoft.com/office/drawing/2014/main" id="{2AB68928-5D20-085B-A571-5936FD503055}"/>
                </a:ext>
              </a:extLst>
            </p:cNvPr>
            <p:cNvSpPr/>
            <p:nvPr/>
          </p:nvSpPr>
          <p:spPr>
            <a:xfrm>
              <a:off x="2713515" y="5161471"/>
              <a:ext cx="195500" cy="566344"/>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TextBox 77">
            <a:extLst>
              <a:ext uri="{FF2B5EF4-FFF2-40B4-BE49-F238E27FC236}">
                <a16:creationId xmlns:a16="http://schemas.microsoft.com/office/drawing/2014/main" id="{BC66B688-5045-8545-0342-EDDCD4268101}"/>
              </a:ext>
            </a:extLst>
          </p:cNvPr>
          <p:cNvSpPr txBox="1"/>
          <p:nvPr/>
        </p:nvSpPr>
        <p:spPr>
          <a:xfrm>
            <a:off x="1956212" y="4211129"/>
            <a:ext cx="1031051" cy="369332"/>
          </a:xfrm>
          <a:prstGeom prst="rect">
            <a:avLst/>
          </a:prstGeom>
          <a:noFill/>
        </p:spPr>
        <p:txBody>
          <a:bodyPr wrap="none" rtlCol="0">
            <a:spAutoFit/>
          </a:bodyPr>
          <a:lstStyle/>
          <a:p>
            <a:r>
              <a:rPr lang="en-US"/>
              <a:t>Housing</a:t>
            </a:r>
          </a:p>
        </p:txBody>
      </p:sp>
      <p:sp>
        <p:nvSpPr>
          <p:cNvPr id="80" name="Oval 79">
            <a:extLst>
              <a:ext uri="{FF2B5EF4-FFF2-40B4-BE49-F238E27FC236}">
                <a16:creationId xmlns:a16="http://schemas.microsoft.com/office/drawing/2014/main" id="{5E678B97-35D6-4BA0-C577-D1CEA8952E46}"/>
              </a:ext>
            </a:extLst>
          </p:cNvPr>
          <p:cNvSpPr/>
          <p:nvPr/>
        </p:nvSpPr>
        <p:spPr>
          <a:xfrm>
            <a:off x="5597140" y="3257094"/>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4</a:t>
            </a:r>
          </a:p>
        </p:txBody>
      </p:sp>
      <p:sp>
        <p:nvSpPr>
          <p:cNvPr id="81" name="Oval 80">
            <a:extLst>
              <a:ext uri="{FF2B5EF4-FFF2-40B4-BE49-F238E27FC236}">
                <a16:creationId xmlns:a16="http://schemas.microsoft.com/office/drawing/2014/main" id="{B50212A9-7D0A-9201-222C-1B7D0549CA04}"/>
              </a:ext>
            </a:extLst>
          </p:cNvPr>
          <p:cNvSpPr/>
          <p:nvPr/>
        </p:nvSpPr>
        <p:spPr>
          <a:xfrm>
            <a:off x="1734002" y="2493715"/>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2</a:t>
            </a:r>
          </a:p>
        </p:txBody>
      </p:sp>
      <p:sp>
        <p:nvSpPr>
          <p:cNvPr id="82" name="Oval 81">
            <a:extLst>
              <a:ext uri="{FF2B5EF4-FFF2-40B4-BE49-F238E27FC236}">
                <a16:creationId xmlns:a16="http://schemas.microsoft.com/office/drawing/2014/main" id="{A789ED89-CFBA-6D1F-8EDD-ECDA05338A2D}"/>
              </a:ext>
            </a:extLst>
          </p:cNvPr>
          <p:cNvSpPr/>
          <p:nvPr/>
        </p:nvSpPr>
        <p:spPr>
          <a:xfrm>
            <a:off x="1702104" y="4250922"/>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2</a:t>
            </a:r>
          </a:p>
        </p:txBody>
      </p:sp>
      <p:sp>
        <p:nvSpPr>
          <p:cNvPr id="83" name="Oval 82">
            <a:extLst>
              <a:ext uri="{FF2B5EF4-FFF2-40B4-BE49-F238E27FC236}">
                <a16:creationId xmlns:a16="http://schemas.microsoft.com/office/drawing/2014/main" id="{3A8EC064-431C-B38F-B607-094E8F9804CA}"/>
              </a:ext>
            </a:extLst>
          </p:cNvPr>
          <p:cNvSpPr/>
          <p:nvPr/>
        </p:nvSpPr>
        <p:spPr>
          <a:xfrm>
            <a:off x="708416" y="4426572"/>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1</a:t>
            </a:r>
          </a:p>
        </p:txBody>
      </p:sp>
      <p:sp>
        <p:nvSpPr>
          <p:cNvPr id="84" name="Oval 83">
            <a:extLst>
              <a:ext uri="{FF2B5EF4-FFF2-40B4-BE49-F238E27FC236}">
                <a16:creationId xmlns:a16="http://schemas.microsoft.com/office/drawing/2014/main" id="{DD977845-F80A-D7A6-8C36-D22EF47FDBCB}"/>
              </a:ext>
            </a:extLst>
          </p:cNvPr>
          <p:cNvSpPr/>
          <p:nvPr/>
        </p:nvSpPr>
        <p:spPr>
          <a:xfrm>
            <a:off x="781600" y="2198028"/>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1</a:t>
            </a:r>
          </a:p>
        </p:txBody>
      </p:sp>
      <p:sp>
        <p:nvSpPr>
          <p:cNvPr id="85" name="Oval 84">
            <a:extLst>
              <a:ext uri="{FF2B5EF4-FFF2-40B4-BE49-F238E27FC236}">
                <a16:creationId xmlns:a16="http://schemas.microsoft.com/office/drawing/2014/main" id="{B4E2522F-5A62-4D6B-A14E-875624C00DAC}"/>
              </a:ext>
            </a:extLst>
          </p:cNvPr>
          <p:cNvSpPr/>
          <p:nvPr/>
        </p:nvSpPr>
        <p:spPr>
          <a:xfrm>
            <a:off x="4437777" y="4280032"/>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3</a:t>
            </a:r>
          </a:p>
        </p:txBody>
      </p:sp>
      <p:sp>
        <p:nvSpPr>
          <p:cNvPr id="86" name="Oval 85">
            <a:extLst>
              <a:ext uri="{FF2B5EF4-FFF2-40B4-BE49-F238E27FC236}">
                <a16:creationId xmlns:a16="http://schemas.microsoft.com/office/drawing/2014/main" id="{B65231A5-A6D5-C891-5902-08C457AE268E}"/>
              </a:ext>
            </a:extLst>
          </p:cNvPr>
          <p:cNvSpPr/>
          <p:nvPr/>
        </p:nvSpPr>
        <p:spPr>
          <a:xfrm>
            <a:off x="6665454" y="5316311"/>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6</a:t>
            </a:r>
          </a:p>
        </p:txBody>
      </p:sp>
      <p:sp>
        <p:nvSpPr>
          <p:cNvPr id="87" name="Oval 86">
            <a:extLst>
              <a:ext uri="{FF2B5EF4-FFF2-40B4-BE49-F238E27FC236}">
                <a16:creationId xmlns:a16="http://schemas.microsoft.com/office/drawing/2014/main" id="{DB9D2831-560C-7FBB-D52D-A5A4EDB78A58}"/>
              </a:ext>
            </a:extLst>
          </p:cNvPr>
          <p:cNvSpPr/>
          <p:nvPr/>
        </p:nvSpPr>
        <p:spPr>
          <a:xfrm>
            <a:off x="5446384" y="5307483"/>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5</a:t>
            </a:r>
          </a:p>
        </p:txBody>
      </p:sp>
      <p:sp>
        <p:nvSpPr>
          <p:cNvPr id="88" name="Oval 87">
            <a:extLst>
              <a:ext uri="{FF2B5EF4-FFF2-40B4-BE49-F238E27FC236}">
                <a16:creationId xmlns:a16="http://schemas.microsoft.com/office/drawing/2014/main" id="{5E911CA4-93AD-01EF-7A80-189DDE470F87}"/>
              </a:ext>
            </a:extLst>
          </p:cNvPr>
          <p:cNvSpPr/>
          <p:nvPr/>
        </p:nvSpPr>
        <p:spPr>
          <a:xfrm>
            <a:off x="6541890" y="1120142"/>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6</a:t>
            </a:r>
          </a:p>
        </p:txBody>
      </p:sp>
      <p:sp>
        <p:nvSpPr>
          <p:cNvPr id="89" name="Oval 88">
            <a:extLst>
              <a:ext uri="{FF2B5EF4-FFF2-40B4-BE49-F238E27FC236}">
                <a16:creationId xmlns:a16="http://schemas.microsoft.com/office/drawing/2014/main" id="{6C12A523-E0EC-9F43-D3FC-57CBC9B7CF23}"/>
              </a:ext>
            </a:extLst>
          </p:cNvPr>
          <p:cNvSpPr/>
          <p:nvPr/>
        </p:nvSpPr>
        <p:spPr>
          <a:xfrm>
            <a:off x="5322820" y="1193980"/>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5</a:t>
            </a:r>
          </a:p>
        </p:txBody>
      </p:sp>
      <p:sp>
        <p:nvSpPr>
          <p:cNvPr id="90" name="Oval 89">
            <a:extLst>
              <a:ext uri="{FF2B5EF4-FFF2-40B4-BE49-F238E27FC236}">
                <a16:creationId xmlns:a16="http://schemas.microsoft.com/office/drawing/2014/main" id="{25DD702C-559C-2C24-2A78-7FEADF1A212F}"/>
              </a:ext>
            </a:extLst>
          </p:cNvPr>
          <p:cNvSpPr/>
          <p:nvPr/>
        </p:nvSpPr>
        <p:spPr>
          <a:xfrm>
            <a:off x="7937781" y="5334849"/>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7</a:t>
            </a:r>
          </a:p>
        </p:txBody>
      </p:sp>
      <p:sp>
        <p:nvSpPr>
          <p:cNvPr id="91" name="Oval 90">
            <a:extLst>
              <a:ext uri="{FF2B5EF4-FFF2-40B4-BE49-F238E27FC236}">
                <a16:creationId xmlns:a16="http://schemas.microsoft.com/office/drawing/2014/main" id="{9A414A9C-F44A-720B-9FA0-D96AFEBA901F}"/>
              </a:ext>
            </a:extLst>
          </p:cNvPr>
          <p:cNvSpPr/>
          <p:nvPr/>
        </p:nvSpPr>
        <p:spPr>
          <a:xfrm>
            <a:off x="7280231" y="3423181"/>
            <a:ext cx="274320" cy="27432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8</a:t>
            </a:r>
          </a:p>
        </p:txBody>
      </p:sp>
      <p:sp>
        <p:nvSpPr>
          <p:cNvPr id="103" name="Oval 102">
            <a:extLst>
              <a:ext uri="{FF2B5EF4-FFF2-40B4-BE49-F238E27FC236}">
                <a16:creationId xmlns:a16="http://schemas.microsoft.com/office/drawing/2014/main" id="{252CFF88-4FC3-4551-1ED2-8963D7F9CAD0}"/>
              </a:ext>
            </a:extLst>
          </p:cNvPr>
          <p:cNvSpPr/>
          <p:nvPr/>
        </p:nvSpPr>
        <p:spPr>
          <a:xfrm>
            <a:off x="9462365" y="4527885"/>
            <a:ext cx="661393" cy="32026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11</a:t>
            </a:r>
          </a:p>
        </p:txBody>
      </p:sp>
      <p:sp>
        <p:nvSpPr>
          <p:cNvPr id="104" name="Rectangle: Rounded Corners 103">
            <a:extLst>
              <a:ext uri="{FF2B5EF4-FFF2-40B4-BE49-F238E27FC236}">
                <a16:creationId xmlns:a16="http://schemas.microsoft.com/office/drawing/2014/main" id="{532DC90A-471C-4928-E7D8-59D4B4BF7323}"/>
              </a:ext>
            </a:extLst>
          </p:cNvPr>
          <p:cNvSpPr/>
          <p:nvPr/>
        </p:nvSpPr>
        <p:spPr>
          <a:xfrm>
            <a:off x="10453859" y="3394313"/>
            <a:ext cx="733245" cy="286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1D5B1866-4290-5D2E-590D-655381699189}"/>
              </a:ext>
            </a:extLst>
          </p:cNvPr>
          <p:cNvSpPr/>
          <p:nvPr/>
        </p:nvSpPr>
        <p:spPr>
          <a:xfrm>
            <a:off x="9743226" y="3432134"/>
            <a:ext cx="619663" cy="21126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12</a:t>
            </a:r>
          </a:p>
        </p:txBody>
      </p:sp>
      <p:sp>
        <p:nvSpPr>
          <p:cNvPr id="106" name="TextBox 105">
            <a:extLst>
              <a:ext uri="{FF2B5EF4-FFF2-40B4-BE49-F238E27FC236}">
                <a16:creationId xmlns:a16="http://schemas.microsoft.com/office/drawing/2014/main" id="{640ECF2B-FEB3-5677-C538-483B02000113}"/>
              </a:ext>
            </a:extLst>
          </p:cNvPr>
          <p:cNvSpPr txBox="1"/>
          <p:nvPr/>
        </p:nvSpPr>
        <p:spPr>
          <a:xfrm>
            <a:off x="9022170" y="2761269"/>
            <a:ext cx="2060184" cy="646331"/>
          </a:xfrm>
          <a:prstGeom prst="rect">
            <a:avLst/>
          </a:prstGeom>
          <a:noFill/>
        </p:spPr>
        <p:txBody>
          <a:bodyPr wrap="square" rtlCol="0">
            <a:spAutoFit/>
          </a:bodyPr>
          <a:lstStyle/>
          <a:p>
            <a:r>
              <a:rPr lang="en-US"/>
              <a:t>Flow Restrictor for FEDU Loop</a:t>
            </a:r>
          </a:p>
        </p:txBody>
      </p:sp>
      <p:sp>
        <p:nvSpPr>
          <p:cNvPr id="107" name="TextBox 106">
            <a:extLst>
              <a:ext uri="{FF2B5EF4-FFF2-40B4-BE49-F238E27FC236}">
                <a16:creationId xmlns:a16="http://schemas.microsoft.com/office/drawing/2014/main" id="{43F531B9-9994-6E67-D3FB-7C2551196695}"/>
              </a:ext>
            </a:extLst>
          </p:cNvPr>
          <p:cNvSpPr txBox="1"/>
          <p:nvPr/>
        </p:nvSpPr>
        <p:spPr>
          <a:xfrm>
            <a:off x="3967767" y="1815609"/>
            <a:ext cx="1261884" cy="369332"/>
          </a:xfrm>
          <a:prstGeom prst="rect">
            <a:avLst/>
          </a:prstGeom>
          <a:noFill/>
        </p:spPr>
        <p:txBody>
          <a:bodyPr wrap="none" rtlCol="0">
            <a:spAutoFit/>
          </a:bodyPr>
          <a:lstStyle/>
          <a:p>
            <a:r>
              <a:rPr lang="en-US"/>
              <a:t>Flowmeter</a:t>
            </a:r>
          </a:p>
        </p:txBody>
      </p:sp>
      <p:sp>
        <p:nvSpPr>
          <p:cNvPr id="108" name="Rectangle: Rounded Corners 107">
            <a:extLst>
              <a:ext uri="{FF2B5EF4-FFF2-40B4-BE49-F238E27FC236}">
                <a16:creationId xmlns:a16="http://schemas.microsoft.com/office/drawing/2014/main" id="{38842B4F-B86C-C483-DD6E-7862C794ECDD}"/>
              </a:ext>
            </a:extLst>
          </p:cNvPr>
          <p:cNvSpPr/>
          <p:nvPr/>
        </p:nvSpPr>
        <p:spPr>
          <a:xfrm>
            <a:off x="3902254" y="1511506"/>
            <a:ext cx="733245" cy="286909"/>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9BF7D474-6CC0-B62A-9BE2-4FEB1A4CF97E}"/>
              </a:ext>
            </a:extLst>
          </p:cNvPr>
          <p:cNvSpPr/>
          <p:nvPr/>
        </p:nvSpPr>
        <p:spPr>
          <a:xfrm>
            <a:off x="3553366" y="2147595"/>
            <a:ext cx="1238479" cy="34610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13+15</a:t>
            </a:r>
          </a:p>
        </p:txBody>
      </p:sp>
      <p:sp>
        <p:nvSpPr>
          <p:cNvPr id="110" name="Rectangle: Rounded Corners 109">
            <a:extLst>
              <a:ext uri="{FF2B5EF4-FFF2-40B4-BE49-F238E27FC236}">
                <a16:creationId xmlns:a16="http://schemas.microsoft.com/office/drawing/2014/main" id="{7BF85A73-15F0-A397-E44F-1ED607E53831}"/>
              </a:ext>
            </a:extLst>
          </p:cNvPr>
          <p:cNvSpPr/>
          <p:nvPr/>
        </p:nvSpPr>
        <p:spPr>
          <a:xfrm>
            <a:off x="9009981" y="950229"/>
            <a:ext cx="733245" cy="286909"/>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TextBox 110">
            <a:extLst>
              <a:ext uri="{FF2B5EF4-FFF2-40B4-BE49-F238E27FC236}">
                <a16:creationId xmlns:a16="http://schemas.microsoft.com/office/drawing/2014/main" id="{CCBDFF4B-01DB-BEBE-76C8-AF1142F08D49}"/>
              </a:ext>
            </a:extLst>
          </p:cNvPr>
          <p:cNvSpPr txBox="1"/>
          <p:nvPr/>
        </p:nvSpPr>
        <p:spPr>
          <a:xfrm>
            <a:off x="8126060" y="570334"/>
            <a:ext cx="2060184" cy="369332"/>
          </a:xfrm>
          <a:prstGeom prst="rect">
            <a:avLst/>
          </a:prstGeom>
          <a:noFill/>
        </p:spPr>
        <p:txBody>
          <a:bodyPr wrap="square" rtlCol="0">
            <a:spAutoFit/>
          </a:bodyPr>
          <a:lstStyle/>
          <a:p>
            <a:r>
              <a:rPr lang="en-US"/>
              <a:t>Bleeder valve</a:t>
            </a:r>
          </a:p>
        </p:txBody>
      </p:sp>
      <p:sp>
        <p:nvSpPr>
          <p:cNvPr id="112" name="Oval 111">
            <a:extLst>
              <a:ext uri="{FF2B5EF4-FFF2-40B4-BE49-F238E27FC236}">
                <a16:creationId xmlns:a16="http://schemas.microsoft.com/office/drawing/2014/main" id="{00CD2847-5E64-02D0-A84A-26B03A157712}"/>
              </a:ext>
            </a:extLst>
          </p:cNvPr>
          <p:cNvSpPr/>
          <p:nvPr/>
        </p:nvSpPr>
        <p:spPr>
          <a:xfrm>
            <a:off x="8294551" y="956997"/>
            <a:ext cx="619663" cy="21126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14</a:t>
            </a:r>
          </a:p>
        </p:txBody>
      </p:sp>
      <p:sp>
        <p:nvSpPr>
          <p:cNvPr id="113" name="TextBox 112">
            <a:extLst>
              <a:ext uri="{FF2B5EF4-FFF2-40B4-BE49-F238E27FC236}">
                <a16:creationId xmlns:a16="http://schemas.microsoft.com/office/drawing/2014/main" id="{F7E563B1-DA79-932D-E51C-173C0EC251AC}"/>
              </a:ext>
            </a:extLst>
          </p:cNvPr>
          <p:cNvSpPr txBox="1"/>
          <p:nvPr/>
        </p:nvSpPr>
        <p:spPr>
          <a:xfrm>
            <a:off x="7408538" y="5675631"/>
            <a:ext cx="1601443" cy="923330"/>
          </a:xfrm>
          <a:prstGeom prst="rect">
            <a:avLst/>
          </a:prstGeom>
          <a:noFill/>
        </p:spPr>
        <p:txBody>
          <a:bodyPr wrap="square" rtlCol="0">
            <a:spAutoFit/>
          </a:bodyPr>
          <a:lstStyle/>
          <a:p>
            <a:r>
              <a:rPr lang="en-US" i="1"/>
              <a:t>Put this at high point of FEDU loop</a:t>
            </a:r>
          </a:p>
        </p:txBody>
      </p:sp>
      <p:sp>
        <p:nvSpPr>
          <p:cNvPr id="52" name="Oval 51">
            <a:extLst>
              <a:ext uri="{FF2B5EF4-FFF2-40B4-BE49-F238E27FC236}">
                <a16:creationId xmlns:a16="http://schemas.microsoft.com/office/drawing/2014/main" id="{560101FD-01B0-0755-1B99-46C411B71C63}"/>
              </a:ext>
            </a:extLst>
          </p:cNvPr>
          <p:cNvSpPr/>
          <p:nvPr/>
        </p:nvSpPr>
        <p:spPr>
          <a:xfrm>
            <a:off x="1244904" y="3255171"/>
            <a:ext cx="457200" cy="45720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F9DFF1BA-EFBF-7DF2-004E-18A57EF6470E}"/>
              </a:ext>
            </a:extLst>
          </p:cNvPr>
          <p:cNvSpPr txBox="1"/>
          <p:nvPr/>
        </p:nvSpPr>
        <p:spPr>
          <a:xfrm>
            <a:off x="1820019" y="3180268"/>
            <a:ext cx="787395" cy="646331"/>
          </a:xfrm>
          <a:prstGeom prst="rect">
            <a:avLst/>
          </a:prstGeom>
          <a:noFill/>
        </p:spPr>
        <p:txBody>
          <a:bodyPr wrap="none" rtlCol="0">
            <a:spAutoFit/>
          </a:bodyPr>
          <a:lstStyle/>
          <a:p>
            <a:r>
              <a:rPr lang="en-US"/>
              <a:t>Stock</a:t>
            </a:r>
          </a:p>
          <a:p>
            <a:r>
              <a:rPr lang="en-US"/>
              <a:t>Pump</a:t>
            </a:r>
          </a:p>
        </p:txBody>
      </p:sp>
    </p:spTree>
    <p:extLst>
      <p:ext uri="{BB962C8B-B14F-4D97-AF65-F5344CB8AC3E}">
        <p14:creationId xmlns:p14="http://schemas.microsoft.com/office/powerpoint/2010/main" val="1635083655"/>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18FAF-3F47-4873-31D5-B5010265EDAF}"/>
            </a:ext>
          </a:extLst>
        </p:cNvPr>
        <p:cNvGrpSpPr/>
        <p:nvPr/>
      </p:nvGrpSpPr>
      <p:grpSpPr>
        <a:xfrm>
          <a:off x="0" y="0"/>
          <a:ext cx="0" cy="0"/>
          <a:chOff x="0" y="0"/>
          <a:chExt cx="0" cy="0"/>
        </a:xfrm>
      </p:grpSpPr>
      <p:cxnSp>
        <p:nvCxnSpPr>
          <p:cNvPr id="108" name="Straight Arrow Connector 107">
            <a:extLst>
              <a:ext uri="{FF2B5EF4-FFF2-40B4-BE49-F238E27FC236}">
                <a16:creationId xmlns:a16="http://schemas.microsoft.com/office/drawing/2014/main" id="{D8686BDC-8246-9999-62DB-D63DF2032FE3}"/>
              </a:ext>
            </a:extLst>
          </p:cNvPr>
          <p:cNvCxnSpPr>
            <a:cxnSpLocks/>
          </p:cNvCxnSpPr>
          <p:nvPr/>
        </p:nvCxnSpPr>
        <p:spPr>
          <a:xfrm flipH="1">
            <a:off x="9511257" y="2619862"/>
            <a:ext cx="8880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AFBBD709-D110-807F-E178-EEFCB3F169A2}"/>
              </a:ext>
            </a:extLst>
          </p:cNvPr>
          <p:cNvCxnSpPr>
            <a:cxnSpLocks/>
          </p:cNvCxnSpPr>
          <p:nvPr/>
        </p:nvCxnSpPr>
        <p:spPr>
          <a:xfrm flipH="1">
            <a:off x="8457401" y="1488179"/>
            <a:ext cx="8880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CABBA14A-A52E-0C29-CC26-78E57DA7D7F8}"/>
              </a:ext>
            </a:extLst>
          </p:cNvPr>
          <p:cNvSpPr>
            <a:spLocks noGrp="1"/>
          </p:cNvSpPr>
          <p:nvPr>
            <p:ph type="title"/>
          </p:nvPr>
        </p:nvSpPr>
        <p:spPr/>
        <p:txBody>
          <a:bodyPr/>
          <a:lstStyle/>
          <a:p>
            <a:r>
              <a:rPr lang="en-US" dirty="0">
                <a:latin typeface="Roboto"/>
                <a:ea typeface="Roboto"/>
                <a:cs typeface="Roboto"/>
              </a:rPr>
              <a:t>System Architecture: Proposed</a:t>
            </a:r>
            <a:endParaRPr lang="en-US" dirty="0"/>
          </a:p>
        </p:txBody>
      </p:sp>
      <p:grpSp>
        <p:nvGrpSpPr>
          <p:cNvPr id="45" name="Group 44">
            <a:extLst>
              <a:ext uri="{FF2B5EF4-FFF2-40B4-BE49-F238E27FC236}">
                <a16:creationId xmlns:a16="http://schemas.microsoft.com/office/drawing/2014/main" id="{BD63AE0B-A4D6-75FD-7C36-2671B4709C66}"/>
              </a:ext>
            </a:extLst>
          </p:cNvPr>
          <p:cNvGrpSpPr/>
          <p:nvPr/>
        </p:nvGrpSpPr>
        <p:grpSpPr>
          <a:xfrm>
            <a:off x="948683" y="5635735"/>
            <a:ext cx="357612" cy="361086"/>
            <a:chOff x="4543983" y="3138567"/>
            <a:chExt cx="357612" cy="361086"/>
          </a:xfrm>
        </p:grpSpPr>
        <p:sp>
          <p:nvSpPr>
            <p:cNvPr id="41" name="Isosceles Triangle 40">
              <a:extLst>
                <a:ext uri="{FF2B5EF4-FFF2-40B4-BE49-F238E27FC236}">
                  <a16:creationId xmlns:a16="http://schemas.microsoft.com/office/drawing/2014/main" id="{93754365-88FE-23C8-84C7-A6131C6C348D}"/>
                </a:ext>
              </a:extLst>
            </p:cNvPr>
            <p:cNvSpPr/>
            <p:nvPr/>
          </p:nvSpPr>
          <p:spPr>
            <a:xfrm rot="5400000">
              <a:off x="4546900" y="3234975"/>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Isosceles Triangle 41">
              <a:extLst>
                <a:ext uri="{FF2B5EF4-FFF2-40B4-BE49-F238E27FC236}">
                  <a16:creationId xmlns:a16="http://schemas.microsoft.com/office/drawing/2014/main" id="{D65316BA-CEE0-E9A6-58DD-DEA7BB0CF42E}"/>
                </a:ext>
              </a:extLst>
            </p:cNvPr>
            <p:cNvSpPr/>
            <p:nvPr/>
          </p:nvSpPr>
          <p:spPr>
            <a:xfrm rot="16200000" flipH="1">
              <a:off x="4723969" y="3239358"/>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3" name="Isosceles Triangle 42">
              <a:extLst>
                <a:ext uri="{FF2B5EF4-FFF2-40B4-BE49-F238E27FC236}">
                  <a16:creationId xmlns:a16="http://schemas.microsoft.com/office/drawing/2014/main" id="{A7412D00-4642-8B8F-C4FD-1F5C55D9F30B}"/>
                </a:ext>
              </a:extLst>
            </p:cNvPr>
            <p:cNvSpPr/>
            <p:nvPr/>
          </p:nvSpPr>
          <p:spPr>
            <a:xfrm>
              <a:off x="4635374" y="3319110"/>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Isosceles Triangle 43">
              <a:extLst>
                <a:ext uri="{FF2B5EF4-FFF2-40B4-BE49-F238E27FC236}">
                  <a16:creationId xmlns:a16="http://schemas.microsoft.com/office/drawing/2014/main" id="{6AD9C765-2736-1882-D35F-783F2F31831D}"/>
                </a:ext>
              </a:extLst>
            </p:cNvPr>
            <p:cNvSpPr/>
            <p:nvPr/>
          </p:nvSpPr>
          <p:spPr>
            <a:xfrm flipV="1">
              <a:off x="4633272" y="3138567"/>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cxnSp>
        <p:nvCxnSpPr>
          <p:cNvPr id="61" name="Connector: Elbow 60">
            <a:extLst>
              <a:ext uri="{FF2B5EF4-FFF2-40B4-BE49-F238E27FC236}">
                <a16:creationId xmlns:a16="http://schemas.microsoft.com/office/drawing/2014/main" id="{54581356-E06D-3D5D-5CB8-7788F9F1D9BC}"/>
              </a:ext>
            </a:extLst>
          </p:cNvPr>
          <p:cNvCxnSpPr>
            <a:cxnSpLocks/>
            <a:stCxn id="42" idx="3"/>
            <a:endCxn id="65" idx="2"/>
          </p:cNvCxnSpPr>
          <p:nvPr/>
        </p:nvCxnSpPr>
        <p:spPr>
          <a:xfrm flipV="1">
            <a:off x="1306296" y="4925708"/>
            <a:ext cx="5049185" cy="901090"/>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0A743375-FA52-4B4F-B958-C89970651D27}"/>
              </a:ext>
            </a:extLst>
          </p:cNvPr>
          <p:cNvSpPr txBox="1"/>
          <p:nvPr/>
        </p:nvSpPr>
        <p:spPr>
          <a:xfrm>
            <a:off x="7653648" y="2397192"/>
            <a:ext cx="803753"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FDU</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65" name="TextBox 64">
            <a:extLst>
              <a:ext uri="{FF2B5EF4-FFF2-40B4-BE49-F238E27FC236}">
                <a16:creationId xmlns:a16="http://schemas.microsoft.com/office/drawing/2014/main" id="{CAED44D8-550F-430D-5189-F94914117252}"/>
              </a:ext>
            </a:extLst>
          </p:cNvPr>
          <p:cNvSpPr txBox="1"/>
          <p:nvPr/>
        </p:nvSpPr>
        <p:spPr>
          <a:xfrm>
            <a:off x="5953604" y="4556376"/>
            <a:ext cx="803753"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IPE</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cxnSp>
        <p:nvCxnSpPr>
          <p:cNvPr id="69" name="Connector: Elbow 68">
            <a:extLst>
              <a:ext uri="{FF2B5EF4-FFF2-40B4-BE49-F238E27FC236}">
                <a16:creationId xmlns:a16="http://schemas.microsoft.com/office/drawing/2014/main" id="{DEE582BE-60F5-AFB8-5DE9-FF3DAD85917B}"/>
              </a:ext>
            </a:extLst>
          </p:cNvPr>
          <p:cNvCxnSpPr>
            <a:cxnSpLocks/>
            <a:stCxn id="65" idx="0"/>
            <a:endCxn id="18" idx="2"/>
          </p:cNvCxnSpPr>
          <p:nvPr/>
        </p:nvCxnSpPr>
        <p:spPr>
          <a:xfrm rot="16200000" flipV="1">
            <a:off x="5873158" y="4074052"/>
            <a:ext cx="964646" cy="1"/>
          </a:xfrm>
          <a:prstGeom prst="bentConnector3">
            <a:avLst>
              <a:gd name="adj1" fmla="val 50000"/>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B7914C43-F683-C238-B1D4-5CB182DA4BCC}"/>
              </a:ext>
            </a:extLst>
          </p:cNvPr>
          <p:cNvCxnSpPr>
            <a:cxnSpLocks/>
          </p:cNvCxnSpPr>
          <p:nvPr/>
        </p:nvCxnSpPr>
        <p:spPr>
          <a:xfrm flipH="1">
            <a:off x="8457401" y="2597746"/>
            <a:ext cx="8880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4C1C764B-AC42-4414-DCD4-CAC71A798437}"/>
              </a:ext>
            </a:extLst>
          </p:cNvPr>
          <p:cNvCxnSpPr>
            <a:cxnSpLocks/>
            <a:stCxn id="84" idx="3"/>
            <a:endCxn id="18" idx="0"/>
          </p:cNvCxnSpPr>
          <p:nvPr/>
        </p:nvCxnSpPr>
        <p:spPr>
          <a:xfrm rot="10800000" flipV="1">
            <a:off x="6355480" y="1442802"/>
            <a:ext cx="448762" cy="17795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26810547-6029-7E8B-FADD-93075FF4F238}"/>
              </a:ext>
            </a:extLst>
          </p:cNvPr>
          <p:cNvGrpSpPr/>
          <p:nvPr/>
        </p:nvGrpSpPr>
        <p:grpSpPr>
          <a:xfrm>
            <a:off x="1037495" y="3724352"/>
            <a:ext cx="268323" cy="361086"/>
            <a:chOff x="4633272" y="3138567"/>
            <a:chExt cx="268323" cy="361086"/>
          </a:xfrm>
        </p:grpSpPr>
        <p:sp>
          <p:nvSpPr>
            <p:cNvPr id="85" name="Isosceles Triangle 84">
              <a:extLst>
                <a:ext uri="{FF2B5EF4-FFF2-40B4-BE49-F238E27FC236}">
                  <a16:creationId xmlns:a16="http://schemas.microsoft.com/office/drawing/2014/main" id="{52111B57-61C1-F592-95B5-3664B312BD06}"/>
                </a:ext>
              </a:extLst>
            </p:cNvPr>
            <p:cNvSpPr/>
            <p:nvPr/>
          </p:nvSpPr>
          <p:spPr>
            <a:xfrm rot="16200000" flipH="1">
              <a:off x="4723969" y="3239358"/>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6" name="Isosceles Triangle 85">
              <a:extLst>
                <a:ext uri="{FF2B5EF4-FFF2-40B4-BE49-F238E27FC236}">
                  <a16:creationId xmlns:a16="http://schemas.microsoft.com/office/drawing/2014/main" id="{7DA0A09D-C069-F388-E7E5-F3078021DE25}"/>
                </a:ext>
              </a:extLst>
            </p:cNvPr>
            <p:cNvSpPr/>
            <p:nvPr/>
          </p:nvSpPr>
          <p:spPr>
            <a:xfrm>
              <a:off x="4635374" y="3319110"/>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7" name="Isosceles Triangle 86">
              <a:extLst>
                <a:ext uri="{FF2B5EF4-FFF2-40B4-BE49-F238E27FC236}">
                  <a16:creationId xmlns:a16="http://schemas.microsoft.com/office/drawing/2014/main" id="{4BCC9D0D-28CA-ECAE-664E-FBD55A0EA9F1}"/>
                </a:ext>
              </a:extLst>
            </p:cNvPr>
            <p:cNvSpPr/>
            <p:nvPr/>
          </p:nvSpPr>
          <p:spPr>
            <a:xfrm flipV="1">
              <a:off x="4633272" y="3138567"/>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04" name="TextBox 103">
            <a:extLst>
              <a:ext uri="{FF2B5EF4-FFF2-40B4-BE49-F238E27FC236}">
                <a16:creationId xmlns:a16="http://schemas.microsoft.com/office/drawing/2014/main" id="{24959BB2-8808-74C8-C65F-E91CDC1FABDB}"/>
              </a:ext>
            </a:extLst>
          </p:cNvPr>
          <p:cNvSpPr txBox="1"/>
          <p:nvPr/>
        </p:nvSpPr>
        <p:spPr>
          <a:xfrm>
            <a:off x="1557649" y="4251445"/>
            <a:ext cx="1114488"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Radiator</a:t>
            </a:r>
          </a:p>
        </p:txBody>
      </p:sp>
      <p:cxnSp>
        <p:nvCxnSpPr>
          <p:cNvPr id="105" name="Connector: Elbow 104">
            <a:extLst>
              <a:ext uri="{FF2B5EF4-FFF2-40B4-BE49-F238E27FC236}">
                <a16:creationId xmlns:a16="http://schemas.microsoft.com/office/drawing/2014/main" id="{F06E3592-FD93-2A60-FBE2-C3C2537E8C25}"/>
              </a:ext>
            </a:extLst>
          </p:cNvPr>
          <p:cNvCxnSpPr>
            <a:cxnSpLocks/>
            <a:stCxn id="63" idx="1"/>
            <a:endCxn id="82" idx="3"/>
          </p:cNvCxnSpPr>
          <p:nvPr/>
        </p:nvCxnSpPr>
        <p:spPr>
          <a:xfrm rot="10800000">
            <a:off x="6974266" y="1621668"/>
            <a:ext cx="679383" cy="960190"/>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Connector: Elbow 110">
            <a:extLst>
              <a:ext uri="{FF2B5EF4-FFF2-40B4-BE49-F238E27FC236}">
                <a16:creationId xmlns:a16="http://schemas.microsoft.com/office/drawing/2014/main" id="{0092F2B0-2307-33C7-8A86-6588D85BC582}"/>
              </a:ext>
            </a:extLst>
          </p:cNvPr>
          <p:cNvCxnSpPr>
            <a:cxnSpLocks/>
            <a:endCxn id="104" idx="0"/>
          </p:cNvCxnSpPr>
          <p:nvPr/>
        </p:nvCxnSpPr>
        <p:spPr>
          <a:xfrm>
            <a:off x="1305819" y="3915415"/>
            <a:ext cx="809074" cy="336030"/>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1DB92547-9E33-C2F1-0D83-733D65A4054D}"/>
              </a:ext>
            </a:extLst>
          </p:cNvPr>
          <p:cNvCxnSpPr>
            <a:cxnSpLocks/>
          </p:cNvCxnSpPr>
          <p:nvPr/>
        </p:nvCxnSpPr>
        <p:spPr>
          <a:xfrm rot="5400000">
            <a:off x="350992" y="4859774"/>
            <a:ext cx="1550297" cy="1625"/>
          </a:xfrm>
          <a:prstGeom prst="bentConnector3">
            <a:avLst>
              <a:gd name="adj1" fmla="val 50000"/>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Connector: Elbow 116">
            <a:extLst>
              <a:ext uri="{FF2B5EF4-FFF2-40B4-BE49-F238E27FC236}">
                <a16:creationId xmlns:a16="http://schemas.microsoft.com/office/drawing/2014/main" id="{C71D0288-FDB1-E4FB-7F98-927430F54E99}"/>
              </a:ext>
            </a:extLst>
          </p:cNvPr>
          <p:cNvCxnSpPr>
            <a:cxnSpLocks/>
            <a:stCxn id="104" idx="2"/>
          </p:cNvCxnSpPr>
          <p:nvPr/>
        </p:nvCxnSpPr>
        <p:spPr>
          <a:xfrm rot="5400000">
            <a:off x="1499606" y="4246020"/>
            <a:ext cx="240531" cy="990044"/>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3" name="Arrow: Curved Up 122">
            <a:extLst>
              <a:ext uri="{FF2B5EF4-FFF2-40B4-BE49-F238E27FC236}">
                <a16:creationId xmlns:a16="http://schemas.microsoft.com/office/drawing/2014/main" id="{C75DF7E3-5DEA-1D33-FDB1-5033D505C03F}"/>
              </a:ext>
            </a:extLst>
          </p:cNvPr>
          <p:cNvSpPr/>
          <p:nvPr/>
        </p:nvSpPr>
        <p:spPr>
          <a:xfrm rot="3594505">
            <a:off x="1189425" y="5409342"/>
            <a:ext cx="574569" cy="210965"/>
          </a:xfrm>
          <a:prstGeom prst="curvedUp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0000"/>
              </a:solidFill>
              <a:effectLst/>
              <a:uLnTx/>
              <a:uFillTx/>
              <a:latin typeface="Arial" panose="020B0604020202020204"/>
              <a:ea typeface="+mn-ea"/>
              <a:cs typeface="+mn-cs"/>
            </a:endParaRPr>
          </a:p>
        </p:txBody>
      </p:sp>
      <p:sp>
        <p:nvSpPr>
          <p:cNvPr id="150" name="TextBox 149">
            <a:extLst>
              <a:ext uri="{FF2B5EF4-FFF2-40B4-BE49-F238E27FC236}">
                <a16:creationId xmlns:a16="http://schemas.microsoft.com/office/drawing/2014/main" id="{35A30129-61D6-FE79-894C-75D61F5C9840}"/>
              </a:ext>
            </a:extLst>
          </p:cNvPr>
          <p:cNvSpPr txBox="1"/>
          <p:nvPr/>
        </p:nvSpPr>
        <p:spPr>
          <a:xfrm>
            <a:off x="1946999" y="5122731"/>
            <a:ext cx="960148" cy="461665"/>
          </a:xfrm>
          <a:prstGeom prst="rect">
            <a:avLst/>
          </a:prstGeom>
          <a:noFill/>
          <a:ln w="19050">
            <a:solidFill>
              <a:srgbClr val="0070C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a:cs typeface="Aria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Split Loop Direction</a:t>
            </a:r>
          </a:p>
        </p:txBody>
      </p:sp>
      <p:cxnSp>
        <p:nvCxnSpPr>
          <p:cNvPr id="154" name="Straight Arrow Connector 153">
            <a:extLst>
              <a:ext uri="{FF2B5EF4-FFF2-40B4-BE49-F238E27FC236}">
                <a16:creationId xmlns:a16="http://schemas.microsoft.com/office/drawing/2014/main" id="{6F29AE56-54D3-F7CF-7374-8E77BDD86123}"/>
              </a:ext>
            </a:extLst>
          </p:cNvPr>
          <p:cNvCxnSpPr>
            <a:cxnSpLocks/>
            <a:stCxn id="150" idx="1"/>
            <a:endCxn id="123" idx="3"/>
          </p:cNvCxnSpPr>
          <p:nvPr/>
        </p:nvCxnSpPr>
        <p:spPr>
          <a:xfrm flipH="1">
            <a:off x="1378832" y="5353564"/>
            <a:ext cx="568167" cy="202739"/>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47C6816-D170-D7E5-2B20-B4B5D2B74B20}"/>
              </a:ext>
            </a:extLst>
          </p:cNvPr>
          <p:cNvSpPr txBox="1"/>
          <p:nvPr/>
        </p:nvSpPr>
        <p:spPr>
          <a:xfrm>
            <a:off x="3244794" y="5670131"/>
            <a:ext cx="803753" cy="369332"/>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Pump</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6B2F3B0D-A6D3-BF7E-28C4-B2B5DB81D26E}"/>
              </a:ext>
            </a:extLst>
          </p:cNvPr>
          <p:cNvSpPr txBox="1"/>
          <p:nvPr/>
        </p:nvSpPr>
        <p:spPr>
          <a:xfrm>
            <a:off x="8783091" y="1365069"/>
            <a:ext cx="803753" cy="246221"/>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Flowmeter</a:t>
            </a:r>
            <a:endParaRPr kumimoji="0" lang="en-US" sz="10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EFB60C43-EB54-9E02-6554-F3D73A3DB8CD}"/>
              </a:ext>
            </a:extLst>
          </p:cNvPr>
          <p:cNvSpPr txBox="1"/>
          <p:nvPr/>
        </p:nvSpPr>
        <p:spPr>
          <a:xfrm>
            <a:off x="8707504" y="2479286"/>
            <a:ext cx="803753" cy="246221"/>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6DBD3">
                    <a:lumMod val="10000"/>
                  </a:srgbClr>
                </a:solidFill>
                <a:effectLst/>
                <a:uLnTx/>
                <a:uFillTx/>
                <a:latin typeface="Arial" panose="020B0604020202020204"/>
                <a:ea typeface="+mn-ea"/>
                <a:cs typeface="Arial"/>
              </a:rPr>
              <a:t>Flowmeter</a:t>
            </a:r>
            <a:endParaRPr kumimoji="0" lang="en-US" sz="1000" b="0" i="0" u="none" strike="noStrike" kern="1200" cap="none" spc="0" normalizeH="0" baseline="0" noProof="0" dirty="0">
              <a:ln>
                <a:noFill/>
              </a:ln>
              <a:solidFill>
                <a:srgbClr val="D6DBD3">
                  <a:lumMod val="10000"/>
                </a:srgbClr>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DE89397C-0F6F-D9C8-40E9-00498003A77E}"/>
              </a:ext>
            </a:extLst>
          </p:cNvPr>
          <p:cNvSpPr txBox="1"/>
          <p:nvPr/>
        </p:nvSpPr>
        <p:spPr>
          <a:xfrm>
            <a:off x="3285032" y="5243898"/>
            <a:ext cx="7232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80 W</a:t>
            </a:r>
          </a:p>
        </p:txBody>
      </p:sp>
      <p:sp>
        <p:nvSpPr>
          <p:cNvPr id="18" name="TextBox 17">
            <a:extLst>
              <a:ext uri="{FF2B5EF4-FFF2-40B4-BE49-F238E27FC236}">
                <a16:creationId xmlns:a16="http://schemas.microsoft.com/office/drawing/2014/main" id="{189F7D2F-31D6-1BB4-1515-FCDEE16E6E1F}"/>
              </a:ext>
            </a:extLst>
          </p:cNvPr>
          <p:cNvSpPr txBox="1"/>
          <p:nvPr/>
        </p:nvSpPr>
        <p:spPr>
          <a:xfrm>
            <a:off x="5953603" y="3222398"/>
            <a:ext cx="803753" cy="369332"/>
          </a:xfrm>
          <a:prstGeom prst="rect">
            <a:avLst/>
          </a:prstGeom>
          <a:no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6DBD3">
                    <a:lumMod val="10000"/>
                  </a:srgbClr>
                </a:solidFill>
                <a:effectLst/>
                <a:uLnTx/>
                <a:uFillTx/>
                <a:latin typeface="Arial" panose="020B0604020202020204"/>
                <a:ea typeface="+mn-ea"/>
                <a:cs typeface="Arial"/>
              </a:rPr>
              <a:t>HX</a:t>
            </a:r>
            <a:endParaRPr kumimoji="0" lang="en-US" sz="1800" b="0" i="0" u="none" strike="noStrike" kern="1200" cap="none" spc="0" normalizeH="0" baseline="0" noProof="0" dirty="0">
              <a:ln>
                <a:noFill/>
              </a:ln>
              <a:solidFill>
                <a:srgbClr val="D6DBD3">
                  <a:lumMod val="10000"/>
                </a:srgbClr>
              </a:solidFill>
              <a:effectLst/>
              <a:uLnTx/>
              <a:uFillTx/>
              <a:latin typeface="Arial" panose="020B0604020202020204"/>
              <a:ea typeface="+mn-ea"/>
              <a:cs typeface="+mn-cs"/>
            </a:endParaRPr>
          </a:p>
        </p:txBody>
      </p:sp>
      <p:cxnSp>
        <p:nvCxnSpPr>
          <p:cNvPr id="26" name="Connector: Elbow 25">
            <a:extLst>
              <a:ext uri="{FF2B5EF4-FFF2-40B4-BE49-F238E27FC236}">
                <a16:creationId xmlns:a16="http://schemas.microsoft.com/office/drawing/2014/main" id="{C387F1F4-D0A4-8E8B-136F-33CDDFE8699C}"/>
              </a:ext>
            </a:extLst>
          </p:cNvPr>
          <p:cNvCxnSpPr>
            <a:stCxn id="18" idx="1"/>
            <a:endCxn id="87" idx="3"/>
          </p:cNvCxnSpPr>
          <p:nvPr/>
        </p:nvCxnSpPr>
        <p:spPr>
          <a:xfrm rot="10800000" flipV="1">
            <a:off x="1124851" y="3407064"/>
            <a:ext cx="4828753" cy="317288"/>
          </a:xfrm>
          <a:prstGeom prst="bentConnector2">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80D46D6-2CED-D91A-24F3-E10772603BB3}"/>
              </a:ext>
            </a:extLst>
          </p:cNvPr>
          <p:cNvSpPr txBox="1"/>
          <p:nvPr/>
        </p:nvSpPr>
        <p:spPr>
          <a:xfrm>
            <a:off x="5861493" y="3886959"/>
            <a:ext cx="987971" cy="461665"/>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Arial"/>
              </a:rPr>
              <a:t>Flow Restrictor</a:t>
            </a:r>
            <a:endPar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mn-cs"/>
            </a:endParaRPr>
          </a:p>
        </p:txBody>
      </p:sp>
      <p:sp>
        <p:nvSpPr>
          <p:cNvPr id="38" name="TextBox 37">
            <a:extLst>
              <a:ext uri="{FF2B5EF4-FFF2-40B4-BE49-F238E27FC236}">
                <a16:creationId xmlns:a16="http://schemas.microsoft.com/office/drawing/2014/main" id="{9271D302-1FB7-844E-B654-4593054F2456}"/>
              </a:ext>
            </a:extLst>
          </p:cNvPr>
          <p:cNvSpPr txBox="1"/>
          <p:nvPr/>
        </p:nvSpPr>
        <p:spPr>
          <a:xfrm>
            <a:off x="4351121" y="5623965"/>
            <a:ext cx="987971" cy="461665"/>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Arial"/>
              </a:rPr>
              <a:t>Pressure Transducer</a:t>
            </a:r>
            <a:endPar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mn-cs"/>
            </a:endParaRPr>
          </a:p>
        </p:txBody>
      </p:sp>
      <p:sp>
        <p:nvSpPr>
          <p:cNvPr id="39" name="TextBox 38">
            <a:extLst>
              <a:ext uri="{FF2B5EF4-FFF2-40B4-BE49-F238E27FC236}">
                <a16:creationId xmlns:a16="http://schemas.microsoft.com/office/drawing/2014/main" id="{13714BF4-4798-2CCC-512A-FDA8E84B3CE4}"/>
              </a:ext>
            </a:extLst>
          </p:cNvPr>
          <p:cNvSpPr txBox="1"/>
          <p:nvPr/>
        </p:nvSpPr>
        <p:spPr>
          <a:xfrm>
            <a:off x="1954249" y="5623965"/>
            <a:ext cx="987971" cy="461665"/>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Arial"/>
              </a:rPr>
              <a:t>Pressure Transducer</a:t>
            </a:r>
            <a:endPar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mn-cs"/>
            </a:endParaRPr>
          </a:p>
        </p:txBody>
      </p:sp>
      <p:sp>
        <p:nvSpPr>
          <p:cNvPr id="40" name="TextBox 39">
            <a:extLst>
              <a:ext uri="{FF2B5EF4-FFF2-40B4-BE49-F238E27FC236}">
                <a16:creationId xmlns:a16="http://schemas.microsoft.com/office/drawing/2014/main" id="{523C25C4-9EFE-407F-C503-7D6EA3318EFE}"/>
              </a:ext>
            </a:extLst>
          </p:cNvPr>
          <p:cNvSpPr txBox="1"/>
          <p:nvPr/>
        </p:nvSpPr>
        <p:spPr>
          <a:xfrm>
            <a:off x="5875704" y="5197731"/>
            <a:ext cx="987971" cy="276999"/>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Arial"/>
              </a:rPr>
              <a:t>Flowmeter</a:t>
            </a:r>
            <a:endPar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mn-cs"/>
            </a:endParaRPr>
          </a:p>
        </p:txBody>
      </p:sp>
      <p:cxnSp>
        <p:nvCxnSpPr>
          <p:cNvPr id="51" name="Connector: Elbow 50">
            <a:extLst>
              <a:ext uri="{FF2B5EF4-FFF2-40B4-BE49-F238E27FC236}">
                <a16:creationId xmlns:a16="http://schemas.microsoft.com/office/drawing/2014/main" id="{D10287BC-8925-7185-2C49-A791EE64596A}"/>
              </a:ext>
            </a:extLst>
          </p:cNvPr>
          <p:cNvCxnSpPr>
            <a:cxnSpLocks/>
            <a:stCxn id="67" idx="3"/>
            <a:endCxn id="54" idx="3"/>
          </p:cNvCxnSpPr>
          <p:nvPr/>
        </p:nvCxnSpPr>
        <p:spPr>
          <a:xfrm flipV="1">
            <a:off x="8417453" y="1971684"/>
            <a:ext cx="2421589" cy="1426963"/>
          </a:xfrm>
          <a:prstGeom prst="bentConnector3">
            <a:avLst>
              <a:gd name="adj1" fmla="val 10932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87750C91-E3FA-9673-66AC-C0DCBAB7F07B}"/>
              </a:ext>
            </a:extLst>
          </p:cNvPr>
          <p:cNvGrpSpPr/>
          <p:nvPr/>
        </p:nvGrpSpPr>
        <p:grpSpPr>
          <a:xfrm>
            <a:off x="10570718" y="1780621"/>
            <a:ext cx="268323" cy="361086"/>
            <a:chOff x="4633272" y="3138567"/>
            <a:chExt cx="268323" cy="361086"/>
          </a:xfrm>
        </p:grpSpPr>
        <p:sp>
          <p:nvSpPr>
            <p:cNvPr id="54" name="Isosceles Triangle 53">
              <a:extLst>
                <a:ext uri="{FF2B5EF4-FFF2-40B4-BE49-F238E27FC236}">
                  <a16:creationId xmlns:a16="http://schemas.microsoft.com/office/drawing/2014/main" id="{47994AC3-3A9B-10D0-C3C5-66DADEFEB965}"/>
                </a:ext>
              </a:extLst>
            </p:cNvPr>
            <p:cNvSpPr/>
            <p:nvPr/>
          </p:nvSpPr>
          <p:spPr>
            <a:xfrm rot="16200000" flipH="1">
              <a:off x="4723969" y="3239358"/>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5" name="Isosceles Triangle 54">
              <a:extLst>
                <a:ext uri="{FF2B5EF4-FFF2-40B4-BE49-F238E27FC236}">
                  <a16:creationId xmlns:a16="http://schemas.microsoft.com/office/drawing/2014/main" id="{9B653930-1E1D-C8D0-9253-3FA9DF44FE04}"/>
                </a:ext>
              </a:extLst>
            </p:cNvPr>
            <p:cNvSpPr/>
            <p:nvPr/>
          </p:nvSpPr>
          <p:spPr>
            <a:xfrm>
              <a:off x="4635374" y="3319110"/>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6" name="Isosceles Triangle 55">
              <a:extLst>
                <a:ext uri="{FF2B5EF4-FFF2-40B4-BE49-F238E27FC236}">
                  <a16:creationId xmlns:a16="http://schemas.microsoft.com/office/drawing/2014/main" id="{48DE8D64-A9BD-5BE6-1F7B-0720DEDEE406}"/>
                </a:ext>
              </a:extLst>
            </p:cNvPr>
            <p:cNvSpPr/>
            <p:nvPr/>
          </p:nvSpPr>
          <p:spPr>
            <a:xfrm flipV="1">
              <a:off x="4633272" y="3138567"/>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9" name="TextBox 58">
            <a:extLst>
              <a:ext uri="{FF2B5EF4-FFF2-40B4-BE49-F238E27FC236}">
                <a16:creationId xmlns:a16="http://schemas.microsoft.com/office/drawing/2014/main" id="{56756395-15D5-4386-AD52-EB964F36D413}"/>
              </a:ext>
            </a:extLst>
          </p:cNvPr>
          <p:cNvSpPr txBox="1"/>
          <p:nvPr/>
        </p:nvSpPr>
        <p:spPr>
          <a:xfrm>
            <a:off x="9511257" y="3105834"/>
            <a:ext cx="803753" cy="646331"/>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6DBD3">
                    <a:lumMod val="10000"/>
                  </a:srgbClr>
                </a:solidFill>
                <a:effectLst/>
                <a:uLnTx/>
                <a:uFillTx/>
                <a:latin typeface="Arial" panose="020B0604020202020204"/>
                <a:ea typeface="+mn-ea"/>
                <a:cs typeface="Arial"/>
              </a:rPr>
              <a:t>Team Pump</a:t>
            </a:r>
            <a:endParaRPr kumimoji="0" lang="en-US" sz="1800" b="0" i="0" u="none" strike="noStrike" kern="1200" cap="none" spc="0" normalizeH="0" baseline="0" noProof="0" dirty="0">
              <a:ln>
                <a:noFill/>
              </a:ln>
              <a:solidFill>
                <a:srgbClr val="D6DBD3">
                  <a:lumMod val="10000"/>
                </a:srgbClr>
              </a:solidFill>
              <a:effectLst/>
              <a:uLnTx/>
              <a:uFillTx/>
              <a:latin typeface="Arial" panose="020B0604020202020204"/>
              <a:ea typeface="+mn-ea"/>
              <a:cs typeface="+mn-cs"/>
            </a:endParaRPr>
          </a:p>
        </p:txBody>
      </p:sp>
      <p:grpSp>
        <p:nvGrpSpPr>
          <p:cNvPr id="60" name="Group 59">
            <a:extLst>
              <a:ext uri="{FF2B5EF4-FFF2-40B4-BE49-F238E27FC236}">
                <a16:creationId xmlns:a16="http://schemas.microsoft.com/office/drawing/2014/main" id="{1CF99866-B7CE-01BA-0399-19934F004E31}"/>
              </a:ext>
            </a:extLst>
          </p:cNvPr>
          <p:cNvGrpSpPr/>
          <p:nvPr/>
        </p:nvGrpSpPr>
        <p:grpSpPr>
          <a:xfrm rot="5400000">
            <a:off x="8102748" y="3264910"/>
            <a:ext cx="268323" cy="361086"/>
            <a:chOff x="4633272" y="3138567"/>
            <a:chExt cx="268323" cy="361086"/>
          </a:xfrm>
        </p:grpSpPr>
        <p:sp>
          <p:nvSpPr>
            <p:cNvPr id="64" name="Isosceles Triangle 63">
              <a:extLst>
                <a:ext uri="{FF2B5EF4-FFF2-40B4-BE49-F238E27FC236}">
                  <a16:creationId xmlns:a16="http://schemas.microsoft.com/office/drawing/2014/main" id="{328647CE-F94A-812B-3FE8-34547343A8D8}"/>
                </a:ext>
              </a:extLst>
            </p:cNvPr>
            <p:cNvSpPr/>
            <p:nvPr/>
          </p:nvSpPr>
          <p:spPr>
            <a:xfrm rot="16200000" flipH="1">
              <a:off x="4723969" y="3239358"/>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6" name="Isosceles Triangle 65">
              <a:extLst>
                <a:ext uri="{FF2B5EF4-FFF2-40B4-BE49-F238E27FC236}">
                  <a16:creationId xmlns:a16="http://schemas.microsoft.com/office/drawing/2014/main" id="{B9247611-C045-B7E8-0827-EE76764F1893}"/>
                </a:ext>
              </a:extLst>
            </p:cNvPr>
            <p:cNvSpPr/>
            <p:nvPr/>
          </p:nvSpPr>
          <p:spPr>
            <a:xfrm>
              <a:off x="4635374" y="3319110"/>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7" name="Isosceles Triangle 66">
              <a:extLst>
                <a:ext uri="{FF2B5EF4-FFF2-40B4-BE49-F238E27FC236}">
                  <a16:creationId xmlns:a16="http://schemas.microsoft.com/office/drawing/2014/main" id="{29795CBC-F117-AF62-4B50-41E23C68B81C}"/>
                </a:ext>
              </a:extLst>
            </p:cNvPr>
            <p:cNvSpPr/>
            <p:nvPr/>
          </p:nvSpPr>
          <p:spPr>
            <a:xfrm flipV="1">
              <a:off x="4633272" y="3138567"/>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cxnSp>
        <p:nvCxnSpPr>
          <p:cNvPr id="70" name="Connector: Elbow 69">
            <a:extLst>
              <a:ext uri="{FF2B5EF4-FFF2-40B4-BE49-F238E27FC236}">
                <a16:creationId xmlns:a16="http://schemas.microsoft.com/office/drawing/2014/main" id="{43DB2FB3-6EFC-7EFC-11D6-4FBB1AACD1D2}"/>
              </a:ext>
            </a:extLst>
          </p:cNvPr>
          <p:cNvCxnSpPr>
            <a:cxnSpLocks/>
            <a:stCxn id="18" idx="3"/>
            <a:endCxn id="66" idx="3"/>
          </p:cNvCxnSpPr>
          <p:nvPr/>
        </p:nvCxnSpPr>
        <p:spPr>
          <a:xfrm flipV="1">
            <a:off x="6757356" y="3400749"/>
            <a:ext cx="1299011" cy="6315"/>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F0E1633F-4F0A-7C61-5D0B-813B7AA4D84A}"/>
              </a:ext>
            </a:extLst>
          </p:cNvPr>
          <p:cNvSpPr txBox="1"/>
          <p:nvPr/>
        </p:nvSpPr>
        <p:spPr>
          <a:xfrm>
            <a:off x="7577519" y="4052747"/>
            <a:ext cx="1299011" cy="646331"/>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6DBD3">
                    <a:lumMod val="10000"/>
                  </a:srgbClr>
                </a:solidFill>
                <a:effectLst/>
                <a:uLnTx/>
                <a:uFillTx/>
                <a:latin typeface="Arial" panose="020B0604020202020204"/>
                <a:ea typeface="+mn-ea"/>
                <a:cs typeface="Arial"/>
              </a:rPr>
              <a:t>Coolant Reservoir</a:t>
            </a:r>
            <a:endParaRPr kumimoji="0" lang="en-US" sz="1800" b="0" i="0" u="none" strike="noStrike" kern="1200" cap="none" spc="0" normalizeH="0" baseline="0" noProof="0" dirty="0">
              <a:ln>
                <a:noFill/>
              </a:ln>
              <a:solidFill>
                <a:srgbClr val="D6DBD3">
                  <a:lumMod val="10000"/>
                </a:srgbClr>
              </a:solidFill>
              <a:effectLst/>
              <a:uLnTx/>
              <a:uFillTx/>
              <a:latin typeface="Arial" panose="020B0604020202020204"/>
              <a:ea typeface="+mn-ea"/>
              <a:cs typeface="+mn-cs"/>
            </a:endParaRPr>
          </a:p>
        </p:txBody>
      </p:sp>
      <p:cxnSp>
        <p:nvCxnSpPr>
          <p:cNvPr id="77" name="Connector: Elbow 76">
            <a:extLst>
              <a:ext uri="{FF2B5EF4-FFF2-40B4-BE49-F238E27FC236}">
                <a16:creationId xmlns:a16="http://schemas.microsoft.com/office/drawing/2014/main" id="{1BF9B5F3-0B37-5463-40A1-B1AEAB2CA2ED}"/>
              </a:ext>
            </a:extLst>
          </p:cNvPr>
          <p:cNvCxnSpPr>
            <a:stCxn id="64" idx="3"/>
            <a:endCxn id="74" idx="0"/>
          </p:cNvCxnSpPr>
          <p:nvPr/>
        </p:nvCxnSpPr>
        <p:spPr>
          <a:xfrm rot="16200000" flipH="1">
            <a:off x="7990141" y="3815863"/>
            <a:ext cx="473132" cy="635"/>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id="{D51C349E-FE0D-A81F-68D6-F79D494ADE7C}"/>
              </a:ext>
            </a:extLst>
          </p:cNvPr>
          <p:cNvGrpSpPr/>
          <p:nvPr/>
        </p:nvGrpSpPr>
        <p:grpSpPr>
          <a:xfrm rot="5400000">
            <a:off x="6850623" y="1306963"/>
            <a:ext cx="268323" cy="361086"/>
            <a:chOff x="4633272" y="3138567"/>
            <a:chExt cx="268323" cy="361086"/>
          </a:xfrm>
        </p:grpSpPr>
        <p:sp>
          <p:nvSpPr>
            <p:cNvPr id="82" name="Isosceles Triangle 81">
              <a:extLst>
                <a:ext uri="{FF2B5EF4-FFF2-40B4-BE49-F238E27FC236}">
                  <a16:creationId xmlns:a16="http://schemas.microsoft.com/office/drawing/2014/main" id="{BD1458E3-9E52-E01C-6984-4E6E19B93342}"/>
                </a:ext>
              </a:extLst>
            </p:cNvPr>
            <p:cNvSpPr/>
            <p:nvPr/>
          </p:nvSpPr>
          <p:spPr>
            <a:xfrm rot="16200000" flipH="1">
              <a:off x="4723969" y="3239358"/>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84" name="Isosceles Triangle 83">
              <a:extLst>
                <a:ext uri="{FF2B5EF4-FFF2-40B4-BE49-F238E27FC236}">
                  <a16:creationId xmlns:a16="http://schemas.microsoft.com/office/drawing/2014/main" id="{F0F96AD7-FEEC-C80D-E7D4-A9C272B00A12}"/>
                </a:ext>
              </a:extLst>
            </p:cNvPr>
            <p:cNvSpPr/>
            <p:nvPr/>
          </p:nvSpPr>
          <p:spPr>
            <a:xfrm>
              <a:off x="4635374" y="3319110"/>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8" name="Isosceles Triangle 87">
              <a:extLst>
                <a:ext uri="{FF2B5EF4-FFF2-40B4-BE49-F238E27FC236}">
                  <a16:creationId xmlns:a16="http://schemas.microsoft.com/office/drawing/2014/main" id="{E0A74A33-98CE-C49C-A372-87C39CFB60B4}"/>
                </a:ext>
              </a:extLst>
            </p:cNvPr>
            <p:cNvSpPr/>
            <p:nvPr/>
          </p:nvSpPr>
          <p:spPr>
            <a:xfrm flipV="1">
              <a:off x="4633272" y="3138567"/>
              <a:ext cx="174710" cy="180543"/>
            </a:xfrm>
            <a:prstGeom prst="triangle">
              <a:avLst/>
            </a:prstGeom>
            <a:noFill/>
            <a:ln w="19050">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91" name="TextBox 90">
            <a:extLst>
              <a:ext uri="{FF2B5EF4-FFF2-40B4-BE49-F238E27FC236}">
                <a16:creationId xmlns:a16="http://schemas.microsoft.com/office/drawing/2014/main" id="{E1EC2B85-4EB2-CD7E-3F69-1657824D44E4}"/>
              </a:ext>
            </a:extLst>
          </p:cNvPr>
          <p:cNvSpPr txBox="1"/>
          <p:nvPr/>
        </p:nvSpPr>
        <p:spPr>
          <a:xfrm>
            <a:off x="6567634" y="1895236"/>
            <a:ext cx="987971" cy="461665"/>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Arial"/>
              </a:rPr>
              <a:t>Flow Restrictor</a:t>
            </a:r>
            <a:endPar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mn-cs"/>
            </a:endParaRPr>
          </a:p>
        </p:txBody>
      </p:sp>
      <p:cxnSp>
        <p:nvCxnSpPr>
          <p:cNvPr id="94" name="Connector: Elbow 93">
            <a:extLst>
              <a:ext uri="{FF2B5EF4-FFF2-40B4-BE49-F238E27FC236}">
                <a16:creationId xmlns:a16="http://schemas.microsoft.com/office/drawing/2014/main" id="{23757E9A-86B3-A8C9-9D51-A65FA0E276F4}"/>
              </a:ext>
            </a:extLst>
          </p:cNvPr>
          <p:cNvCxnSpPr>
            <a:stCxn id="56" idx="3"/>
            <a:endCxn id="5" idx="3"/>
          </p:cNvCxnSpPr>
          <p:nvPr/>
        </p:nvCxnSpPr>
        <p:spPr>
          <a:xfrm rot="16200000" flipV="1">
            <a:off x="9976239" y="1098786"/>
            <a:ext cx="292441" cy="107122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A27C31EE-C269-883B-9E71-AD5EBE1995B6}"/>
              </a:ext>
            </a:extLst>
          </p:cNvPr>
          <p:cNvCxnSpPr>
            <a:cxnSpLocks/>
            <a:stCxn id="55" idx="3"/>
            <a:endCxn id="103" idx="3"/>
          </p:cNvCxnSpPr>
          <p:nvPr/>
        </p:nvCxnSpPr>
        <p:spPr>
          <a:xfrm rot="5400000">
            <a:off x="10325798" y="2278540"/>
            <a:ext cx="471210" cy="19754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5BB1563E-4F7F-B34D-8501-1F50D40C0B40}"/>
              </a:ext>
            </a:extLst>
          </p:cNvPr>
          <p:cNvCxnSpPr>
            <a:cxnSpLocks/>
            <a:stCxn id="62" idx="1"/>
            <a:endCxn id="88" idx="3"/>
          </p:cNvCxnSpPr>
          <p:nvPr/>
        </p:nvCxnSpPr>
        <p:spPr>
          <a:xfrm rot="10800000">
            <a:off x="7165328" y="1440700"/>
            <a:ext cx="499650" cy="9034"/>
          </a:xfrm>
          <a:prstGeom prst="bentConnector3">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A8FF4973-0EAC-7AE0-A95B-C493CBF8B0E2}"/>
              </a:ext>
            </a:extLst>
          </p:cNvPr>
          <p:cNvSpPr txBox="1"/>
          <p:nvPr/>
        </p:nvSpPr>
        <p:spPr>
          <a:xfrm>
            <a:off x="7664978" y="1265068"/>
            <a:ext cx="803753" cy="369332"/>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Arial"/>
              </a:rPr>
              <a:t>RDU</a:t>
            </a:r>
            <a:endParaRPr kumimoji="0" lang="en-US" sz="1800" b="0" i="0" u="none" strike="noStrike" kern="1200" cap="none" spc="0" normalizeH="0" baseline="0" noProof="0">
              <a:ln>
                <a:noFill/>
              </a:ln>
              <a:solidFill>
                <a:srgbClr val="D6DBD3">
                  <a:lumMod val="10000"/>
                </a:srgbClr>
              </a:solidFill>
              <a:effectLst/>
              <a:uLnTx/>
              <a:uFillTx/>
              <a:latin typeface="Arial" panose="020B0604020202020204"/>
              <a:ea typeface="+mn-ea"/>
              <a:cs typeface="+mn-cs"/>
            </a:endParaRPr>
          </a:p>
        </p:txBody>
      </p:sp>
      <p:sp>
        <p:nvSpPr>
          <p:cNvPr id="103" name="TextBox 102">
            <a:extLst>
              <a:ext uri="{FF2B5EF4-FFF2-40B4-BE49-F238E27FC236}">
                <a16:creationId xmlns:a16="http://schemas.microsoft.com/office/drawing/2014/main" id="{C1EDA91A-A637-372D-D982-FC67699D2F7D}"/>
              </a:ext>
            </a:extLst>
          </p:cNvPr>
          <p:cNvSpPr txBox="1"/>
          <p:nvPr/>
        </p:nvSpPr>
        <p:spPr>
          <a:xfrm>
            <a:off x="9678593" y="2382084"/>
            <a:ext cx="784038" cy="461665"/>
          </a:xfrm>
          <a:prstGeom prst="rect">
            <a:avLst/>
          </a:prstGeom>
          <a:solidFill>
            <a:schemeClr val="bg1"/>
          </a:solidFill>
          <a:ln w="19050">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Arial"/>
              </a:rPr>
              <a:t>Bleeder Valve</a:t>
            </a:r>
            <a:endParaRPr kumimoji="0" lang="en-US" sz="1200" b="0" i="0" u="none" strike="noStrike" kern="1200" cap="none" spc="0" normalizeH="0" baseline="0" noProof="0" dirty="0">
              <a:ln>
                <a:noFill/>
              </a:ln>
              <a:solidFill>
                <a:srgbClr val="D6DBD3">
                  <a:lumMod val="10000"/>
                </a:srgbClr>
              </a:solidFill>
              <a:effectLst/>
              <a:uLnTx/>
              <a:uFillTx/>
              <a:latin typeface="Arial" panose="020B0604020202020204"/>
              <a:ea typeface="+mn-ea"/>
              <a:cs typeface="+mn-cs"/>
            </a:endParaRPr>
          </a:p>
        </p:txBody>
      </p:sp>
      <p:sp>
        <p:nvSpPr>
          <p:cNvPr id="109" name="TextBox 108">
            <a:extLst>
              <a:ext uri="{FF2B5EF4-FFF2-40B4-BE49-F238E27FC236}">
                <a16:creationId xmlns:a16="http://schemas.microsoft.com/office/drawing/2014/main" id="{C7F36943-483D-F539-118F-94DC319DAE77}"/>
              </a:ext>
            </a:extLst>
          </p:cNvPr>
          <p:cNvSpPr txBox="1"/>
          <p:nvPr/>
        </p:nvSpPr>
        <p:spPr>
          <a:xfrm>
            <a:off x="9530180" y="3828059"/>
            <a:ext cx="7232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96 W</a:t>
            </a:r>
          </a:p>
        </p:txBody>
      </p:sp>
      <p:sp>
        <p:nvSpPr>
          <p:cNvPr id="6" name="Rectangle 5">
            <a:extLst>
              <a:ext uri="{FF2B5EF4-FFF2-40B4-BE49-F238E27FC236}">
                <a16:creationId xmlns:a16="http://schemas.microsoft.com/office/drawing/2014/main" id="{29E28349-8EFE-B70D-7CCA-EF92E89004D9}"/>
              </a:ext>
            </a:extLst>
          </p:cNvPr>
          <p:cNvSpPr/>
          <p:nvPr/>
        </p:nvSpPr>
        <p:spPr>
          <a:xfrm>
            <a:off x="606934" y="2341691"/>
            <a:ext cx="5144515" cy="3251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Confidential Thermal Architecture</a:t>
            </a:r>
          </a:p>
        </p:txBody>
      </p:sp>
      <p:sp>
        <p:nvSpPr>
          <p:cNvPr id="7" name="Rectangle 6">
            <a:extLst>
              <a:ext uri="{FF2B5EF4-FFF2-40B4-BE49-F238E27FC236}">
                <a16:creationId xmlns:a16="http://schemas.microsoft.com/office/drawing/2014/main" id="{711D5716-6F2F-225B-DEE9-DFEFDE129011}"/>
              </a:ext>
            </a:extLst>
          </p:cNvPr>
          <p:cNvSpPr/>
          <p:nvPr/>
        </p:nvSpPr>
        <p:spPr>
          <a:xfrm>
            <a:off x="747252" y="5197731"/>
            <a:ext cx="987971" cy="1124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C73BEFE-CE9C-5059-E3C6-73687FDF0472}"/>
              </a:ext>
            </a:extLst>
          </p:cNvPr>
          <p:cNvSpPr/>
          <p:nvPr/>
        </p:nvSpPr>
        <p:spPr>
          <a:xfrm>
            <a:off x="3117612" y="5148657"/>
            <a:ext cx="987971" cy="1124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6CB0C4C-C4AC-9892-1094-7BBFE78F1A8F}"/>
              </a:ext>
            </a:extLst>
          </p:cNvPr>
          <p:cNvSpPr/>
          <p:nvPr/>
        </p:nvSpPr>
        <p:spPr>
          <a:xfrm>
            <a:off x="5329999" y="4450532"/>
            <a:ext cx="1519465" cy="585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0416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9A878-3F77-A693-EDF8-3DE3B80AAD8A}"/>
              </a:ext>
            </a:extLst>
          </p:cNvPr>
          <p:cNvSpPr>
            <a:spLocks noGrp="1"/>
          </p:cNvSpPr>
          <p:nvPr>
            <p:ph type="title"/>
          </p:nvPr>
        </p:nvSpPr>
        <p:spPr/>
        <p:txBody>
          <a:bodyPr/>
          <a:lstStyle/>
          <a:p>
            <a:r>
              <a:rPr lang="en-US"/>
              <a:t>BOM</a:t>
            </a:r>
          </a:p>
        </p:txBody>
      </p:sp>
      <p:sp>
        <p:nvSpPr>
          <p:cNvPr id="7" name="TextBox 6">
            <a:extLst>
              <a:ext uri="{FF2B5EF4-FFF2-40B4-BE49-F238E27FC236}">
                <a16:creationId xmlns:a16="http://schemas.microsoft.com/office/drawing/2014/main" id="{8B9F3DE6-7E02-76BF-48E9-6E33175D228E}"/>
              </a:ext>
            </a:extLst>
          </p:cNvPr>
          <p:cNvSpPr txBox="1"/>
          <p:nvPr/>
        </p:nvSpPr>
        <p:spPr>
          <a:xfrm>
            <a:off x="7440257" y="102089"/>
            <a:ext cx="4561243" cy="923330"/>
          </a:xfrm>
          <a:prstGeom prst="rect">
            <a:avLst/>
          </a:prstGeom>
          <a:noFill/>
        </p:spPr>
        <p:txBody>
          <a:bodyPr wrap="square" rtlCol="0">
            <a:spAutoFit/>
          </a:bodyPr>
          <a:lstStyle/>
          <a:p>
            <a:r>
              <a:rPr lang="en-US" dirty="0">
                <a:hlinkClick r:id="rId3"/>
              </a:rPr>
              <a:t>https://gtvault.sharepoint.com/:x:/s/ECE/EcoCAR/IQDrzrVUKhcvTZduIMjvDLMzAQ_aPXZBBRcs_65Yqt2Rs8o?e=LRCEgL</a:t>
            </a:r>
            <a:r>
              <a:rPr lang="en-US" dirty="0"/>
              <a:t> </a:t>
            </a:r>
          </a:p>
        </p:txBody>
      </p:sp>
      <p:pic>
        <p:nvPicPr>
          <p:cNvPr id="8" name="Picture 7">
            <a:extLst>
              <a:ext uri="{FF2B5EF4-FFF2-40B4-BE49-F238E27FC236}">
                <a16:creationId xmlns:a16="http://schemas.microsoft.com/office/drawing/2014/main" id="{3B36E0F6-EBF5-2D8E-8641-3B8797DAEF41}"/>
              </a:ext>
            </a:extLst>
          </p:cNvPr>
          <p:cNvPicPr>
            <a:picLocks noChangeAspect="1"/>
          </p:cNvPicPr>
          <p:nvPr/>
        </p:nvPicPr>
        <p:blipFill>
          <a:blip r:embed="rId4"/>
          <a:stretch>
            <a:fillRect/>
          </a:stretch>
        </p:blipFill>
        <p:spPr>
          <a:xfrm>
            <a:off x="0" y="1270000"/>
            <a:ext cx="12192000" cy="4318000"/>
          </a:xfrm>
          <a:prstGeom prst="rect">
            <a:avLst/>
          </a:prstGeom>
        </p:spPr>
      </p:pic>
    </p:spTree>
    <p:extLst>
      <p:ext uri="{BB962C8B-B14F-4D97-AF65-F5344CB8AC3E}">
        <p14:creationId xmlns:p14="http://schemas.microsoft.com/office/powerpoint/2010/main" val="1056197760"/>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BD58-2BD0-3855-1485-CB395929A121}"/>
              </a:ext>
            </a:extLst>
          </p:cNvPr>
          <p:cNvSpPr>
            <a:spLocks noGrp="1"/>
          </p:cNvSpPr>
          <p:nvPr>
            <p:ph type="title"/>
          </p:nvPr>
        </p:nvSpPr>
        <p:spPr/>
        <p:txBody>
          <a:bodyPr/>
          <a:lstStyle/>
          <a:p>
            <a:r>
              <a:rPr lang="en-US"/>
              <a:t>Pressure Transducer</a:t>
            </a:r>
          </a:p>
        </p:txBody>
      </p:sp>
      <p:sp>
        <p:nvSpPr>
          <p:cNvPr id="3" name="Content Placeholder 2">
            <a:extLst>
              <a:ext uri="{FF2B5EF4-FFF2-40B4-BE49-F238E27FC236}">
                <a16:creationId xmlns:a16="http://schemas.microsoft.com/office/drawing/2014/main" id="{A28BDFC1-6C6B-24DB-DD79-469BB4D74674}"/>
              </a:ext>
            </a:extLst>
          </p:cNvPr>
          <p:cNvSpPr>
            <a:spLocks noGrp="1"/>
          </p:cNvSpPr>
          <p:nvPr>
            <p:ph sz="half" idx="1"/>
          </p:nvPr>
        </p:nvSpPr>
        <p:spPr/>
        <p:txBody>
          <a:bodyPr/>
          <a:lstStyle/>
          <a:p>
            <a:r>
              <a:rPr lang="en-US" dirty="0">
                <a:hlinkClick r:id="rId2"/>
              </a:rPr>
              <a:t>PX3AN2BS100PAAAX Honeywell Sensing and Productivity Solutions | Pressure Sensors, Transducers - Industrial | </a:t>
            </a:r>
            <a:r>
              <a:rPr lang="en-US" dirty="0" err="1">
                <a:hlinkClick r:id="rId2"/>
              </a:rPr>
              <a:t>DigiKey</a:t>
            </a:r>
            <a:endParaRPr lang="en-US" dirty="0"/>
          </a:p>
          <a:p>
            <a:r>
              <a:rPr lang="en-US" dirty="0"/>
              <a:t>X2</a:t>
            </a:r>
          </a:p>
          <a:p>
            <a:r>
              <a:rPr lang="en-US" dirty="0"/>
              <a:t>$129.82</a:t>
            </a:r>
          </a:p>
          <a:p>
            <a:endParaRPr lang="en-US" dirty="0"/>
          </a:p>
        </p:txBody>
      </p:sp>
      <p:pic>
        <p:nvPicPr>
          <p:cNvPr id="6" name="Picture 5">
            <a:extLst>
              <a:ext uri="{FF2B5EF4-FFF2-40B4-BE49-F238E27FC236}">
                <a16:creationId xmlns:a16="http://schemas.microsoft.com/office/drawing/2014/main" id="{2AC4AAD4-A85D-182A-8CE6-EFB50E1A89F9}"/>
              </a:ext>
            </a:extLst>
          </p:cNvPr>
          <p:cNvPicPr>
            <a:picLocks noChangeAspect="1"/>
          </p:cNvPicPr>
          <p:nvPr/>
        </p:nvPicPr>
        <p:blipFill>
          <a:blip r:embed="rId3"/>
          <a:stretch>
            <a:fillRect/>
          </a:stretch>
        </p:blipFill>
        <p:spPr>
          <a:xfrm>
            <a:off x="6096000" y="200722"/>
            <a:ext cx="5668166" cy="5677692"/>
          </a:xfrm>
          <a:prstGeom prst="rect">
            <a:avLst/>
          </a:prstGeom>
        </p:spPr>
      </p:pic>
    </p:spTree>
    <p:extLst>
      <p:ext uri="{BB962C8B-B14F-4D97-AF65-F5344CB8AC3E}">
        <p14:creationId xmlns:p14="http://schemas.microsoft.com/office/powerpoint/2010/main" val="1182616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1544E-B624-5B86-DC8E-0493F38F74EF}"/>
              </a:ext>
            </a:extLst>
          </p:cNvPr>
          <p:cNvSpPr>
            <a:spLocks noGrp="1"/>
          </p:cNvSpPr>
          <p:nvPr>
            <p:ph type="title"/>
          </p:nvPr>
        </p:nvSpPr>
        <p:spPr/>
        <p:txBody>
          <a:bodyPr/>
          <a:lstStyle/>
          <a:p>
            <a:r>
              <a:rPr lang="en-US"/>
              <a:t>Coolant Reservoir</a:t>
            </a:r>
          </a:p>
        </p:txBody>
      </p:sp>
      <p:sp>
        <p:nvSpPr>
          <p:cNvPr id="3" name="Content Placeholder 2">
            <a:extLst>
              <a:ext uri="{FF2B5EF4-FFF2-40B4-BE49-F238E27FC236}">
                <a16:creationId xmlns:a16="http://schemas.microsoft.com/office/drawing/2014/main" id="{BF228EC4-392A-4768-1E2B-40D611185FBB}"/>
              </a:ext>
            </a:extLst>
          </p:cNvPr>
          <p:cNvSpPr>
            <a:spLocks noGrp="1"/>
          </p:cNvSpPr>
          <p:nvPr>
            <p:ph sz="half" idx="1"/>
          </p:nvPr>
        </p:nvSpPr>
        <p:spPr/>
        <p:txBody>
          <a:bodyPr/>
          <a:lstStyle/>
          <a:p>
            <a:r>
              <a:rPr lang="en-US">
                <a:hlinkClick r:id="rId2"/>
              </a:rPr>
              <a:t>Dorman 603-001 Dorman Coolant Reservoirs | Summit Racing</a:t>
            </a:r>
            <a:endParaRPr lang="en-US"/>
          </a:p>
          <a:p>
            <a:r>
              <a:rPr lang="en-US"/>
              <a:t>$11.99</a:t>
            </a:r>
          </a:p>
        </p:txBody>
      </p:sp>
      <p:pic>
        <p:nvPicPr>
          <p:cNvPr id="1026" name="Picture 2" descr="Dorman 603-001 - Dorman Coolant Reservoirs">
            <a:extLst>
              <a:ext uri="{FF2B5EF4-FFF2-40B4-BE49-F238E27FC236}">
                <a16:creationId xmlns:a16="http://schemas.microsoft.com/office/drawing/2014/main" id="{13CF9C0E-F847-9966-EDE0-591D1462B8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5639" y="1215483"/>
            <a:ext cx="3248025"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19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80FF994-D909-894B-DA10-CC45A3581F86}"/>
              </a:ext>
            </a:extLst>
          </p:cNvPr>
          <p:cNvPicPr>
            <a:picLocks noChangeAspect="1"/>
          </p:cNvPicPr>
          <p:nvPr/>
        </p:nvPicPr>
        <p:blipFill>
          <a:blip r:embed="rId2"/>
          <a:stretch>
            <a:fillRect/>
          </a:stretch>
        </p:blipFill>
        <p:spPr>
          <a:xfrm>
            <a:off x="1350747" y="3206536"/>
            <a:ext cx="3939005" cy="3508694"/>
          </a:xfrm>
          <a:prstGeom prst="rect">
            <a:avLst/>
          </a:prstGeom>
        </p:spPr>
      </p:pic>
      <p:sp>
        <p:nvSpPr>
          <p:cNvPr id="2" name="Title 1">
            <a:extLst>
              <a:ext uri="{FF2B5EF4-FFF2-40B4-BE49-F238E27FC236}">
                <a16:creationId xmlns:a16="http://schemas.microsoft.com/office/drawing/2014/main" id="{35B1A2D6-DACD-FFF0-B9C4-CE30A66F2471}"/>
              </a:ext>
            </a:extLst>
          </p:cNvPr>
          <p:cNvSpPr>
            <a:spLocks noGrp="1"/>
          </p:cNvSpPr>
          <p:nvPr>
            <p:ph type="title"/>
          </p:nvPr>
        </p:nvSpPr>
        <p:spPr/>
        <p:txBody>
          <a:bodyPr/>
          <a:lstStyle/>
          <a:p>
            <a:r>
              <a:rPr lang="en-US"/>
              <a:t>Pump</a:t>
            </a:r>
          </a:p>
        </p:txBody>
      </p:sp>
      <p:sp>
        <p:nvSpPr>
          <p:cNvPr id="3" name="Content Placeholder 2">
            <a:extLst>
              <a:ext uri="{FF2B5EF4-FFF2-40B4-BE49-F238E27FC236}">
                <a16:creationId xmlns:a16="http://schemas.microsoft.com/office/drawing/2014/main" id="{4DC18ED1-0A29-37DC-DF49-0006C4AFF718}"/>
              </a:ext>
            </a:extLst>
          </p:cNvPr>
          <p:cNvSpPr>
            <a:spLocks noGrp="1"/>
          </p:cNvSpPr>
          <p:nvPr>
            <p:ph sz="half" idx="1"/>
          </p:nvPr>
        </p:nvSpPr>
        <p:spPr/>
        <p:txBody>
          <a:bodyPr/>
          <a:lstStyle/>
          <a:p>
            <a:r>
              <a:rPr lang="en-US"/>
              <a:t>Max Flow: 20 L/min</a:t>
            </a:r>
          </a:p>
          <a:p>
            <a:r>
              <a:rPr lang="en-US"/>
              <a:t>Max Pressure:</a:t>
            </a:r>
          </a:p>
          <a:p>
            <a:pPr lvl="1"/>
            <a:r>
              <a:rPr lang="en-US"/>
              <a:t>EDU/Flow meters –&gt; 31.395 kPa</a:t>
            </a:r>
          </a:p>
          <a:p>
            <a:pPr lvl="1"/>
            <a:r>
              <a:rPr lang="en-US"/>
              <a:t>Heat Exchanger -&gt; 7 kPa</a:t>
            </a:r>
          </a:p>
          <a:p>
            <a:pPr lvl="1"/>
            <a:r>
              <a:rPr lang="en-US"/>
              <a:t>Total -&gt; 38.395 kPa * 1.5 FOS = </a:t>
            </a:r>
            <a:r>
              <a:rPr lang="en-US" b="1"/>
              <a:t>58 kPa</a:t>
            </a:r>
          </a:p>
        </p:txBody>
      </p:sp>
      <p:sp>
        <p:nvSpPr>
          <p:cNvPr id="4" name="Content Placeholder 3">
            <a:extLst>
              <a:ext uri="{FF2B5EF4-FFF2-40B4-BE49-F238E27FC236}">
                <a16:creationId xmlns:a16="http://schemas.microsoft.com/office/drawing/2014/main" id="{0F7AD38B-48F7-E845-1820-FFBE2C0428D0}"/>
              </a:ext>
            </a:extLst>
          </p:cNvPr>
          <p:cNvSpPr>
            <a:spLocks noGrp="1"/>
          </p:cNvSpPr>
          <p:nvPr>
            <p:ph sz="half" idx="2"/>
          </p:nvPr>
        </p:nvSpPr>
        <p:spPr/>
        <p:txBody>
          <a:bodyPr/>
          <a:lstStyle/>
          <a:p>
            <a:r>
              <a:rPr lang="en-US" dirty="0">
                <a:hlinkClick r:id="rId3"/>
              </a:rPr>
              <a:t>Bosch 039202453G Water Cooling Pump, Compact Design | Order Online</a:t>
            </a:r>
            <a:endParaRPr lang="en-US" dirty="0"/>
          </a:p>
          <a:p>
            <a:r>
              <a:rPr lang="en-US" dirty="0"/>
              <a:t>20 L/min -&gt; </a:t>
            </a:r>
            <a:r>
              <a:rPr lang="en-US" b="1" dirty="0"/>
              <a:t>87 kPa</a:t>
            </a:r>
            <a:endParaRPr lang="en-US" dirty="0"/>
          </a:p>
        </p:txBody>
      </p:sp>
      <p:cxnSp>
        <p:nvCxnSpPr>
          <p:cNvPr id="6" name="Straight Connector 5">
            <a:extLst>
              <a:ext uri="{FF2B5EF4-FFF2-40B4-BE49-F238E27FC236}">
                <a16:creationId xmlns:a16="http://schemas.microsoft.com/office/drawing/2014/main" id="{8DD66752-801B-911A-DD10-A231A33B6E07}"/>
              </a:ext>
            </a:extLst>
          </p:cNvPr>
          <p:cNvCxnSpPr>
            <a:cxnSpLocks/>
          </p:cNvCxnSpPr>
          <p:nvPr/>
        </p:nvCxnSpPr>
        <p:spPr>
          <a:xfrm flipV="1">
            <a:off x="3402979" y="4051809"/>
            <a:ext cx="0" cy="20146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15CB22C-0ECD-3602-E713-8229D1224E03}"/>
              </a:ext>
            </a:extLst>
          </p:cNvPr>
          <p:cNvCxnSpPr>
            <a:cxnSpLocks/>
          </p:cNvCxnSpPr>
          <p:nvPr/>
        </p:nvCxnSpPr>
        <p:spPr>
          <a:xfrm flipH="1">
            <a:off x="2133600" y="4051809"/>
            <a:ext cx="126937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A13F74C4-BFF8-24AA-6987-8B009EB7CE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9512" b="15640"/>
          <a:stretch>
            <a:fillRect/>
          </a:stretch>
        </p:blipFill>
        <p:spPr bwMode="auto">
          <a:xfrm>
            <a:off x="6551398" y="2423741"/>
            <a:ext cx="5021169" cy="3256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5772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50303-9FFF-492C-BD38-8DDEEB49E008}"/>
              </a:ext>
            </a:extLst>
          </p:cNvPr>
          <p:cNvSpPr>
            <a:spLocks noGrp="1"/>
          </p:cNvSpPr>
          <p:nvPr>
            <p:ph type="title"/>
          </p:nvPr>
        </p:nvSpPr>
        <p:spPr/>
        <p:txBody>
          <a:bodyPr/>
          <a:lstStyle/>
          <a:p>
            <a:r>
              <a:rPr lang="en-US"/>
              <a:t>Flow Restrictors</a:t>
            </a:r>
          </a:p>
        </p:txBody>
      </p:sp>
      <p:sp>
        <p:nvSpPr>
          <p:cNvPr id="3" name="Content Placeholder 2">
            <a:extLst>
              <a:ext uri="{FF2B5EF4-FFF2-40B4-BE49-F238E27FC236}">
                <a16:creationId xmlns:a16="http://schemas.microsoft.com/office/drawing/2014/main" id="{839BE870-25E4-85FE-847B-FEFF35565F53}"/>
              </a:ext>
            </a:extLst>
          </p:cNvPr>
          <p:cNvSpPr>
            <a:spLocks noGrp="1"/>
          </p:cNvSpPr>
          <p:nvPr>
            <p:ph sz="half" idx="1"/>
          </p:nvPr>
        </p:nvSpPr>
        <p:spPr/>
        <p:txBody>
          <a:bodyPr/>
          <a:lstStyle/>
          <a:p>
            <a:r>
              <a:rPr lang="en-US"/>
              <a:t>¾” -</a:t>
            </a:r>
            <a:r>
              <a:rPr lang="en-US">
                <a:hlinkClick r:id="rId2"/>
              </a:rPr>
              <a:t> Four Seasons 84707 Four Seasons Heater Valves | Summit Racing</a:t>
            </a:r>
            <a:endParaRPr lang="en-US"/>
          </a:p>
          <a:p>
            <a:r>
              <a:rPr lang="en-US"/>
              <a:t>Assumptions:</a:t>
            </a:r>
          </a:p>
          <a:p>
            <a:pPr lvl="1"/>
            <a:r>
              <a:rPr lang="en-US"/>
              <a:t>Minimum pressure drop: 2-3 kPa</a:t>
            </a:r>
          </a:p>
          <a:p>
            <a:pPr lvl="1"/>
            <a:r>
              <a:rPr lang="en-US"/>
              <a:t>Maximum pressure drop: ∞ kPa</a:t>
            </a:r>
          </a:p>
        </p:txBody>
      </p:sp>
      <p:sp>
        <p:nvSpPr>
          <p:cNvPr id="4" name="Content Placeholder 3">
            <a:extLst>
              <a:ext uri="{FF2B5EF4-FFF2-40B4-BE49-F238E27FC236}">
                <a16:creationId xmlns:a16="http://schemas.microsoft.com/office/drawing/2014/main" id="{41E39F13-B289-1FAE-E946-FC4C1E4F9659}"/>
              </a:ext>
            </a:extLst>
          </p:cNvPr>
          <p:cNvSpPr>
            <a:spLocks noGrp="1"/>
          </p:cNvSpPr>
          <p:nvPr>
            <p:ph sz="half" idx="2"/>
          </p:nvPr>
        </p:nvSpPr>
        <p:spPr/>
        <p:txBody>
          <a:bodyPr/>
          <a:lstStyle/>
          <a:p>
            <a:r>
              <a:rPr lang="en-US"/>
              <a:t>5/8” - </a:t>
            </a:r>
            <a:r>
              <a:rPr lang="en-US">
                <a:hlinkClick r:id="rId3"/>
              </a:rPr>
              <a:t>Four Seasons 84706 Four Seasons Manual Shut-Off Valves | Summit Racing</a:t>
            </a:r>
            <a:endParaRPr lang="en-US"/>
          </a:p>
        </p:txBody>
      </p:sp>
      <p:pic>
        <p:nvPicPr>
          <p:cNvPr id="4098" name="Picture 2" descr="Four Seasons 84706 - Four Seasons Manual Shut-Off Valves">
            <a:extLst>
              <a:ext uri="{FF2B5EF4-FFF2-40B4-BE49-F238E27FC236}">
                <a16:creationId xmlns:a16="http://schemas.microsoft.com/office/drawing/2014/main" id="{22AF473B-A782-489F-AA69-E91F1A0B66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9213" y="2645896"/>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785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18F45-00EC-B8CC-E6E5-8D301CD39BC6}"/>
              </a:ext>
            </a:extLst>
          </p:cNvPr>
          <p:cNvSpPr>
            <a:spLocks noGrp="1"/>
          </p:cNvSpPr>
          <p:nvPr>
            <p:ph type="title"/>
          </p:nvPr>
        </p:nvSpPr>
        <p:spPr>
          <a:xfrm>
            <a:off x="381000" y="200722"/>
            <a:ext cx="11430000" cy="1637910"/>
          </a:xfrm>
        </p:spPr>
        <p:txBody>
          <a:bodyPr>
            <a:normAutofit/>
          </a:bodyPr>
          <a:lstStyle/>
          <a:p>
            <a:r>
              <a:rPr lang="en-US" dirty="0"/>
              <a:t>Slides on finding location for the HX in the vehicle were deleted since they show confidential CAD</a:t>
            </a:r>
          </a:p>
        </p:txBody>
      </p:sp>
    </p:spTree>
    <p:extLst>
      <p:ext uri="{BB962C8B-B14F-4D97-AF65-F5344CB8AC3E}">
        <p14:creationId xmlns:p14="http://schemas.microsoft.com/office/powerpoint/2010/main" val="1824171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3AD56-AA25-1DEC-DC77-22FC46A608BF}"/>
              </a:ext>
            </a:extLst>
          </p:cNvPr>
          <p:cNvSpPr>
            <a:spLocks noGrp="1"/>
          </p:cNvSpPr>
          <p:nvPr>
            <p:ph type="title"/>
          </p:nvPr>
        </p:nvSpPr>
        <p:spPr/>
        <p:txBody>
          <a:bodyPr/>
          <a:lstStyle/>
          <a:p>
            <a:r>
              <a:rPr lang="en-US">
                <a:latin typeface="Roboto"/>
                <a:ea typeface="Roboto"/>
                <a:cs typeface="Roboto"/>
              </a:rPr>
              <a:t>HX Location 1 and Mount</a:t>
            </a:r>
          </a:p>
        </p:txBody>
      </p:sp>
      <p:sp>
        <p:nvSpPr>
          <p:cNvPr id="3" name="Content Placeholder 2">
            <a:extLst>
              <a:ext uri="{FF2B5EF4-FFF2-40B4-BE49-F238E27FC236}">
                <a16:creationId xmlns:a16="http://schemas.microsoft.com/office/drawing/2014/main" id="{AB7A45C5-D3F8-EF33-F1BC-2AC0D3694660}"/>
              </a:ext>
            </a:extLst>
          </p:cNvPr>
          <p:cNvSpPr>
            <a:spLocks noGrp="1"/>
          </p:cNvSpPr>
          <p:nvPr>
            <p:ph sz="half" idx="1"/>
          </p:nvPr>
        </p:nvSpPr>
        <p:spPr/>
        <p:txBody>
          <a:bodyPr>
            <a:normAutofit/>
          </a:bodyPr>
          <a:lstStyle/>
          <a:p>
            <a:r>
              <a:rPr lang="en-US"/>
              <a:t>Material: 4130 Steel</a:t>
            </a:r>
          </a:p>
          <a:p>
            <a:r>
              <a:rPr lang="en-US"/>
              <a:t>Thickness: 1/8”</a:t>
            </a:r>
          </a:p>
          <a:p>
            <a:r>
              <a:rPr lang="en-US"/>
              <a:t>Loads:</a:t>
            </a:r>
          </a:p>
          <a:p>
            <a:pPr lvl="1"/>
            <a:r>
              <a:rPr lang="en-US"/>
              <a:t>2g vertical</a:t>
            </a:r>
          </a:p>
          <a:p>
            <a:pPr lvl="1"/>
            <a:r>
              <a:rPr lang="en-US"/>
              <a:t>5g longitudinal/lateral</a:t>
            </a:r>
          </a:p>
          <a:p>
            <a:r>
              <a:rPr lang="en-US"/>
              <a:t>Mass:</a:t>
            </a:r>
          </a:p>
          <a:p>
            <a:pPr lvl="1"/>
            <a:r>
              <a:rPr lang="en-US"/>
              <a:t>1.2+0.11x(18 plates) = 3.18 kg</a:t>
            </a:r>
          </a:p>
          <a:p>
            <a:pPr lvl="1"/>
            <a:r>
              <a:rPr lang="en-US"/>
              <a:t>0.054 liters x 18 channels = 0.972 liters = 0.97 kg</a:t>
            </a:r>
          </a:p>
          <a:p>
            <a:pPr lvl="1"/>
            <a:r>
              <a:rPr lang="en-US"/>
              <a:t>Total = 4.152 kg</a:t>
            </a:r>
          </a:p>
          <a:p>
            <a:endParaRPr lang="en-US"/>
          </a:p>
          <a:p>
            <a:pPr lvl="1"/>
            <a:endParaRPr lang="en-US"/>
          </a:p>
        </p:txBody>
      </p:sp>
      <p:pic>
        <p:nvPicPr>
          <p:cNvPr id="6" name="Picture 5">
            <a:extLst>
              <a:ext uri="{FF2B5EF4-FFF2-40B4-BE49-F238E27FC236}">
                <a16:creationId xmlns:a16="http://schemas.microsoft.com/office/drawing/2014/main" id="{BDE386A2-3E48-FFFB-A7DB-37F6B0F310A0}"/>
              </a:ext>
            </a:extLst>
          </p:cNvPr>
          <p:cNvPicPr>
            <a:picLocks noChangeAspect="1"/>
          </p:cNvPicPr>
          <p:nvPr/>
        </p:nvPicPr>
        <p:blipFill>
          <a:blip r:embed="rId2"/>
          <a:srcRect t="12026"/>
          <a:stretch>
            <a:fillRect/>
          </a:stretch>
        </p:blipFill>
        <p:spPr>
          <a:xfrm>
            <a:off x="5994400" y="59535"/>
            <a:ext cx="6098389" cy="3032370"/>
          </a:xfrm>
          <a:prstGeom prst="rect">
            <a:avLst/>
          </a:prstGeom>
        </p:spPr>
      </p:pic>
      <p:pic>
        <p:nvPicPr>
          <p:cNvPr id="8" name="Picture 7">
            <a:extLst>
              <a:ext uri="{FF2B5EF4-FFF2-40B4-BE49-F238E27FC236}">
                <a16:creationId xmlns:a16="http://schemas.microsoft.com/office/drawing/2014/main" id="{B78A2850-0CBB-1DD2-307C-FBF01845609D}"/>
              </a:ext>
            </a:extLst>
          </p:cNvPr>
          <p:cNvPicPr>
            <a:picLocks noChangeAspect="1"/>
          </p:cNvPicPr>
          <p:nvPr/>
        </p:nvPicPr>
        <p:blipFill>
          <a:blip r:embed="rId3"/>
          <a:stretch>
            <a:fillRect/>
          </a:stretch>
        </p:blipFill>
        <p:spPr>
          <a:xfrm>
            <a:off x="5994399" y="2503795"/>
            <a:ext cx="6098389" cy="3317584"/>
          </a:xfrm>
          <a:prstGeom prst="rect">
            <a:avLst/>
          </a:prstGeom>
        </p:spPr>
      </p:pic>
    </p:spTree>
    <p:extLst>
      <p:ext uri="{BB962C8B-B14F-4D97-AF65-F5344CB8AC3E}">
        <p14:creationId xmlns:p14="http://schemas.microsoft.com/office/powerpoint/2010/main" val="1482079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1D14A-2647-9105-59E0-A70B7C8317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1FDA4-5159-EBA1-9AF1-9762EF5AAFA3}"/>
              </a:ext>
            </a:extLst>
          </p:cNvPr>
          <p:cNvSpPr>
            <a:spLocks noGrp="1"/>
          </p:cNvSpPr>
          <p:nvPr>
            <p:ph type="title"/>
          </p:nvPr>
        </p:nvSpPr>
        <p:spPr/>
        <p:txBody>
          <a:bodyPr/>
          <a:lstStyle/>
          <a:p>
            <a:r>
              <a:rPr lang="en-US"/>
              <a:t>Coolant Reservoir Mount FEA</a:t>
            </a:r>
          </a:p>
        </p:txBody>
      </p:sp>
      <p:sp>
        <p:nvSpPr>
          <p:cNvPr id="3" name="Content Placeholder 2">
            <a:extLst>
              <a:ext uri="{FF2B5EF4-FFF2-40B4-BE49-F238E27FC236}">
                <a16:creationId xmlns:a16="http://schemas.microsoft.com/office/drawing/2014/main" id="{49CCFCC0-A287-3D1E-88B0-7C36E1D43AEA}"/>
              </a:ext>
            </a:extLst>
          </p:cNvPr>
          <p:cNvSpPr>
            <a:spLocks noGrp="1"/>
          </p:cNvSpPr>
          <p:nvPr>
            <p:ph sz="half" idx="1"/>
          </p:nvPr>
        </p:nvSpPr>
        <p:spPr/>
        <p:txBody>
          <a:bodyPr/>
          <a:lstStyle/>
          <a:p>
            <a:r>
              <a:rPr lang="en-US"/>
              <a:t>Material: 4130 Steel</a:t>
            </a:r>
          </a:p>
          <a:p>
            <a:r>
              <a:rPr lang="en-US"/>
              <a:t>Thickness: 1/8”</a:t>
            </a:r>
          </a:p>
          <a:p>
            <a:r>
              <a:rPr lang="en-US"/>
              <a:t>Loads:</a:t>
            </a:r>
          </a:p>
          <a:p>
            <a:pPr lvl="1"/>
            <a:r>
              <a:rPr lang="en-US"/>
              <a:t>2g vertical</a:t>
            </a:r>
          </a:p>
          <a:p>
            <a:pPr lvl="1"/>
            <a:r>
              <a:rPr lang="en-US"/>
              <a:t>5g longitudinal/lateral</a:t>
            </a:r>
          </a:p>
          <a:p>
            <a:r>
              <a:rPr lang="en-US"/>
              <a:t>Mass of coolant reservoir:</a:t>
            </a:r>
          </a:p>
          <a:p>
            <a:pPr lvl="1"/>
            <a:r>
              <a:rPr lang="en-US"/>
              <a:t>72oz water = 2.125kg</a:t>
            </a:r>
          </a:p>
        </p:txBody>
      </p:sp>
      <p:pic>
        <p:nvPicPr>
          <p:cNvPr id="11" name="Picture 10" descr="A blue and grey metal object&#10;&#10;AI-generated content may be incorrect.">
            <a:extLst>
              <a:ext uri="{FF2B5EF4-FFF2-40B4-BE49-F238E27FC236}">
                <a16:creationId xmlns:a16="http://schemas.microsoft.com/office/drawing/2014/main" id="{CEB871CD-CF1E-BE2E-EF99-98EB1CCF36C6}"/>
              </a:ext>
            </a:extLst>
          </p:cNvPr>
          <p:cNvPicPr>
            <a:picLocks noChangeAspect="1"/>
          </p:cNvPicPr>
          <p:nvPr/>
        </p:nvPicPr>
        <p:blipFill>
          <a:blip r:embed="rId2"/>
          <a:stretch>
            <a:fillRect/>
          </a:stretch>
        </p:blipFill>
        <p:spPr>
          <a:xfrm>
            <a:off x="7114031" y="113837"/>
            <a:ext cx="4785621" cy="4905437"/>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4C7D5680-1E90-D877-B0BE-B35C94B61D18}"/>
              </a:ext>
            </a:extLst>
          </p:cNvPr>
          <p:cNvPicPr>
            <a:picLocks noChangeAspect="1"/>
          </p:cNvPicPr>
          <p:nvPr/>
        </p:nvPicPr>
        <p:blipFill>
          <a:blip r:embed="rId3"/>
          <a:stretch>
            <a:fillRect/>
          </a:stretch>
        </p:blipFill>
        <p:spPr>
          <a:xfrm>
            <a:off x="4346934" y="2385849"/>
            <a:ext cx="3928386" cy="4070047"/>
          </a:xfrm>
          <a:prstGeom prst="rect">
            <a:avLst/>
          </a:prstGeom>
        </p:spPr>
      </p:pic>
    </p:spTree>
    <p:extLst>
      <p:ext uri="{BB962C8B-B14F-4D97-AF65-F5344CB8AC3E}">
        <p14:creationId xmlns:p14="http://schemas.microsoft.com/office/powerpoint/2010/main" val="3998703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3AEEB-AC44-329C-5510-AD0ECC75A3EC}"/>
              </a:ext>
            </a:extLst>
          </p:cNvPr>
          <p:cNvSpPr>
            <a:spLocks noGrp="1"/>
          </p:cNvSpPr>
          <p:nvPr>
            <p:ph type="title"/>
          </p:nvPr>
        </p:nvSpPr>
        <p:spPr/>
        <p:txBody>
          <a:bodyPr/>
          <a:lstStyle/>
          <a:p>
            <a:r>
              <a:rPr lang="en-US"/>
              <a:t>Information Requests</a:t>
            </a:r>
          </a:p>
        </p:txBody>
      </p:sp>
      <p:sp>
        <p:nvSpPr>
          <p:cNvPr id="3" name="Content Placeholder 2">
            <a:extLst>
              <a:ext uri="{FF2B5EF4-FFF2-40B4-BE49-F238E27FC236}">
                <a16:creationId xmlns:a16="http://schemas.microsoft.com/office/drawing/2014/main" id="{FADFA21E-DEC8-952A-9F2B-81B94D812740}"/>
              </a:ext>
            </a:extLst>
          </p:cNvPr>
          <p:cNvSpPr>
            <a:spLocks noGrp="1"/>
          </p:cNvSpPr>
          <p:nvPr>
            <p:ph sz="half" idx="1"/>
          </p:nvPr>
        </p:nvSpPr>
        <p:spPr/>
        <p:txBody>
          <a:bodyPr/>
          <a:lstStyle/>
          <a:p>
            <a:r>
              <a:rPr lang="en-US">
                <a:hlinkClick r:id="rId2"/>
              </a:rPr>
              <a:t>General Inquiries | Alfa Laval</a:t>
            </a:r>
            <a:endParaRPr lang="en-US"/>
          </a:p>
          <a:p>
            <a:r>
              <a:rPr lang="en-US"/>
              <a:t>Call </a:t>
            </a:r>
            <a:r>
              <a:rPr lang="en-US">
                <a:hlinkClick r:id="rId3"/>
              </a:rPr>
              <a:t>Contact </a:t>
            </a:r>
            <a:r>
              <a:rPr lang="en-US" err="1">
                <a:hlinkClick r:id="rId3"/>
              </a:rPr>
              <a:t>Emmegi</a:t>
            </a:r>
            <a:r>
              <a:rPr lang="en-US">
                <a:hlinkClick r:id="rId3"/>
              </a:rPr>
              <a:t> Heat Exchangers Inc. | USA</a:t>
            </a:r>
            <a:endParaRPr lang="en-US"/>
          </a:p>
          <a:p>
            <a:r>
              <a:rPr lang="en-US">
                <a:hlinkClick r:id="rId4"/>
              </a:rPr>
              <a:t>About Bell &amp; Gossett Pumps | Contact &amp; Support for Xylem Bell and Gossett Pump Products | Xylem US</a:t>
            </a:r>
            <a:endParaRPr lang="en-US"/>
          </a:p>
        </p:txBody>
      </p:sp>
      <p:sp>
        <p:nvSpPr>
          <p:cNvPr id="4" name="Content Placeholder 3">
            <a:extLst>
              <a:ext uri="{FF2B5EF4-FFF2-40B4-BE49-F238E27FC236}">
                <a16:creationId xmlns:a16="http://schemas.microsoft.com/office/drawing/2014/main" id="{46E69774-D07F-63CB-5FFF-4ECD3DD3360C}"/>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3585422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FB268-E185-F828-FB9B-BBFF9C04F3BD}"/>
              </a:ext>
            </a:extLst>
          </p:cNvPr>
          <p:cNvSpPr>
            <a:spLocks noGrp="1"/>
          </p:cNvSpPr>
          <p:nvPr>
            <p:ph type="title"/>
          </p:nvPr>
        </p:nvSpPr>
        <p:spPr/>
        <p:txBody>
          <a:bodyPr/>
          <a:lstStyle/>
          <a:p>
            <a:r>
              <a:rPr lang="en-US"/>
              <a:t>Additional Resources</a:t>
            </a:r>
          </a:p>
        </p:txBody>
      </p:sp>
      <p:sp>
        <p:nvSpPr>
          <p:cNvPr id="3" name="Content Placeholder 2">
            <a:extLst>
              <a:ext uri="{FF2B5EF4-FFF2-40B4-BE49-F238E27FC236}">
                <a16:creationId xmlns:a16="http://schemas.microsoft.com/office/drawing/2014/main" id="{DCE99441-0909-249E-BC22-55916951CC9D}"/>
              </a:ext>
            </a:extLst>
          </p:cNvPr>
          <p:cNvSpPr>
            <a:spLocks noGrp="1"/>
          </p:cNvSpPr>
          <p:nvPr>
            <p:ph sz="half" idx="1"/>
          </p:nvPr>
        </p:nvSpPr>
        <p:spPr/>
        <p:txBody>
          <a:bodyPr>
            <a:normAutofit fontScale="92500"/>
          </a:bodyPr>
          <a:lstStyle/>
          <a:p>
            <a:r>
              <a:rPr lang="en-US"/>
              <a:t>OG HX dimensions </a:t>
            </a:r>
            <a:r>
              <a:rPr lang="en-US">
                <a:hlinkClick r:id="rId2"/>
              </a:rPr>
              <a:t>bell-gossett-brazed-plate-heat-exchanger-brochure.pdf</a:t>
            </a:r>
            <a:endParaRPr lang="en-US"/>
          </a:p>
          <a:p>
            <a:r>
              <a:rPr lang="en-US"/>
              <a:t>OG HX flow and heat rejection </a:t>
            </a:r>
            <a:r>
              <a:rPr lang="en-US">
                <a:hlinkClick r:id="rId3"/>
              </a:rPr>
              <a:t>bell-&amp;-gossett-brazed-plate-heat-exchanger-selection-tables.pdf</a:t>
            </a:r>
            <a:endParaRPr lang="en-US"/>
          </a:p>
          <a:p>
            <a:r>
              <a:rPr lang="en-US"/>
              <a:t>HX dimensions </a:t>
            </a:r>
            <a:r>
              <a:rPr lang="en-US">
                <a:hlinkClick r:id="rId4"/>
              </a:rPr>
              <a:t>Alfa Laval</a:t>
            </a:r>
            <a:endParaRPr lang="en-US"/>
          </a:p>
          <a:p>
            <a:r>
              <a:rPr lang="en-US"/>
              <a:t>HX Flow and heat rejection table </a:t>
            </a:r>
            <a:r>
              <a:rPr lang="en-US">
                <a:hlinkClick r:id="rId5"/>
              </a:rPr>
              <a:t>1 new message</a:t>
            </a:r>
            <a:endParaRPr lang="en-US"/>
          </a:p>
          <a:p>
            <a:r>
              <a:rPr lang="en-US"/>
              <a:t>HX flow and heat rejection graph </a:t>
            </a:r>
            <a:r>
              <a:rPr lang="en-US">
                <a:hlinkClick r:id="rId6"/>
              </a:rPr>
              <a:t>WB-Series-Brazed-Plate-Oil-Coolers.pdf</a:t>
            </a:r>
            <a:endParaRPr lang="en-US"/>
          </a:p>
          <a:p>
            <a:pPr lvl="1"/>
            <a:r>
              <a:rPr lang="en-US"/>
              <a:t>Parent: </a:t>
            </a:r>
            <a:r>
              <a:rPr lang="en-US">
                <a:hlinkClick r:id="rId7"/>
              </a:rPr>
              <a:t>WB Series Brazed Plate Oil Coolers | </a:t>
            </a:r>
            <a:r>
              <a:rPr lang="en-US" err="1">
                <a:hlinkClick r:id="rId7"/>
              </a:rPr>
              <a:t>Emmegi</a:t>
            </a:r>
            <a:r>
              <a:rPr lang="en-US">
                <a:hlinkClick r:id="rId7"/>
              </a:rPr>
              <a:t> Inc.</a:t>
            </a:r>
            <a:endParaRPr lang="en-US"/>
          </a:p>
        </p:txBody>
      </p:sp>
      <p:sp>
        <p:nvSpPr>
          <p:cNvPr id="4" name="Content Placeholder 3">
            <a:extLst>
              <a:ext uri="{FF2B5EF4-FFF2-40B4-BE49-F238E27FC236}">
                <a16:creationId xmlns:a16="http://schemas.microsoft.com/office/drawing/2014/main" id="{86B6AC3B-ABB9-E92B-B820-F07D8832424A}"/>
              </a:ext>
            </a:extLst>
          </p:cNvPr>
          <p:cNvSpPr>
            <a:spLocks noGrp="1"/>
          </p:cNvSpPr>
          <p:nvPr>
            <p:ph sz="half" idx="2"/>
          </p:nvPr>
        </p:nvSpPr>
        <p:spPr/>
        <p:txBody>
          <a:bodyPr>
            <a:normAutofit fontScale="92500"/>
          </a:bodyPr>
          <a:lstStyle/>
          <a:p>
            <a:r>
              <a:rPr lang="en-US"/>
              <a:t>Heat exchanger selection tool </a:t>
            </a:r>
            <a:r>
              <a:rPr lang="en-US">
                <a:hlinkClick r:id="rId8"/>
              </a:rPr>
              <a:t>PHE Select tool | Alfa Laval</a:t>
            </a:r>
            <a:endParaRPr lang="en-US"/>
          </a:p>
        </p:txBody>
      </p:sp>
    </p:spTree>
    <p:extLst>
      <p:ext uri="{BB962C8B-B14F-4D97-AF65-F5344CB8AC3E}">
        <p14:creationId xmlns:p14="http://schemas.microsoft.com/office/powerpoint/2010/main" val="684683498"/>
      </p:ext>
    </p:extLst>
  </p:cSld>
  <p:clrMapOvr>
    <a:masterClrMapping/>
  </p:clrMapOvr>
</p:sld>
</file>

<file path=ppt/theme/theme1.xml><?xml version="1.0" encoding="utf-8"?>
<a:theme xmlns:a="http://schemas.openxmlformats.org/drawingml/2006/main" name="Content Page">
  <a:themeElements>
    <a:clrScheme name="GT Theme">
      <a:dk1>
        <a:srgbClr val="003057"/>
      </a:dk1>
      <a:lt1>
        <a:srgbClr val="FFFFFF"/>
      </a:lt1>
      <a:dk2>
        <a:srgbClr val="545859"/>
      </a:dk2>
      <a:lt2>
        <a:srgbClr val="D6DBD3"/>
      </a:lt2>
      <a:accent1>
        <a:srgbClr val="B3A369"/>
      </a:accent1>
      <a:accent2>
        <a:srgbClr val="003057"/>
      </a:accent2>
      <a:accent3>
        <a:srgbClr val="54585A"/>
      </a:accent3>
      <a:accent4>
        <a:srgbClr val="D6DBD4"/>
      </a:accent4>
      <a:accent5>
        <a:srgbClr val="F9F6E5"/>
      </a:accent5>
      <a:accent6>
        <a:srgbClr val="EAAA0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ech_PPTtemplate_2021_wide" id="{E85096BA-033B-D848-B268-A76C8AE5D2A4}" vid="{C86BDF43-62E5-5C4C-BBB8-C9F5484307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1F20D76BF9E9544BC05DB4094C7B332" ma:contentTypeVersion="23" ma:contentTypeDescription="Create a new document." ma:contentTypeScope="" ma:versionID="21c12dcc55a5558be24396119628d04a">
  <xsd:schema xmlns:xsd="http://www.w3.org/2001/XMLSchema" xmlns:xs="http://www.w3.org/2001/XMLSchema" xmlns:p="http://schemas.microsoft.com/office/2006/metadata/properties" xmlns:ns2="03a7f798-36bd-48ce-b5ea-765e56e1c5d6" xmlns:ns3="dea2732e-0059-4872-a2bb-ce14bca0337f" xmlns:ns4="70e4abaa-75c5-4a9a-ac82-32c66d3a7fb9" xmlns:ns5="5958638d-575a-44a0-a07b-8ab4a3e5ff73" targetNamespace="http://schemas.microsoft.com/office/2006/metadata/properties" ma:root="true" ma:fieldsID="24389a74ae7d513fd616ead0b0905ca3" ns2:_="" ns3:_="" ns4:_="" ns5:_="">
    <xsd:import namespace="03a7f798-36bd-48ce-b5ea-765e56e1c5d6"/>
    <xsd:import namespace="dea2732e-0059-4872-a2bb-ce14bca0337f"/>
    <xsd:import namespace="70e4abaa-75c5-4a9a-ac82-32c66d3a7fb9"/>
    <xsd:import namespace="5958638d-575a-44a0-a07b-8ab4a3e5ff7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AutoKeyPoints" minOccurs="0"/>
                <xsd:element ref="ns2:MediaServiceKeyPoints" minOccurs="0"/>
                <xsd:element ref="ns2:MediaServiceGenerationTime" minOccurs="0"/>
                <xsd:element ref="ns2:MediaServiceEventHashCode" minOccurs="0"/>
                <xsd:element ref="ns2:MediaServiceOCR" minOccurs="0"/>
                <xsd:element ref="ns3:SharedWithUsers" minOccurs="0"/>
                <xsd:element ref="ns4:SharedWithDetails" minOccurs="0"/>
                <xsd:element ref="ns2:MediaServiceLocation" minOccurs="0"/>
                <xsd:element ref="ns2:lcf76f155ced4ddcb4097134ff3c332f" minOccurs="0"/>
                <xsd:element ref="ns5:TaxCatchAll" minOccurs="0"/>
                <xsd:element ref="ns2:Read_x003f_" minOccurs="0"/>
                <xsd:element ref="ns2:MediaServiceObjectDetectorVersions" minOccurs="0"/>
                <xsd:element ref="ns2:MediaServiceSearchProperties" minOccurs="0"/>
                <xsd:element ref="ns2:_Flow_SignoffStatus" minOccurs="0"/>
                <xsd:element ref="ns2:Deliverable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a7f798-36bd-48ce-b5ea-765e56e1c5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c2506c3-735d-4e70-aa79-204d06275b9f" ma:termSetId="09814cd3-568e-fe90-9814-8d621ff8fb84" ma:anchorId="fba54fb3-c3e1-fe81-a776-ca4b69148c4d" ma:open="true" ma:isKeyword="false">
      <xsd:complexType>
        <xsd:sequence>
          <xsd:element ref="pc:Terms" minOccurs="0" maxOccurs="1"/>
        </xsd:sequence>
      </xsd:complexType>
    </xsd:element>
    <xsd:element name="Read_x003f_" ma:index="24" nillable="true" ma:displayName="Read?" ma:default="0" ma:format="Dropdown" ma:internalName="Read_x003f_">
      <xsd:simpleType>
        <xsd:restriction base="dms:Boolean"/>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_Flow_SignoffStatus" ma:index="27" nillable="true" ma:displayName="Sign-off status" ma:internalName="Sign_x002d_off_x0020_status">
      <xsd:simpleType>
        <xsd:restriction base="dms:Text"/>
      </xsd:simpleType>
    </xsd:element>
    <xsd:element name="DeliverableStatus" ma:index="28" nillable="true" ma:displayName="Deliverable Status" ma:format="Dropdown" ma:internalName="DeliverableStatus">
      <xsd:simpleType>
        <xsd:restriction base="dms:Choice">
          <xsd:enumeration value="DONE"/>
        </xsd:restriction>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ea2732e-0059-4872-a2bb-ce14bca0337f"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0e4abaa-75c5-4a9a-ac82-32c66d3a7fb9" elementFormDefault="qualified">
    <xsd:import namespace="http://schemas.microsoft.com/office/2006/documentManagement/types"/>
    <xsd:import namespace="http://schemas.microsoft.com/office/infopath/2007/PartnerControls"/>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958638d-575a-44a0-a07b-8ab4a3e5ff73"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d6aa0e62-e35a-437d-8e41-62f6aed579c4}" ma:internalName="TaxCatchAll" ma:showField="CatchAllData" ma:web="5958638d-575a-44a0-a07b-8ab4a3e5ff7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Read_x003f_ xmlns="03a7f798-36bd-48ce-b5ea-765e56e1c5d6">false</Read_x003f_>
    <lcf76f155ced4ddcb4097134ff3c332f xmlns="03a7f798-36bd-48ce-b5ea-765e56e1c5d6">
      <Terms xmlns="http://schemas.microsoft.com/office/infopath/2007/PartnerControls"/>
    </lcf76f155ced4ddcb4097134ff3c332f>
    <_Flow_SignoffStatus xmlns="03a7f798-36bd-48ce-b5ea-765e56e1c5d6" xsi:nil="true"/>
    <TaxCatchAll xmlns="5958638d-575a-44a0-a07b-8ab4a3e5ff73" xsi:nil="true"/>
    <DeliverableStatus xmlns="03a7f798-36bd-48ce-b5ea-765e56e1c5d6" xsi:nil="true"/>
  </documentManagement>
</p:properties>
</file>

<file path=customXml/itemProps1.xml><?xml version="1.0" encoding="utf-8"?>
<ds:datastoreItem xmlns:ds="http://schemas.openxmlformats.org/officeDocument/2006/customXml" ds:itemID="{65662F49-4146-421B-8051-A67F02AD63CA}">
  <ds:schemaRefs>
    <ds:schemaRef ds:uri="http://schemas.microsoft.com/sharepoint/v3/contenttype/forms"/>
  </ds:schemaRefs>
</ds:datastoreItem>
</file>

<file path=customXml/itemProps2.xml><?xml version="1.0" encoding="utf-8"?>
<ds:datastoreItem xmlns:ds="http://schemas.openxmlformats.org/officeDocument/2006/customXml" ds:itemID="{2F154B7C-46BB-4FCB-8E51-A853B447DD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a7f798-36bd-48ce-b5ea-765e56e1c5d6"/>
    <ds:schemaRef ds:uri="dea2732e-0059-4872-a2bb-ce14bca0337f"/>
    <ds:schemaRef ds:uri="70e4abaa-75c5-4a9a-ac82-32c66d3a7fb9"/>
    <ds:schemaRef ds:uri="5958638d-575a-44a0-a07b-8ab4a3e5ff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4473E0-6C5A-45C1-BB1F-70ADE218A015}">
  <ds:schemaRefs>
    <ds:schemaRef ds:uri="http://purl.org/dc/terms/"/>
    <ds:schemaRef ds:uri="http://schemas.openxmlformats.org/package/2006/metadata/core-properties"/>
    <ds:schemaRef ds:uri="5958638d-575a-44a0-a07b-8ab4a3e5ff73"/>
    <ds:schemaRef ds:uri="03a7f798-36bd-48ce-b5ea-765e56e1c5d6"/>
    <ds:schemaRef ds:uri="http://purl.org/dc/elements/1.1/"/>
    <ds:schemaRef ds:uri="http://schemas.microsoft.com/office/2006/documentManagement/types"/>
    <ds:schemaRef ds:uri="http://www.w3.org/XML/1998/namespace"/>
    <ds:schemaRef ds:uri="http://schemas.microsoft.com/office/infopath/2007/PartnerControls"/>
    <ds:schemaRef ds:uri="dea2732e-0059-4872-a2bb-ce14bca0337f"/>
    <ds:schemaRef ds:uri="70e4abaa-75c5-4a9a-ac82-32c66d3a7fb9"/>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2463</TotalTime>
  <Words>1969</Words>
  <Application>Microsoft Office PowerPoint</Application>
  <PresentationFormat>Widescreen</PresentationFormat>
  <Paragraphs>393</Paragraphs>
  <Slides>34</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1" baseType="lpstr">
      <vt:lpstr>Aptos</vt:lpstr>
      <vt:lpstr>Arial</vt:lpstr>
      <vt:lpstr>Calibri</vt:lpstr>
      <vt:lpstr>Cambria Math</vt:lpstr>
      <vt:lpstr>Roboto</vt:lpstr>
      <vt:lpstr>Content Page</vt:lpstr>
      <vt:lpstr>Worksheet</vt:lpstr>
      <vt:lpstr>Heat Exchanger Selection &amp; Mounting</vt:lpstr>
      <vt:lpstr>Table of Contents</vt:lpstr>
      <vt:lpstr>Problem - Overheating</vt:lpstr>
      <vt:lpstr>Problem - Overheating</vt:lpstr>
      <vt:lpstr>Problem – Boost Mode Inoperable</vt:lpstr>
      <vt:lpstr>Costs/Advantages</vt:lpstr>
      <vt:lpstr>Coolant Temp</vt:lpstr>
      <vt:lpstr>Flowrate</vt:lpstr>
      <vt:lpstr>Heat Rejection</vt:lpstr>
      <vt:lpstr>Heat Rejection - Power</vt:lpstr>
      <vt:lpstr>Heat Rejection - Efficiency</vt:lpstr>
      <vt:lpstr>Heat Rejection - Power Loss</vt:lpstr>
      <vt:lpstr>Heat Exchanger Selected</vt:lpstr>
      <vt:lpstr>Heat Exchanger Bell &amp; Gossett</vt:lpstr>
      <vt:lpstr>Heat Exchanger Wessels</vt:lpstr>
      <vt:lpstr>Heat Exchanger Wessels</vt:lpstr>
      <vt:lpstr>Heat Exchanger Alfa Laval</vt:lpstr>
      <vt:lpstr>Heat Exchanger Danfoss</vt:lpstr>
      <vt:lpstr>Heat Exchanger Comparison</vt:lpstr>
      <vt:lpstr>System Architecture: Current</vt:lpstr>
      <vt:lpstr>System Architecture: Pressure Requirements</vt:lpstr>
      <vt:lpstr>System Information: MY24 AWD LYRIQ</vt:lpstr>
      <vt:lpstr>Diagram</vt:lpstr>
      <vt:lpstr>System Architecture: Proposed</vt:lpstr>
      <vt:lpstr>BOM</vt:lpstr>
      <vt:lpstr>Pressure Transducer</vt:lpstr>
      <vt:lpstr>Coolant Reservoir</vt:lpstr>
      <vt:lpstr>Pump</vt:lpstr>
      <vt:lpstr>Flow Restrictors</vt:lpstr>
      <vt:lpstr>Slides on finding location for the HX in the vehicle were deleted since they show confidential CAD</vt:lpstr>
      <vt:lpstr>HX Location 1 and Mount</vt:lpstr>
      <vt:lpstr>Coolant Reservoir Mount FEA</vt:lpstr>
      <vt:lpstr>Information Requests</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Shackelford, Mason A</cp:lastModifiedBy>
  <cp:revision>2</cp:revision>
  <dcterms:created xsi:type="dcterms:W3CDTF">2025-11-10T06:02:15Z</dcterms:created>
  <dcterms:modified xsi:type="dcterms:W3CDTF">2026-05-25T00:59:13Z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0x010100E1F20D76BF9E9544BC05DB4094C7B332</vt:lpwstr>
  </property>
  <property fmtid="{D5CDD505-2E9C-101B-9397-08002B2CF9AE}" pid="3" name="MediaServiceImageTags">
    <vt:lpwstr/>
  </property>
</Properties>
</file>